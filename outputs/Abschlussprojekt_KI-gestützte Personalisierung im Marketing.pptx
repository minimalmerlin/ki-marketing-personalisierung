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95" r:id="rId2"/>
    <p:sldId id="301" r:id="rId3"/>
    <p:sldId id="302" r:id="rId4"/>
    <p:sldId id="303" r:id="rId5"/>
    <p:sldId id="304" r:id="rId6"/>
    <p:sldId id="305" r:id="rId7"/>
    <p:sldId id="312" r:id="rId8"/>
    <p:sldId id="313" r:id="rId9"/>
    <p:sldId id="316" r:id="rId10"/>
    <p:sldId id="318" r:id="rId11"/>
    <p:sldId id="280" r:id="rId12"/>
    <p:sldId id="286" r:id="rId13"/>
    <p:sldId id="311" r:id="rId14"/>
    <p:sldId id="296" r:id="rId15"/>
    <p:sldId id="320" r:id="rId16"/>
    <p:sldId id="319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 &amp; Intro" id="{8C1AF47E-71BC-452F-8F9F-B78CB01E9AB3}">
          <p14:sldIdLst>
            <p14:sldId id="295"/>
            <p14:sldId id="301"/>
          </p14:sldIdLst>
        </p14:section>
        <p14:section name="Segmentierung" id="{049A4FA7-97DE-4759-B29F-6B17B728837D}">
          <p14:sldIdLst>
            <p14:sldId id="302"/>
            <p14:sldId id="303"/>
            <p14:sldId id="304"/>
            <p14:sldId id="305"/>
          </p14:sldIdLst>
        </p14:section>
        <p14:section name="Modellierung" id="{3C9E105A-69B1-457A-A35E-503F6564B8CE}">
          <p14:sldIdLst>
            <p14:sldId id="312"/>
            <p14:sldId id="313"/>
            <p14:sldId id="316"/>
            <p14:sldId id="318"/>
          </p14:sldIdLst>
        </p14:section>
        <p14:section name="Datenschutz &amp; Trade-off" id="{07C58F97-EEC5-4ACD-B872-9644D3F5A26C}">
          <p14:sldIdLst>
            <p14:sldId id="280"/>
            <p14:sldId id="286"/>
            <p14:sldId id="311"/>
            <p14:sldId id="296"/>
          </p14:sldIdLst>
        </p14:section>
        <p14:section name="Fazit" id="{89576BCA-EEC4-4D61-88A3-E2F7B72B5602}">
          <p14:sldIdLst>
            <p14:sldId id="320"/>
            <p14:sldId id="3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2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3305" autoAdjust="0"/>
  </p:normalViewPr>
  <p:slideViewPr>
    <p:cSldViewPr snapToGrid="0">
      <p:cViewPr varScale="1">
        <p:scale>
          <a:sx n="118" d="100"/>
          <a:sy n="118" d="100"/>
        </p:scale>
        <p:origin x="19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9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100000">
                    <a:srgbClr val="FF0000"/>
                  </a:gs>
                  <a:gs pos="0">
                    <a:schemeClr val="accent5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E00-4336-AC57-7973E1530B12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100000">
                    <a:schemeClr val="tx2">
                      <a:lumMod val="75000"/>
                      <a:lumOff val="25000"/>
                    </a:schemeClr>
                  </a:gs>
                  <a:gs pos="0">
                    <a:schemeClr val="tx2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DE00-4336-AC57-7973E1530B12}"/>
              </c:ext>
            </c:extLst>
          </c:dPt>
          <c:dPt>
            <c:idx val="2"/>
            <c:invertIfNegative val="0"/>
            <c:bubble3D val="0"/>
            <c:spPr>
              <a:gradFill>
                <a:gsLst>
                  <a:gs pos="100000">
                    <a:schemeClr val="tx2">
                      <a:lumMod val="75000"/>
                      <a:lumOff val="25000"/>
                    </a:schemeClr>
                  </a:gs>
                  <a:gs pos="0">
                    <a:schemeClr val="tx2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E00-4336-AC57-7973E1530B12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100000">
                    <a:schemeClr val="tx2">
                      <a:lumMod val="75000"/>
                      <a:lumOff val="25000"/>
                    </a:schemeClr>
                  </a:gs>
                  <a:gs pos="0">
                    <a:schemeClr val="tx2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E00-4336-AC57-7973E1530B12}"/>
              </c:ext>
            </c:extLst>
          </c:dPt>
          <c:dPt>
            <c:idx val="4"/>
            <c:invertIfNegative val="0"/>
            <c:bubble3D val="0"/>
            <c:spPr>
              <a:gradFill>
                <a:gsLst>
                  <a:gs pos="100000">
                    <a:schemeClr val="tx2">
                      <a:lumMod val="75000"/>
                      <a:lumOff val="25000"/>
                    </a:schemeClr>
                  </a:gs>
                  <a:gs pos="0">
                    <a:schemeClr val="tx2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E00-4336-AC57-7973E1530B12}"/>
              </c:ext>
            </c:extLst>
          </c:dPt>
          <c:dPt>
            <c:idx val="5"/>
            <c:invertIfNegative val="0"/>
            <c:bubble3D val="0"/>
            <c:spPr>
              <a:gradFill>
                <a:gsLst>
                  <a:gs pos="100000">
                    <a:srgbClr val="FF0000"/>
                  </a:gs>
                  <a:gs pos="0">
                    <a:schemeClr val="accent5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E00-4336-AC57-7973E1530B12}"/>
              </c:ext>
            </c:extLst>
          </c:dPt>
          <c:dPt>
            <c:idx val="6"/>
            <c:invertIfNegative val="0"/>
            <c:bubble3D val="0"/>
            <c:spPr>
              <a:gradFill>
                <a:gsLst>
                  <a:gs pos="100000">
                    <a:srgbClr val="FF0000"/>
                  </a:gs>
                  <a:gs pos="3000">
                    <a:schemeClr val="accent5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E00-4336-AC57-7973E1530B12}"/>
              </c:ext>
            </c:extLst>
          </c:dPt>
          <c:dPt>
            <c:idx val="7"/>
            <c:invertIfNegative val="0"/>
            <c:bubble3D val="0"/>
            <c:spPr>
              <a:gradFill>
                <a:gsLst>
                  <a:gs pos="100000">
                    <a:schemeClr val="tx2">
                      <a:lumMod val="75000"/>
                      <a:lumOff val="25000"/>
                    </a:schemeClr>
                  </a:gs>
                  <a:gs pos="0">
                    <a:schemeClr val="tx2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E00-4336-AC57-7973E1530B1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Tabelle1!$A$2:$A$9</c:f>
              <c:strCache>
                <c:ptCount val="8"/>
                <c:pt idx="0">
                  <c:v>emp.var.rate</c:v>
                </c:pt>
                <c:pt idx="1">
                  <c:v>duration</c:v>
                </c:pt>
                <c:pt idx="2">
                  <c:v>month_mar</c:v>
                </c:pt>
                <c:pt idx="3">
                  <c:v>euribor3m</c:v>
                </c:pt>
                <c:pt idx="4">
                  <c:v>cons.price.idx</c:v>
                </c:pt>
                <c:pt idx="5">
                  <c:v>month_may</c:v>
                </c:pt>
                <c:pt idx="6">
                  <c:v>month_jun</c:v>
                </c:pt>
                <c:pt idx="7">
                  <c:v>month_aug</c:v>
                </c:pt>
              </c:strCache>
            </c:strRef>
          </c:cat>
          <c:val>
            <c:numRef>
              <c:f>Tabelle1!$B$2:$B$9</c:f>
              <c:numCache>
                <c:formatCode>General</c:formatCode>
                <c:ptCount val="8"/>
                <c:pt idx="0">
                  <c:v>3.29</c:v>
                </c:pt>
                <c:pt idx="1">
                  <c:v>1.81</c:v>
                </c:pt>
                <c:pt idx="2">
                  <c:v>1.78</c:v>
                </c:pt>
                <c:pt idx="3">
                  <c:v>1.35</c:v>
                </c:pt>
                <c:pt idx="4">
                  <c:v>1.18</c:v>
                </c:pt>
                <c:pt idx="5">
                  <c:v>1.01</c:v>
                </c:pt>
                <c:pt idx="6">
                  <c:v>0.95</c:v>
                </c:pt>
                <c:pt idx="7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00-4336-AC57-7973E1530B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87429727"/>
        <c:axId val="1487430687"/>
      </c:barChart>
      <c:catAx>
        <c:axId val="14874297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de-DE"/>
          </a:p>
        </c:txPr>
        <c:crossAx val="1487430687"/>
        <c:crosses val="autoZero"/>
        <c:auto val="1"/>
        <c:lblAlgn val="ctr"/>
        <c:lblOffset val="100"/>
        <c:noMultiLvlLbl val="0"/>
      </c:catAx>
      <c:valAx>
        <c:axId val="14874306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de-DE"/>
          </a:p>
        </c:txPr>
        <c:crossAx val="1487429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5.4604084645669293E-2"/>
          <c:y val="0.24415405859248659"/>
          <c:w val="0.94539591535433076"/>
          <c:h val="0.601001246386255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Precision@5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  <a:lumOff val="25000"/>
                  </a:schemeClr>
                </a:gs>
              </a:gsLst>
              <a:lin ang="0" scaled="1"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tx2">
                      <a:lumMod val="75000"/>
                      <a:lumOff val="25000"/>
                    </a:schemeClr>
                  </a:gs>
                </a:gsLst>
                <a:lin ang="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171-4691-8B33-B0620A29079A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tx2">
                      <a:lumMod val="75000"/>
                      <a:lumOff val="25000"/>
                    </a:schemeClr>
                  </a:gs>
                </a:gsLst>
                <a:lin ang="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171-4691-8B33-B0620A29079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8EAE7F9-7A36-4FCC-8CE9-762AF25CEA39}" type="VALUE">
                      <a:rPr lang="en-US" smtClean="0"/>
                      <a:pPr/>
                      <a:t>[WERT]</a:t>
                    </a:fld>
                    <a:r>
                      <a:rPr lang="en-US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171-4691-8B33-B0620A2907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2A1CA71-986A-4681-A362-E56A0AC732F5}" type="VALUE">
                      <a:rPr lang="en-US" smtClean="0"/>
                      <a:pPr/>
                      <a:t>[WERT]</a:t>
                    </a:fld>
                    <a:r>
                      <a:rPr lang="en-US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171-4691-8B33-B0620A29079A}"/>
                </c:ext>
              </c:extLst>
            </c:dLbl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Baseline</c:v>
                </c:pt>
                <c:pt idx="1">
                  <c:v>Segmentierter Recommender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7.4000000000000003E-3</c:v>
                </c:pt>
                <c:pt idx="1">
                  <c:v>0.2331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171-4691-8B33-B0620A2907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2895248"/>
        <c:axId val="732896688"/>
      </c:barChart>
      <c:catAx>
        <c:axId val="732895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32896688"/>
        <c:crosses val="autoZero"/>
        <c:auto val="1"/>
        <c:lblAlgn val="ctr"/>
        <c:lblOffset val="100"/>
        <c:noMultiLvlLbl val="0"/>
      </c:catAx>
      <c:valAx>
        <c:axId val="7328966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32895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5.4604084645669293E-2"/>
          <c:y val="0.22351775524865594"/>
          <c:w val="0.94539591535433076"/>
          <c:h val="0.621637506864002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Datenschutzrisiko nach Personalisierungsstufe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05B-431A-82CD-F783BD18FB04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05B-431A-82CD-F783BD18FB0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05B-431A-82CD-F783BD18FB04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A05B-431A-82CD-F783BD18FB0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8EAE7F9-7A36-4FCC-8CE9-762AF25CEA39}" type="VALUE">
                      <a:rPr lang="en-US" smtClean="0"/>
                      <a:pPr/>
                      <a:t>[WERT]</a:t>
                    </a:fld>
                    <a:r>
                      <a:rPr lang="en-US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05B-431A-82CD-F783BD18FB0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2A1CA71-986A-4681-A362-E56A0AC732F5}" type="VALUE">
                      <a:rPr lang="en-US" smtClean="0"/>
                      <a:pPr/>
                      <a:t>[WERT]</a:t>
                    </a:fld>
                    <a:r>
                      <a:rPr lang="en-US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A05B-431A-82CD-F783BD18FB04}"/>
                </c:ext>
              </c:extLst>
            </c:dLbl>
            <c:dLbl>
              <c:idx val="2"/>
              <c:layout>
                <c:manualLayout>
                  <c:x val="0"/>
                  <c:y val="2.75645324773135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5B-431A-82CD-F783BD18FB0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BD99026-7CDE-476A-876E-C65D61781076}" type="VALUE">
                      <a:rPr lang="en-US" smtClean="0"/>
                      <a:pPr/>
                      <a:t>[WERT]</a:t>
                    </a:fld>
                    <a:r>
                      <a:rPr lang="en-US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A05B-431A-82CD-F783BD18FB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Generisch</c:v>
                </c:pt>
                <c:pt idx="1">
                  <c:v>Segment</c:v>
                </c:pt>
                <c:pt idx="2">
                  <c:v>Recommender</c:v>
                </c:pt>
                <c:pt idx="3">
                  <c:v>Modell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0.2</c:v>
                </c:pt>
                <c:pt idx="1">
                  <c:v>0.6</c:v>
                </c:pt>
                <c:pt idx="2">
                  <c:v>0.67</c:v>
                </c:pt>
                <c:pt idx="3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5B-431A-82CD-F783BD18FB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2895248"/>
        <c:axId val="732896688"/>
      </c:barChart>
      <c:catAx>
        <c:axId val="732895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32896688"/>
        <c:crosses val="autoZero"/>
        <c:auto val="1"/>
        <c:lblAlgn val="ctr"/>
        <c:lblOffset val="100"/>
        <c:noMultiLvlLbl val="0"/>
      </c:catAx>
      <c:valAx>
        <c:axId val="7328966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32895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Performance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chemeClr val="tx2">
                  <a:lumMod val="50000"/>
                  <a:lumOff val="50000"/>
                </a:schemeClr>
              </a:solidFill>
              <a:ln w="25400">
                <a:noFill/>
              </a:ln>
              <a:effectLst/>
            </c:spPr>
          </c:marker>
          <c:dPt>
            <c:idx val="1"/>
            <c:marker>
              <c:symbol val="circle"/>
              <c:size val="14"/>
              <c:spPr>
                <a:solidFill>
                  <a:schemeClr val="tx2">
                    <a:lumMod val="75000"/>
                    <a:lumOff val="25000"/>
                  </a:schemeClr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6E7-4E16-8012-51E75CE38C55}"/>
              </c:ext>
            </c:extLst>
          </c:dPt>
          <c:dPt>
            <c:idx val="2"/>
            <c:marker>
              <c:symbol val="circle"/>
              <c:size val="14"/>
              <c:spPr>
                <a:solidFill>
                  <a:schemeClr val="accent5">
                    <a:lumMod val="75000"/>
                  </a:schemeClr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6E7-4E16-8012-51E75CE38C55}"/>
              </c:ext>
            </c:extLst>
          </c:dPt>
          <c:dPt>
            <c:idx val="3"/>
            <c:marker>
              <c:symbol val="circle"/>
              <c:size val="14"/>
              <c:spPr>
                <a:solidFill>
                  <a:srgbClr val="FF0000"/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6E7-4E16-8012-51E75CE38C55}"/>
              </c:ext>
            </c:extLst>
          </c:dPt>
          <c:xVal>
            <c:numRef>
              <c:f>Tabelle1!$A$2:$A$5</c:f>
              <c:numCache>
                <c:formatCode>General</c:formatCode>
                <c:ptCount val="4"/>
                <c:pt idx="0">
                  <c:v>0.2</c:v>
                </c:pt>
                <c:pt idx="1">
                  <c:v>0.6</c:v>
                </c:pt>
                <c:pt idx="2">
                  <c:v>0.67</c:v>
                </c:pt>
                <c:pt idx="3">
                  <c:v>0.9</c:v>
                </c:pt>
              </c:numCache>
            </c:numRef>
          </c:xVal>
          <c:yVal>
            <c:numRef>
              <c:f>Tabelle1!$B$2:$B$5</c:f>
              <c:numCache>
                <c:formatCode>General</c:formatCode>
                <c:ptCount val="4"/>
                <c:pt idx="0">
                  <c:v>11.7</c:v>
                </c:pt>
                <c:pt idx="1">
                  <c:v>26</c:v>
                </c:pt>
                <c:pt idx="2">
                  <c:v>23</c:v>
                </c:pt>
                <c:pt idx="3">
                  <c:v>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6E7-4E16-8012-51E75CE38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2981439"/>
        <c:axId val="572983359"/>
      </c:scatterChart>
      <c:valAx>
        <c:axId val="5729814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r>
                  <a:rPr lang="de-DE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Datenschutzrisiko (Risk Score)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72983359"/>
        <c:crosses val="autoZero"/>
        <c:crossBetween val="midCat"/>
      </c:valAx>
      <c:valAx>
        <c:axId val="572983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33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r>
                  <a:rPr lang="en-US" sz="1400" b="0" i="0" u="none" strike="noStrike" kern="1200" spc="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Performance</a:t>
                </a:r>
                <a:r>
                  <a:rPr lang="de-DE" sz="1330" b="0" i="0" u="none" strike="noStrike" kern="1200" spc="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 (%)</a:t>
                </a:r>
                <a:endParaRPr lang="en-US" sz="1400" b="0" i="0" u="none" strike="noStrike" kern="1200" spc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33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729814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0.37955</cdr:x>
      <cdr:y>0.27414</cdr:y>
    </cdr:from>
    <cdr:to>
      <cdr:x>0.47547</cdr:x>
      <cdr:y>0.33426</cdr:y>
    </cdr:to>
    <cdr:sp macro="" textlink="">
      <cdr:nvSpPr>
        <cdr:cNvPr id="3" name="Textfeld 6">
          <a:extLst xmlns:a="http://schemas.openxmlformats.org/drawingml/2006/main">
            <a:ext uri="{FF2B5EF4-FFF2-40B4-BE49-F238E27FC236}">
              <a16:creationId xmlns:a16="http://schemas.microsoft.com/office/drawing/2014/main" id="{7ACD08CF-C75E-AC46-57EA-D22547DD0EAD}"/>
            </a:ext>
          </a:extLst>
        </cdr:cNvPr>
        <cdr:cNvSpPr txBox="1"/>
      </cdr:nvSpPr>
      <cdr:spPr>
        <a:xfrm xmlns:a="http://schemas.openxmlformats.org/drawingml/2006/main">
          <a:off x="3991205" y="1192886"/>
          <a:ext cx="1008668" cy="2616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de-D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de-DE" sz="11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(negativ)</a:t>
          </a:r>
        </a:p>
      </cdr:txBody>
    </cdr:sp>
  </cdr:relSizeAnchor>
  <cdr:relSizeAnchor xmlns:cdr="http://schemas.openxmlformats.org/drawingml/2006/chartDrawing">
    <cdr:from>
      <cdr:x>0.57545</cdr:x>
      <cdr:y>0.60503</cdr:y>
    </cdr:from>
    <cdr:to>
      <cdr:x>0.67137</cdr:x>
      <cdr:y>0.66515</cdr:y>
    </cdr:to>
    <cdr:sp macro="" textlink="">
      <cdr:nvSpPr>
        <cdr:cNvPr id="5" name="Textfeld 6">
          <a:extLst xmlns:a="http://schemas.openxmlformats.org/drawingml/2006/main">
            <a:ext uri="{FF2B5EF4-FFF2-40B4-BE49-F238E27FC236}">
              <a16:creationId xmlns:a16="http://schemas.microsoft.com/office/drawing/2014/main" id="{7ACD08CF-C75E-AC46-57EA-D22547DD0EAD}"/>
            </a:ext>
          </a:extLst>
        </cdr:cNvPr>
        <cdr:cNvSpPr txBox="1"/>
      </cdr:nvSpPr>
      <cdr:spPr>
        <a:xfrm xmlns:a="http://schemas.openxmlformats.org/drawingml/2006/main">
          <a:off x="6051223" y="2632696"/>
          <a:ext cx="1008668" cy="2616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de-D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de-DE" sz="11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(positiv)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A480D-0252-4522-B0EF-2B597A2252A5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6D911-81B8-41B3-9BA6-32D4E1373D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48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D911-81B8-41B3-9BA6-32D4E1373D9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7782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D911-81B8-41B3-9BA6-32D4E1373D9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445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D911-81B8-41B3-9BA6-32D4E1373D9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357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D911-81B8-41B3-9BA6-32D4E1373D9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6277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D911-81B8-41B3-9BA6-32D4E1373D9C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5360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D911-81B8-41B3-9BA6-32D4E1373D9C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4538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D911-81B8-41B3-9BA6-32D4E1373D9C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7563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D911-81B8-41B3-9BA6-32D4E1373D9C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9277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D911-81B8-41B3-9BA6-32D4E1373D9C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12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A4F28-3056-E595-E037-68B2C7447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931328-6117-4A72-37D5-5E101F64B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7EEDCD-70F6-716A-2E31-8602A9A4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6D87-A654-40B7-AB74-6B9E6A20D7F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D9AEC1-3100-EF28-6949-94834279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CD9DE6-6F9A-47FE-00E7-F506BD4F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FFEFF-DBBB-47E0-91BE-32C338BCD6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1939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D6F742-E4E9-9623-AEFC-C828604B7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80E054-C7B6-8609-3F98-FC04B9078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7F9CFB-9A02-BF6A-CFAE-F51CEA21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6D87-A654-40B7-AB74-6B9E6A20D7F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55C183-B91D-E216-644A-D04AAB7B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87F600-D44F-2640-FBE5-7EE4C721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FFEFF-DBBB-47E0-91BE-32C338BCD6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3274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93AE48-5652-6B44-6C56-76EEB3BDF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537C57-A48C-407C-9C0F-4768EFB48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DCA728-CCDD-3BD3-9CE4-E7A19FC2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6D87-A654-40B7-AB74-6B9E6A20D7F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B34E91-0A00-9E47-F420-54920650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522C4E-B697-97B4-3283-B838A0BA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FFEFF-DBBB-47E0-91BE-32C338BCD6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056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6853CA-D43D-F609-5D85-757C53A83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0B15FA-020A-4323-4E9F-8C9A0D82C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ACF234-F011-FAA4-280A-EFF1A946E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608EC3-C6C5-6657-D7A2-93EA5562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6D87-A654-40B7-AB74-6B9E6A20D7F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B706B4-3818-6D3B-0CD1-25F78EDFA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B505A2-F52A-C6F7-B653-ED1C8137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FFEFF-DBBB-47E0-91BE-32C338BCD6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7573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09B95-AB2D-2E78-3040-8DED277AC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B12DE-7D67-75D5-8179-E713B3557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563DF1-163A-8AF0-CF80-FF5C6F7AC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BB31E1-A91A-64DA-FF06-7F1D2EFAD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028BE23-EF58-CFA3-8CDB-50254B987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A0E7125-326A-A728-C011-B042E24C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6D87-A654-40B7-AB74-6B9E6A20D7F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C3F95B-3485-C11A-528B-824F9E57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CFE8E06-8E07-36B3-DA6D-345AEEA1F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FFEFF-DBBB-47E0-91BE-32C338BCD6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2392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D9F3A5-E172-9D45-D419-AAAF58BA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484A1B9-2668-77CF-A31F-9D7AD49C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6D87-A654-40B7-AB74-6B9E6A20D7F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042B73-7BBA-87A4-BD14-98A6F88C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D36DC4-9E14-A37E-7240-0EBE15685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FFEFF-DBBB-47E0-91BE-32C338BCD6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433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9D3D54-E256-21F6-F969-CD3E793E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6D87-A654-40B7-AB74-6B9E6A20D7F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80972FA-C6FB-3AB0-8A1B-42DCD8F7F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5FF3E82-53E2-3CBF-5D98-E1CA36599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FFEFF-DBBB-47E0-91BE-32C338BCD6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178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CD4D10-91BB-7E51-D85A-819C958E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FBD429-292C-FD17-327F-8ED470DBD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6F3C7E-ED1A-C2DC-2BAF-B3113479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B221C4-BA6E-3031-5876-9A6D43F16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6D87-A654-40B7-AB74-6B9E6A20D7F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A3B6B3-A038-B16B-94B7-EF59DD67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52908B-CF4F-6589-1A93-E60C4078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FFEFF-DBBB-47E0-91BE-32C338BCD6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3067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7EA57-3053-BC6B-DCB5-980D380ED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3A53089-A5B3-47D1-3EBB-1D40DD7A8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7551EB-E073-CC5F-C7CE-FA4EE3536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7D2805-6CAE-948E-B9DA-680404D4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6D87-A654-40B7-AB74-6B9E6A20D7F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59D4A9-A9BB-0F84-2693-DFE61CD0C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58BECD-847A-A0E8-ED6E-E2BBBF14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FFEFF-DBBB-47E0-91BE-32C338BCD6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0233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C2099B-FECA-ADC3-4A5B-389DC19E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14EF608-82AA-B74B-6B11-45AD26BD1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C65969-F256-D951-B6FE-6D8652DE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6D87-A654-40B7-AB74-6B9E6A20D7F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5B4536-FB21-C93E-E857-E570BC97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4D0037-D210-E27B-968E-3AC3C4D2F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FFEFF-DBBB-47E0-91BE-32C338BCD6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207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48B599E-8007-41A9-C86F-4F702F9C4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8D43FB-BCD2-165C-A29F-98DB76CA6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6550A2-94D6-4866-D688-25965D8A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6D87-A654-40B7-AB74-6B9E6A20D7F1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3120EE-D49D-31D5-6DE7-EABBA82A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7F1683-1943-ECBC-4C72-8D94BB40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FFEFF-DBBB-47E0-91BE-32C338BCD6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15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3D60789-DA4F-64D7-A800-111B06D2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D88C02-76E9-04C9-A798-CD2FC311D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A08679-4C4A-9CE3-D65B-72A7ED8D2E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5B7A6D87-A654-40B7-AB74-6B9E6A20D7F1}" type="datetimeFigureOut">
              <a:rPr lang="de-DE" smtClean="0"/>
              <a:pPr/>
              <a:t>28.04.2026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01C71C-AB06-DBA8-EDA5-2E6C1F536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30CC9B-F2D3-4584-D6AE-82CF31D61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CCFFEFF-DBBB-47E0-91BE-32C338BCD69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93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2D4982C3-9B08-D2F6-8237-76D82FEBD3F9}"/>
              </a:ext>
            </a:extLst>
          </p:cNvPr>
          <p:cNvSpPr txBox="1"/>
          <p:nvPr/>
        </p:nvSpPr>
        <p:spPr>
          <a:xfrm>
            <a:off x="0" y="1573529"/>
            <a:ext cx="12191999" cy="2871537"/>
          </a:xfrm>
          <a:prstGeom prst="rect">
            <a:avLst/>
          </a:prstGeom>
          <a:gradFill>
            <a:gsLst>
              <a:gs pos="27000">
                <a:schemeClr val="tx2">
                  <a:lumMod val="75000"/>
                  <a:lumOff val="2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76000">
                <a:schemeClr val="accent5">
                  <a:lumMod val="75000"/>
                </a:schemeClr>
              </a:gs>
              <a:gs pos="100000">
                <a:srgbClr val="FF00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80000"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endParaRPr lang="de-D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7D7DAE-4950-29C9-5541-E06233474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808" y="1818131"/>
            <a:ext cx="9304962" cy="1195581"/>
          </a:xfrm>
        </p:spPr>
        <p:txBody>
          <a:bodyPr>
            <a:normAutofit/>
          </a:bodyPr>
          <a:lstStyle/>
          <a:p>
            <a:r>
              <a:rPr lang="de-DE" sz="4000" b="1" dirty="0">
                <a:solidFill>
                  <a:schemeClr val="bg1"/>
                </a:solidFill>
              </a:rPr>
              <a:t>KI-gestützte Personalisierung im Marketing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2970BC4-7C9A-E409-1FC0-C6D476DFE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82469"/>
            <a:ext cx="9144000" cy="3615008"/>
          </a:xfrm>
        </p:spPr>
        <p:txBody>
          <a:bodyPr>
            <a:norm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Wie individuell darf und sollte Kundenansprache sein?</a:t>
            </a:r>
          </a:p>
          <a:p>
            <a:endParaRPr lang="de-DE" sz="800" dirty="0"/>
          </a:p>
          <a:p>
            <a:endParaRPr lang="de-DE" sz="800" dirty="0"/>
          </a:p>
          <a:p>
            <a:endParaRPr lang="de-DE" sz="800" dirty="0"/>
          </a:p>
          <a:p>
            <a:endParaRPr lang="de-DE" sz="800" dirty="0"/>
          </a:p>
          <a:p>
            <a:endParaRPr lang="de-DE" sz="800" dirty="0"/>
          </a:p>
          <a:p>
            <a:r>
              <a:rPr lang="de-DE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Merlin </a:t>
            </a:r>
            <a:r>
              <a:rPr lang="de-DE" sz="18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Mechler</a:t>
            </a:r>
            <a:endParaRPr lang="de-DE" sz="18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de-DE" sz="18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Mohammadhadi</a:t>
            </a:r>
            <a:r>
              <a:rPr lang="de-DE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Shiva</a:t>
            </a:r>
          </a:p>
          <a:p>
            <a:r>
              <a:rPr lang="de-DE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Maximilian Gräubig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16482E3-3B7B-97A3-2F8B-A2E06DD66652}"/>
              </a:ext>
            </a:extLst>
          </p:cNvPr>
          <p:cNvSpPr txBox="1"/>
          <p:nvPr/>
        </p:nvSpPr>
        <p:spPr>
          <a:xfrm>
            <a:off x="11168009" y="6421081"/>
            <a:ext cx="1140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30.04.2026</a:t>
            </a:r>
          </a:p>
        </p:txBody>
      </p:sp>
    </p:spTree>
    <p:extLst>
      <p:ext uri="{BB962C8B-B14F-4D97-AF65-F5344CB8AC3E}">
        <p14:creationId xmlns:p14="http://schemas.microsoft.com/office/powerpoint/2010/main" val="1530649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BB80E-8450-6D4A-316E-C971D2199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dirty="0"/>
              <a:t>PROJEKTDESIGN &amp; SETUP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FBB857F-26E4-A1A6-4CBA-088015A2FCFA}"/>
              </a:ext>
            </a:extLst>
          </p:cNvPr>
          <p:cNvSpPr/>
          <p:nvPr/>
        </p:nvSpPr>
        <p:spPr>
          <a:xfrm>
            <a:off x="0" y="3008102"/>
            <a:ext cx="5383034" cy="246490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Klare Arbeitspakete &amp; Verantwortlichkeiten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Projektmanagement über Notion    </a:t>
            </a:r>
            <a:b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Aufgaben, Status, Updates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Zusammenarbeit über GitHub    </a:t>
            </a:r>
            <a:b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Versionierung &amp; Datenbasis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9F17E59-43F3-FF91-D81B-56B8B275BE83}"/>
              </a:ext>
            </a:extLst>
          </p:cNvPr>
          <p:cNvSpPr/>
          <p:nvPr/>
        </p:nvSpPr>
        <p:spPr>
          <a:xfrm>
            <a:off x="6808966" y="3008101"/>
            <a:ext cx="5383034" cy="246490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Datenstrategie: große, realistische Datensätze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Datenauswahl:  </a:t>
            </a:r>
            <a:b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GA4 E-Commerce  </a:t>
            </a:r>
            <a:b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Bank Marketing Dataset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Explorative Datenanalyse (EDA)    </a:t>
            </a:r>
            <a:b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Grundlage für Modellierung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4AF07AB-76C4-C395-7E2C-5C5CBAB671AD}"/>
              </a:ext>
            </a:extLst>
          </p:cNvPr>
          <p:cNvSpPr/>
          <p:nvPr/>
        </p:nvSpPr>
        <p:spPr>
          <a:xfrm>
            <a:off x="0" y="2509453"/>
            <a:ext cx="5383034" cy="639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E3E89CE-107E-02C8-685F-F801FB1840C2}"/>
              </a:ext>
            </a:extLst>
          </p:cNvPr>
          <p:cNvSpPr/>
          <p:nvPr/>
        </p:nvSpPr>
        <p:spPr>
          <a:xfrm>
            <a:off x="6808966" y="2509452"/>
            <a:ext cx="5383034" cy="639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Daten &amp; Analyse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534E822-4DF4-C8B8-7B8F-8A82689EA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292" y="2642751"/>
            <a:ext cx="915317" cy="73069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C8312CB-75B3-BF45-77F1-6B025D8CD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410" y="3680909"/>
            <a:ext cx="1012878" cy="78426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CF9348F-34D7-F4F3-2ACF-B0F907BD2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6138" y="4682777"/>
            <a:ext cx="831038" cy="73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6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2B062A-950F-B664-441B-3221EE87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/>
              <a:t>AUS ROHDATEN WERDEN KUNDENPROFILE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BC6A1B2-62CC-2685-355A-0D758D2ED634}"/>
              </a:ext>
            </a:extLst>
          </p:cNvPr>
          <p:cNvSpPr txBox="1"/>
          <p:nvPr/>
        </p:nvSpPr>
        <p:spPr>
          <a:xfrm>
            <a:off x="0" y="2005265"/>
            <a:ext cx="12192000" cy="1042735"/>
          </a:xfrm>
          <a:prstGeom prst="rect">
            <a:avLst/>
          </a:prstGeom>
          <a:gradFill>
            <a:gsLst>
              <a:gs pos="100000">
                <a:srgbClr val="FF0000"/>
              </a:gs>
              <a:gs pos="65000">
                <a:schemeClr val="accent5">
                  <a:lumMod val="75000"/>
                </a:schemeClr>
              </a:gs>
              <a:gs pos="38000">
                <a:schemeClr val="tx2">
                  <a:lumMod val="75000"/>
                  <a:lumOff val="2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de-DE" sz="2400" dirty="0"/>
              <a:t>Clustering                                       Segmentierung                                  Profilbildung</a:t>
            </a:r>
            <a:endParaRPr lang="de-D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EE0E35AC-D6D9-0391-45CF-65CBCB6BD281}"/>
              </a:ext>
            </a:extLst>
          </p:cNvPr>
          <p:cNvSpPr/>
          <p:nvPr/>
        </p:nvSpPr>
        <p:spPr>
          <a:xfrm>
            <a:off x="3562124" y="2394810"/>
            <a:ext cx="745925" cy="36724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09C83EE9-270E-FC75-4FB1-7FBEF579D133}"/>
              </a:ext>
            </a:extLst>
          </p:cNvPr>
          <p:cNvSpPr/>
          <p:nvPr/>
        </p:nvSpPr>
        <p:spPr>
          <a:xfrm>
            <a:off x="7881176" y="2394810"/>
            <a:ext cx="745925" cy="36724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A1E3360-A08D-8A99-20D0-F3F9E7FC2F5E}"/>
              </a:ext>
            </a:extLst>
          </p:cNvPr>
          <p:cNvSpPr txBox="1"/>
          <p:nvPr/>
        </p:nvSpPr>
        <p:spPr>
          <a:xfrm>
            <a:off x="758604" y="3249177"/>
            <a:ext cx="247390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Clustering mit </a:t>
            </a:r>
            <a:b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</a:t>
            </a: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DBSCAN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Gruppen ähnlicher Kunden identifiziert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42C98DF-426C-B93D-1FF3-BDAD7B1AAB62}"/>
              </a:ext>
            </a:extLst>
          </p:cNvPr>
          <p:cNvSpPr txBox="1"/>
          <p:nvPr/>
        </p:nvSpPr>
        <p:spPr>
          <a:xfrm>
            <a:off x="4873659" y="3249177"/>
            <a:ext cx="2658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Segmente interpretiert &amp; benannt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64F3C56-A47B-1BA3-E652-8F4659846380}"/>
              </a:ext>
            </a:extLst>
          </p:cNvPr>
          <p:cNvSpPr txBox="1"/>
          <p:nvPr/>
        </p:nvSpPr>
        <p:spPr>
          <a:xfrm>
            <a:off x="9166874" y="3249176"/>
            <a:ext cx="247390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 erstellt: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Kennzahlen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Verhalten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Visualisierungen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fik 9" descr="Ein Bild, das Kinderkunst, Grafiken, Kunst, Design enthält.&#10;&#10;KI-generierte Inhalte können fehlerhaft sein.">
            <a:extLst>
              <a:ext uri="{FF2B5EF4-FFF2-40B4-BE49-F238E27FC236}">
                <a16:creationId xmlns:a16="http://schemas.microsoft.com/office/drawing/2014/main" id="{C2327BD0-EEE1-1780-B926-4D1FD0525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37" y="4804571"/>
            <a:ext cx="2194737" cy="146315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09193E6-CC87-4293-93CA-F81A465BB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0707" y="4694110"/>
            <a:ext cx="1573619" cy="157361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E4F41CC-100E-092E-33A4-273D2FF5B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6459" y="4804571"/>
            <a:ext cx="2194737" cy="146315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2A14E1C-A639-4FB2-7919-E38F047E2667}"/>
              </a:ext>
            </a:extLst>
          </p:cNvPr>
          <p:cNvSpPr txBox="1"/>
          <p:nvPr/>
        </p:nvSpPr>
        <p:spPr>
          <a:xfrm>
            <a:off x="262453" y="6492875"/>
            <a:ext cx="2062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Bild von </a:t>
            </a:r>
            <a:r>
              <a:rPr lang="de-DE" sz="80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vectorjuice</a:t>
            </a:r>
            <a:r>
              <a:rPr lang="de-DE" sz="80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de-DE" sz="80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Freepik</a:t>
            </a:r>
            <a:endParaRPr lang="de-DE" sz="8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81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6318EC-1EF3-DAB7-9DC4-91662525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dirty="0"/>
              <a:t>DIE RICHTIGEN KUNDEN ERKENNEN</a:t>
            </a: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7795CAEF-02EF-0991-4F27-35943AF92E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0519132"/>
              </p:ext>
            </p:extLst>
          </p:nvPr>
        </p:nvGraphicFramePr>
        <p:xfrm>
          <a:off x="838200" y="2655187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8571">
                  <a:extLst>
                    <a:ext uri="{9D8B030D-6E8A-4147-A177-3AD203B41FA5}">
                      <a16:colId xmlns:a16="http://schemas.microsoft.com/office/drawing/2014/main" val="3022395414"/>
                    </a:ext>
                  </a:extLst>
                </a:gridCol>
                <a:gridCol w="5184742">
                  <a:extLst>
                    <a:ext uri="{9D8B030D-6E8A-4147-A177-3AD203B41FA5}">
                      <a16:colId xmlns:a16="http://schemas.microsoft.com/office/drawing/2014/main" val="2822519243"/>
                    </a:ext>
                  </a:extLst>
                </a:gridCol>
                <a:gridCol w="2662284">
                  <a:extLst>
                    <a:ext uri="{9D8B030D-6E8A-4147-A177-3AD203B41FA5}">
                      <a16:colId xmlns:a16="http://schemas.microsoft.com/office/drawing/2014/main" val="1599101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Kundentyp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Von 100 kaufen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3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Champions (0,7%)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sehr aktiv, haben bereits gekauft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 Personen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067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Loyal </a:t>
                      </a:r>
                      <a:r>
                        <a:rPr lang="de-DE" dirty="0" err="1"/>
                        <a:t>Buyers</a:t>
                      </a:r>
                      <a:r>
                        <a:rPr lang="de-DE" dirty="0"/>
                        <a:t> (5,1%)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regelmäßig aktiv, aber noch kein Kauf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4 Personen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702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Passive (94,2%)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kaum aktiv, einmal geklickt, nie wiedergekommen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0,1 Personen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41525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507D9A12-5C3F-662F-4A75-D163F5DD4345}"/>
              </a:ext>
            </a:extLst>
          </p:cNvPr>
          <p:cNvSpPr txBox="1"/>
          <p:nvPr/>
        </p:nvSpPr>
        <p:spPr>
          <a:xfrm>
            <a:off x="0" y="4723138"/>
            <a:ext cx="12192000" cy="705898"/>
          </a:xfrm>
          <a:prstGeom prst="rect">
            <a:avLst/>
          </a:prstGeom>
          <a:gradFill>
            <a:gsLst>
              <a:gs pos="100000">
                <a:schemeClr val="tx2">
                  <a:lumMod val="75000"/>
                  <a:lumOff val="2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Champions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kaufen </a:t>
            </a:r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75-mal häufiger 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als passive Nutzer — obwohl sie nur </a:t>
            </a:r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0,7% 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aller Besucher sind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F15814B-7B33-3647-5BB1-B5AD7C1E3F9F}"/>
              </a:ext>
            </a:extLst>
          </p:cNvPr>
          <p:cNvSpPr txBox="1"/>
          <p:nvPr/>
        </p:nvSpPr>
        <p:spPr>
          <a:xfrm>
            <a:off x="782426" y="2139885"/>
            <a:ext cx="4232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Online-Shop (GA4): Drei Kundentypen</a:t>
            </a:r>
          </a:p>
        </p:txBody>
      </p:sp>
    </p:spTree>
    <p:extLst>
      <p:ext uri="{BB962C8B-B14F-4D97-AF65-F5344CB8AC3E}">
        <p14:creationId xmlns:p14="http://schemas.microsoft.com/office/powerpoint/2010/main" val="775202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6318EC-1EF3-DAB7-9DC4-91662525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dirty="0"/>
              <a:t>DIE RICHTIGE ZIELGRUPPE ANSPRECHEN</a:t>
            </a:r>
            <a:br>
              <a:rPr lang="de-DE" dirty="0"/>
            </a:br>
            <a:r>
              <a:rPr lang="de-DE" sz="2800" dirty="0"/>
              <a:t>2,4-MAL EFFEKTIVER MIT DEMSELBEN AUFWAND</a:t>
            </a: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7795CAEF-02EF-0991-4F27-35943AF92E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8798913"/>
              </p:ext>
            </p:extLst>
          </p:nvPr>
        </p:nvGraphicFramePr>
        <p:xfrm>
          <a:off x="838200" y="2655187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144">
                  <a:extLst>
                    <a:ext uri="{9D8B030D-6E8A-4147-A177-3AD203B41FA5}">
                      <a16:colId xmlns:a16="http://schemas.microsoft.com/office/drawing/2014/main" val="3022395414"/>
                    </a:ext>
                  </a:extLst>
                </a:gridCol>
                <a:gridCol w="5203596">
                  <a:extLst>
                    <a:ext uri="{9D8B030D-6E8A-4147-A177-3AD203B41FA5}">
                      <a16:colId xmlns:a16="http://schemas.microsoft.com/office/drawing/2014/main" val="2822519243"/>
                    </a:ext>
                  </a:extLst>
                </a:gridCol>
                <a:gridCol w="2652857">
                  <a:extLst>
                    <a:ext uri="{9D8B030D-6E8A-4147-A177-3AD203B41FA5}">
                      <a16:colId xmlns:a16="http://schemas.microsoft.com/office/drawing/2014/main" val="1599101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Kundentyp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Beschreibung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Von 100 kaufen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3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Experienced</a:t>
                      </a:r>
                      <a:r>
                        <a:rPr lang="de-DE" dirty="0"/>
                        <a:t> (7,5%)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hatten früher positiven Kontakt, finanziell stabiler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26 Personen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067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Mass</a:t>
                      </a:r>
                      <a:r>
                        <a:rPr lang="de-DE" dirty="0"/>
                        <a:t> Market (92,5%)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kein Vorwissen, zufälliger Kontakt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11 Personen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702251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507D9A12-5C3F-662F-4A75-D163F5DD4345}"/>
              </a:ext>
            </a:extLst>
          </p:cNvPr>
          <p:cNvSpPr txBox="1"/>
          <p:nvPr/>
        </p:nvSpPr>
        <p:spPr>
          <a:xfrm>
            <a:off x="0" y="4723138"/>
            <a:ext cx="12192000" cy="705898"/>
          </a:xfrm>
          <a:prstGeom prst="rect">
            <a:avLst/>
          </a:prstGeom>
          <a:gradFill>
            <a:gsLst>
              <a:gs pos="100000">
                <a:schemeClr val="tx2">
                  <a:lumMod val="75000"/>
                  <a:lumOff val="2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2,4-mal höhere 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Erfolgsrate bei </a:t>
            </a:r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gezielter 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Ansprache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F15814B-7B33-3647-5BB1-B5AD7C1E3F9F}"/>
              </a:ext>
            </a:extLst>
          </p:cNvPr>
          <p:cNvSpPr txBox="1"/>
          <p:nvPr/>
        </p:nvSpPr>
        <p:spPr>
          <a:xfrm>
            <a:off x="782426" y="2139885"/>
            <a:ext cx="4232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Bank-Kampagne: Zwei Kundentypen</a:t>
            </a:r>
          </a:p>
        </p:txBody>
      </p:sp>
    </p:spTree>
    <p:extLst>
      <p:ext uri="{BB962C8B-B14F-4D97-AF65-F5344CB8AC3E}">
        <p14:creationId xmlns:p14="http://schemas.microsoft.com/office/powerpoint/2010/main" val="289020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EFE3B-8D31-F6C8-780A-CCF4CA6F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/>
              <a:t>VON SEGMENTEN ZUR ENTSCHEIDUNG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1EDEFD6-9187-DD6F-D7C5-BB87E343A753}"/>
              </a:ext>
            </a:extLst>
          </p:cNvPr>
          <p:cNvSpPr txBox="1"/>
          <p:nvPr/>
        </p:nvSpPr>
        <p:spPr>
          <a:xfrm>
            <a:off x="1772239" y="1989056"/>
            <a:ext cx="867266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Segmentierung zeigt, wo Value entsteht (wer reagiert stark / wer nicht)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nächste Frage: Wie weit darf Personalisierung gehen?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Grundlage für den Risk Score:</a:t>
            </a:r>
          </a:p>
          <a:p>
            <a:pPr lvl="1"/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Daten</a:t>
            </a:r>
          </a:p>
          <a:p>
            <a:pPr lvl="1"/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Granularität</a:t>
            </a:r>
          </a:p>
          <a:p>
            <a:pPr lvl="1"/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Automatisierung</a:t>
            </a:r>
            <a:endParaRPr lang="de-D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F44F1EB-9B99-5084-D0CD-D8DCFBBB9305}"/>
              </a:ext>
            </a:extLst>
          </p:cNvPr>
          <p:cNvSpPr txBox="1"/>
          <p:nvPr/>
        </p:nvSpPr>
        <p:spPr>
          <a:xfrm>
            <a:off x="0" y="5213332"/>
            <a:ext cx="12191999" cy="998932"/>
          </a:xfrm>
          <a:prstGeom prst="rect">
            <a:avLst/>
          </a:prstGeom>
          <a:gradFill>
            <a:gsLst>
              <a:gs pos="100000">
                <a:schemeClr val="tx2">
                  <a:lumMod val="75000"/>
                  <a:lumOff val="2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Eine kleine, klar definierbare Gruppe reagiert viel stärker. </a:t>
            </a:r>
            <a:b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 ist die Grundlage für gezielte Ansprache — bevor wir überhaupt über 1:1 Personalisierung sprechen.</a:t>
            </a:r>
            <a:endParaRPr lang="de-D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Grafik 2" descr="Ein Bild, das Clipart, Grafiken, Cartoon, Darstellung enthält.&#10;&#10;KI-generierte Inhalte können fehlerhaft sein.">
            <a:extLst>
              <a:ext uri="{FF2B5EF4-FFF2-40B4-BE49-F238E27FC236}">
                <a16:creationId xmlns:a16="http://schemas.microsoft.com/office/drawing/2014/main" id="{616B4AC8-553A-AD84-2BAA-E8A09C6AF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717" y="2473620"/>
            <a:ext cx="2393303" cy="239330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CFCE989-5122-DEEA-1784-80137EA85C76}"/>
              </a:ext>
            </a:extLst>
          </p:cNvPr>
          <p:cNvSpPr txBox="1"/>
          <p:nvPr/>
        </p:nvSpPr>
        <p:spPr>
          <a:xfrm>
            <a:off x="262453" y="6492875"/>
            <a:ext cx="2062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Bild von </a:t>
            </a:r>
            <a:r>
              <a:rPr lang="de-DE" sz="80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vectorjuice</a:t>
            </a:r>
            <a:r>
              <a:rPr lang="de-DE" sz="80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de-DE" sz="80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Freepik</a:t>
            </a:r>
            <a:endParaRPr lang="de-DE" sz="8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40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0218-5C96-F4F3-50CD-D8670FEF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dirty="0"/>
              <a:t>VOM PROFILING ZUR VORHERSAGE</a:t>
            </a:r>
            <a:br>
              <a:rPr lang="de-DE" dirty="0"/>
            </a:br>
            <a:r>
              <a:rPr lang="de-DE" sz="2800" dirty="0"/>
              <a:t>WER REAGIERT AUF DIE KAMPAGNE?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4352BA-3455-6E6C-9BB3-EB654AE79006}"/>
              </a:ext>
            </a:extLst>
          </p:cNvPr>
          <p:cNvSpPr/>
          <p:nvPr/>
        </p:nvSpPr>
        <p:spPr>
          <a:xfrm>
            <a:off x="0" y="2506941"/>
            <a:ext cx="5383034" cy="29888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pPr>
              <a:spcAft>
                <a:spcPts val="1200"/>
              </a:spcAft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Marketing Daten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definieren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Training/Test Split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Regression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Reaktionswahrscheinlichkeit vorhersagen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866C336-809A-F195-10D4-E995112A17DA}"/>
              </a:ext>
            </a:extLst>
          </p:cNvPr>
          <p:cNvSpPr/>
          <p:nvPr/>
        </p:nvSpPr>
        <p:spPr>
          <a:xfrm>
            <a:off x="6808966" y="2506940"/>
            <a:ext cx="5383034" cy="298888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pPr>
              <a:lnSpc>
                <a:spcPct val="150000"/>
              </a:lnSpc>
            </a:pPr>
            <a:r>
              <a:rPr lang="de-DE" dirty="0"/>
              <a:t>Modell: </a:t>
            </a:r>
            <a:r>
              <a:rPr lang="de-DE" dirty="0" err="1"/>
              <a:t>Logistic</a:t>
            </a:r>
            <a:r>
              <a:rPr lang="de-DE" dirty="0"/>
              <a:t> Regression</a:t>
            </a:r>
            <a:br>
              <a:rPr lang="de-DE" dirty="0"/>
            </a:br>
            <a:r>
              <a:rPr lang="de-DE" dirty="0"/>
              <a:t>Datensatz: Bank Marketing</a:t>
            </a:r>
            <a:br>
              <a:rPr lang="de-DE" dirty="0"/>
            </a:br>
            <a:r>
              <a:rPr lang="de-DE" dirty="0"/>
              <a:t>Zielvariable: y = </a:t>
            </a:r>
            <a:r>
              <a:rPr lang="de-DE" dirty="0" err="1"/>
              <a:t>yes</a:t>
            </a:r>
            <a:r>
              <a:rPr lang="de-DE" dirty="0"/>
              <a:t> / </a:t>
            </a:r>
            <a:r>
              <a:rPr lang="de-DE" dirty="0" err="1"/>
              <a:t>no</a:t>
            </a:r>
            <a:br>
              <a:rPr lang="de-DE" dirty="0"/>
            </a:br>
            <a:r>
              <a:rPr lang="de-DE" dirty="0"/>
              <a:t>Features: 20 (10 numerisch, 10 kategorial)</a:t>
            </a:r>
            <a:br>
              <a:rPr lang="de-DE" dirty="0"/>
            </a:br>
            <a:r>
              <a:rPr lang="de-DE" dirty="0"/>
              <a:t>Vorverarbeitung: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/>
              <a:t>StandardScaler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/>
              <a:t>One</a:t>
            </a:r>
            <a:r>
              <a:rPr lang="de-DE" dirty="0"/>
              <a:t>-Hot-Encoding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92376B7-7CDA-14CB-C4F1-9BF0F4313B8A}"/>
              </a:ext>
            </a:extLst>
          </p:cNvPr>
          <p:cNvSpPr/>
          <p:nvPr/>
        </p:nvSpPr>
        <p:spPr>
          <a:xfrm>
            <a:off x="0" y="2008292"/>
            <a:ext cx="5383034" cy="639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Prozess-Flow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6F4D1C8-6D1E-72B0-3687-19AE86CEEAEF}"/>
              </a:ext>
            </a:extLst>
          </p:cNvPr>
          <p:cNvSpPr/>
          <p:nvPr/>
        </p:nvSpPr>
        <p:spPr>
          <a:xfrm>
            <a:off x="6808966" y="2008291"/>
            <a:ext cx="5383034" cy="639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Modell-Info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DBE1469-D9D0-1FC9-7ACA-C7768DA21B32}"/>
              </a:ext>
            </a:extLst>
          </p:cNvPr>
          <p:cNvSpPr txBox="1"/>
          <p:nvPr/>
        </p:nvSpPr>
        <p:spPr>
          <a:xfrm>
            <a:off x="638756" y="5667434"/>
            <a:ext cx="10914489" cy="63910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Ziel: vorhersagen, welche Kunden mit höherer Wahrscheinlichkeit positiv reagieren</a:t>
            </a:r>
            <a:endParaRPr lang="de-DE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34DA6B1-35C3-ED20-13ED-DF15FD3DA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346" y="2997108"/>
            <a:ext cx="877307" cy="87730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7051A0A-6B84-812F-D986-FA0600370F5D}"/>
              </a:ext>
            </a:extLst>
          </p:cNvPr>
          <p:cNvSpPr txBox="1"/>
          <p:nvPr/>
        </p:nvSpPr>
        <p:spPr>
          <a:xfrm>
            <a:off x="262453" y="6492875"/>
            <a:ext cx="2062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Bild von </a:t>
            </a:r>
            <a:r>
              <a:rPr lang="de-DE" sz="80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Freepik</a:t>
            </a:r>
            <a:endParaRPr lang="de-DE" sz="8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607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A65A8-1BF1-89FC-5D2B-678A63F4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/>
              <a:t>DAS MODELL TRIFFT SEHR ZUVERLÄSSIG…</a:t>
            </a:r>
            <a:br>
              <a:rPr lang="de-DE" sz="3600" dirty="0"/>
            </a:br>
            <a:r>
              <a:rPr lang="de-DE" sz="2800" dirty="0"/>
              <a:t>ABER NICHT PERFEKT</a:t>
            </a:r>
            <a:endParaRPr lang="de-DE" sz="36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0B38202-8490-0E33-BBBA-0948DB465C2D}"/>
              </a:ext>
            </a:extLst>
          </p:cNvPr>
          <p:cNvSpPr/>
          <p:nvPr/>
        </p:nvSpPr>
        <p:spPr>
          <a:xfrm>
            <a:off x="2105320" y="1997893"/>
            <a:ext cx="3836710" cy="1325563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  <a:lumOff val="2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>
              <a:spcAft>
                <a:spcPts val="1200"/>
              </a:spcAft>
            </a:pPr>
            <a:r>
              <a:rPr lang="de-DE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endParaRPr lang="de-D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Aft>
                <a:spcPts val="1200"/>
              </a:spcAft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86.5%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6EDF400-4A80-F946-B4B5-E6CE53B09F05}"/>
              </a:ext>
            </a:extLst>
          </p:cNvPr>
          <p:cNvSpPr/>
          <p:nvPr/>
        </p:nvSpPr>
        <p:spPr>
          <a:xfrm>
            <a:off x="6249971" y="1997893"/>
            <a:ext cx="3836709" cy="1325563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  <a:lumOff val="2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>
              <a:spcAft>
                <a:spcPts val="1200"/>
              </a:spcAft>
            </a:pPr>
            <a:r>
              <a:rPr lang="de-DE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  <a:p>
            <a:pPr algn="ctr">
              <a:spcAft>
                <a:spcPts val="1200"/>
              </a:spcAft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45.0%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B105652-20ED-6449-4B05-0D1632FA0029}"/>
              </a:ext>
            </a:extLst>
          </p:cNvPr>
          <p:cNvSpPr/>
          <p:nvPr/>
        </p:nvSpPr>
        <p:spPr>
          <a:xfrm>
            <a:off x="2105320" y="3530058"/>
            <a:ext cx="3836710" cy="1325563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  <a:lumOff val="2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>
              <a:spcAft>
                <a:spcPts val="1200"/>
              </a:spcAft>
            </a:pPr>
            <a:r>
              <a:rPr lang="de-DE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  <a:p>
            <a:pPr algn="ctr">
              <a:spcAft>
                <a:spcPts val="1200"/>
              </a:spcAft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90.9%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B750F52-51B5-2C47-CCAC-702BA7D03213}"/>
              </a:ext>
            </a:extLst>
          </p:cNvPr>
          <p:cNvSpPr/>
          <p:nvPr/>
        </p:nvSpPr>
        <p:spPr>
          <a:xfrm>
            <a:off x="6249971" y="3530058"/>
            <a:ext cx="3836709" cy="1325563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  <a:lumOff val="2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>
              <a:spcAft>
                <a:spcPts val="1200"/>
              </a:spcAft>
            </a:pPr>
            <a:r>
              <a:rPr lang="de-DE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AUC</a:t>
            </a:r>
          </a:p>
          <a:p>
            <a:pPr algn="ctr">
              <a:spcAft>
                <a:spcPts val="1200"/>
              </a:spcAft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94.3%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1510E63-F1E8-BBB0-C4D9-426D8CFFCE98}"/>
              </a:ext>
            </a:extLst>
          </p:cNvPr>
          <p:cNvSpPr txBox="1"/>
          <p:nvPr/>
        </p:nvSpPr>
        <p:spPr>
          <a:xfrm>
            <a:off x="2097982" y="5151712"/>
            <a:ext cx="7988698" cy="95672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 Modell hat eine sehr hohe Trennschärfe (AUC = 0.9431)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DA67C2E-85E6-268D-3D8E-2476924E5736}"/>
              </a:ext>
            </a:extLst>
          </p:cNvPr>
          <p:cNvSpPr/>
          <p:nvPr/>
        </p:nvSpPr>
        <p:spPr>
          <a:xfrm>
            <a:off x="9922827" y="4971712"/>
            <a:ext cx="324110" cy="36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bg1"/>
                </a:solidFill>
                <a:latin typeface="Blackadder ITC" panose="020F0502020204030204" pitchFamily="82" charset="0"/>
              </a:rPr>
              <a:t>i</a:t>
            </a:r>
          </a:p>
        </p:txBody>
      </p:sp>
      <p:sp>
        <p:nvSpPr>
          <p:cNvPr id="10" name="Sprechblase: rechteckig 9">
            <a:extLst>
              <a:ext uri="{FF2B5EF4-FFF2-40B4-BE49-F238E27FC236}">
                <a16:creationId xmlns:a16="http://schemas.microsoft.com/office/drawing/2014/main" id="{F51C9AFD-0A97-4ADB-E5A4-E70951AED276}"/>
              </a:ext>
            </a:extLst>
          </p:cNvPr>
          <p:cNvSpPr/>
          <p:nvPr/>
        </p:nvSpPr>
        <p:spPr>
          <a:xfrm>
            <a:off x="10214651" y="1997893"/>
            <a:ext cx="1474509" cy="1121978"/>
          </a:xfrm>
          <a:prstGeom prst="wedgeRectCallout">
            <a:avLst>
              <a:gd name="adj1" fmla="val -73888"/>
              <a:gd name="adj2" fmla="val -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 produziert aber auch einige Fehlkontakte.</a:t>
            </a:r>
            <a:endParaRPr lang="de-DE" sz="1400" dirty="0"/>
          </a:p>
        </p:txBody>
      </p:sp>
      <p:sp>
        <p:nvSpPr>
          <p:cNvPr id="11" name="Sprechblase: rechteckig 10">
            <a:extLst>
              <a:ext uri="{FF2B5EF4-FFF2-40B4-BE49-F238E27FC236}">
                <a16:creationId xmlns:a16="http://schemas.microsoft.com/office/drawing/2014/main" id="{3FE381B2-0046-0401-6B86-C7027BD29AA2}"/>
              </a:ext>
            </a:extLst>
          </p:cNvPr>
          <p:cNvSpPr/>
          <p:nvPr/>
        </p:nvSpPr>
        <p:spPr>
          <a:xfrm>
            <a:off x="476840" y="3733643"/>
            <a:ext cx="1474509" cy="1121978"/>
          </a:xfrm>
          <a:prstGeom prst="wedgeRectCallout">
            <a:avLst>
              <a:gd name="adj1" fmla="val 77630"/>
              <a:gd name="adj2" fmla="val -3931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 Modell erkennt positive Reaktionen </a:t>
            </a:r>
            <a:br>
              <a:rPr lang="de-DE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sehr gut, …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747112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D5675A-8DEF-D977-08F4-7C93BD725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/>
              <a:t>WELCHE FAKTOREN BEEINFLUSSEN DIE </a:t>
            </a:r>
            <a:br>
              <a:rPr lang="de-DE" sz="3600" dirty="0"/>
            </a:br>
            <a:r>
              <a:rPr lang="de-DE" sz="3600" dirty="0"/>
              <a:t>REAKTION AM STÄRKSTEN?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189501E-3C26-BB17-1862-F20BDA957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7046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7ACD08CF-C75E-AC46-57EA-D22547DD0EAD}"/>
              </a:ext>
            </a:extLst>
          </p:cNvPr>
          <p:cNvSpPr txBox="1"/>
          <p:nvPr/>
        </p:nvSpPr>
        <p:spPr>
          <a:xfrm>
            <a:off x="4468305" y="2067701"/>
            <a:ext cx="1008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(positiv)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7C6F455-E46D-660D-E2B7-83DE7992C31C}"/>
              </a:ext>
            </a:extLst>
          </p:cNvPr>
          <p:cNvSpPr txBox="1"/>
          <p:nvPr/>
        </p:nvSpPr>
        <p:spPr>
          <a:xfrm>
            <a:off x="4670980" y="2543106"/>
            <a:ext cx="1008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(negativ)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FE67D9-7BF3-5B08-1C2C-889200E5E246}"/>
              </a:ext>
            </a:extLst>
          </p:cNvPr>
          <p:cNvSpPr txBox="1"/>
          <p:nvPr/>
        </p:nvSpPr>
        <p:spPr>
          <a:xfrm>
            <a:off x="10849466" y="5432580"/>
            <a:ext cx="1008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(negativ)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849E6C6-077C-13C1-A311-06176FCDF458}"/>
              </a:ext>
            </a:extLst>
          </p:cNvPr>
          <p:cNvSpPr txBox="1"/>
          <p:nvPr/>
        </p:nvSpPr>
        <p:spPr>
          <a:xfrm>
            <a:off x="11101633" y="6050290"/>
            <a:ext cx="1008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Koeffizient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9772579-C905-A7F1-CAF8-1C59AAD50A5F}"/>
              </a:ext>
            </a:extLst>
          </p:cNvPr>
          <p:cNvSpPr txBox="1"/>
          <p:nvPr/>
        </p:nvSpPr>
        <p:spPr>
          <a:xfrm>
            <a:off x="6464430" y="2207933"/>
            <a:ext cx="4476945" cy="131657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Nicht alle Kundenmerkmale sind gleich wichtig – einige Faktoren treiben die Reaktionswahrscheinlichkeit </a:t>
            </a:r>
            <a:br>
              <a:rPr lang="de-DE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deutlich stärker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1C1E7AA-60A3-989A-A65E-13D146C3AC16}"/>
              </a:ext>
            </a:extLst>
          </p:cNvPr>
          <p:cNvSpPr/>
          <p:nvPr/>
        </p:nvSpPr>
        <p:spPr>
          <a:xfrm>
            <a:off x="10777523" y="2027933"/>
            <a:ext cx="324110" cy="36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bg1"/>
                </a:solidFill>
                <a:latin typeface="Blackadder ITC" panose="020F0502020204030204" pitchFamily="82" charset="0"/>
              </a:rPr>
              <a:t>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C3C5943-7BA9-457F-2DD2-5D874AF0175D}"/>
              </a:ext>
            </a:extLst>
          </p:cNvPr>
          <p:cNvSpPr/>
          <p:nvPr/>
        </p:nvSpPr>
        <p:spPr>
          <a:xfrm>
            <a:off x="8795208" y="4191693"/>
            <a:ext cx="2146167" cy="113423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r>
              <a:rPr lang="de-DE" sz="1200" dirty="0">
                <a:solidFill>
                  <a:schemeClr val="tx1"/>
                </a:solidFill>
              </a:rPr>
              <a:t>Balkenlänge = Einflussstärke</a:t>
            </a:r>
          </a:p>
          <a:p>
            <a:endParaRPr lang="de-DE" sz="1200" dirty="0">
              <a:solidFill>
                <a:schemeClr val="tx1"/>
              </a:solidFill>
            </a:endParaRPr>
          </a:p>
          <a:p>
            <a:r>
              <a:rPr lang="de-DE" sz="1200" dirty="0">
                <a:solidFill>
                  <a:schemeClr val="tx1"/>
                </a:solidFill>
              </a:rPr>
              <a:t>                       positiver Einfluss</a:t>
            </a:r>
          </a:p>
          <a:p>
            <a:endParaRPr lang="de-DE" sz="1200" dirty="0">
              <a:solidFill>
                <a:schemeClr val="tx1"/>
              </a:solidFill>
            </a:endParaRPr>
          </a:p>
          <a:p>
            <a:r>
              <a:rPr lang="de-DE" sz="1200" dirty="0">
                <a:solidFill>
                  <a:schemeClr val="tx1"/>
                </a:solidFill>
              </a:rPr>
              <a:t>                        negativer Einfluss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CF2F14E-88F3-543E-D5EE-D36C2577E45A}"/>
              </a:ext>
            </a:extLst>
          </p:cNvPr>
          <p:cNvSpPr/>
          <p:nvPr/>
        </p:nvSpPr>
        <p:spPr>
          <a:xfrm>
            <a:off x="8908328" y="4694548"/>
            <a:ext cx="631596" cy="165491"/>
          </a:xfrm>
          <a:prstGeom prst="rect">
            <a:avLst/>
          </a:prstGeom>
          <a:gradFill>
            <a:gsLst>
              <a:gs pos="100000">
                <a:schemeClr val="tx2">
                  <a:lumMod val="75000"/>
                  <a:lumOff val="25000"/>
                </a:schemeClr>
              </a:gs>
              <a:gs pos="0">
                <a:schemeClr val="tx2">
                  <a:lumMod val="50000"/>
                  <a:lumOff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21E47C3-A595-7705-122B-B80B6F5DE8A3}"/>
              </a:ext>
            </a:extLst>
          </p:cNvPr>
          <p:cNvSpPr/>
          <p:nvPr/>
        </p:nvSpPr>
        <p:spPr>
          <a:xfrm>
            <a:off x="8908328" y="5044912"/>
            <a:ext cx="631596" cy="165491"/>
          </a:xfrm>
          <a:prstGeom prst="rect">
            <a:avLst/>
          </a:prstGeom>
          <a:gradFill>
            <a:gsLst>
              <a:gs pos="100000">
                <a:srgbClr val="FF0000"/>
              </a:gs>
              <a:gs pos="0">
                <a:schemeClr val="accent5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26D5675-A53F-9840-CEF3-FFF3A8EBC56C}"/>
              </a:ext>
            </a:extLst>
          </p:cNvPr>
          <p:cNvSpPr txBox="1"/>
          <p:nvPr/>
        </p:nvSpPr>
        <p:spPr>
          <a:xfrm>
            <a:off x="5291969" y="3502563"/>
            <a:ext cx="1008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(positiv)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13E6C79-2835-F474-C935-7E2C4837D6D3}"/>
              </a:ext>
            </a:extLst>
          </p:cNvPr>
          <p:cNvSpPr txBox="1"/>
          <p:nvPr/>
        </p:nvSpPr>
        <p:spPr>
          <a:xfrm>
            <a:off x="5745634" y="3998454"/>
            <a:ext cx="1008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(positiv)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23DB04-0266-C7DD-1182-BB9392703FF9}"/>
              </a:ext>
            </a:extLst>
          </p:cNvPr>
          <p:cNvSpPr txBox="1"/>
          <p:nvPr/>
        </p:nvSpPr>
        <p:spPr>
          <a:xfrm>
            <a:off x="6955408" y="4948793"/>
            <a:ext cx="1008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(positiv)</a:t>
            </a:r>
          </a:p>
        </p:txBody>
      </p:sp>
    </p:spTree>
    <p:extLst>
      <p:ext uri="{BB962C8B-B14F-4D97-AF65-F5344CB8AC3E}">
        <p14:creationId xmlns:p14="http://schemas.microsoft.com/office/powerpoint/2010/main" val="44547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Cartoon, Darstellung, Clipart enthält.&#10;&#10;KI-generierte Inhalte können fehlerhaft sein.">
            <a:extLst>
              <a:ext uri="{FF2B5EF4-FFF2-40B4-BE49-F238E27FC236}">
                <a16:creationId xmlns:a16="http://schemas.microsoft.com/office/drawing/2014/main" id="{93C6F76A-1668-D42F-36B7-CF2C0C044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718" y="1751019"/>
            <a:ext cx="3264195" cy="326419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8773C78-0BFC-BA3B-15DE-E67C5589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/>
              <a:t>AUCH EMPFEHLUNGEN WERDEN RELEVANTER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164A99D-05A3-5AEF-D6E6-49B8DFC7421B}"/>
              </a:ext>
            </a:extLst>
          </p:cNvPr>
          <p:cNvSpPr txBox="1"/>
          <p:nvPr/>
        </p:nvSpPr>
        <p:spPr>
          <a:xfrm>
            <a:off x="0" y="5213332"/>
            <a:ext cx="12192000" cy="10932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Segmentbasierte Empfehlungen sind deutlich relevanter als eine reine Popularitätslogik 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DA4547A-999C-F12E-D8E3-643EE05A3364}"/>
              </a:ext>
            </a:extLst>
          </p:cNvPr>
          <p:cNvGrpSpPr/>
          <p:nvPr/>
        </p:nvGrpSpPr>
        <p:grpSpPr>
          <a:xfrm>
            <a:off x="4635795" y="1690688"/>
            <a:ext cx="6150098" cy="3126409"/>
            <a:chOff x="4635795" y="1690688"/>
            <a:chExt cx="6150098" cy="3126409"/>
          </a:xfrm>
        </p:grpSpPr>
        <p:graphicFrame>
          <p:nvGraphicFramePr>
            <p:cNvPr id="4" name="Diagramm 3">
              <a:extLst>
                <a:ext uri="{FF2B5EF4-FFF2-40B4-BE49-F238E27FC236}">
                  <a16:creationId xmlns:a16="http://schemas.microsoft.com/office/drawing/2014/main" id="{D1317186-DEAB-0157-DDA7-5CA60913F8F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68662649"/>
                </p:ext>
              </p:extLst>
            </p:nvPr>
          </p:nvGraphicFramePr>
          <p:xfrm>
            <a:off x="4635795" y="1690688"/>
            <a:ext cx="5328337" cy="31264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5" name="Sprechblase: rechteckig 4">
              <a:extLst>
                <a:ext uri="{FF2B5EF4-FFF2-40B4-BE49-F238E27FC236}">
                  <a16:creationId xmlns:a16="http://schemas.microsoft.com/office/drawing/2014/main" id="{1C05BA46-307E-78CD-5799-71A8813EE784}"/>
                </a:ext>
              </a:extLst>
            </p:cNvPr>
            <p:cNvSpPr/>
            <p:nvPr/>
          </p:nvSpPr>
          <p:spPr>
            <a:xfrm>
              <a:off x="9311384" y="2702947"/>
              <a:ext cx="1474509" cy="445605"/>
            </a:xfrm>
            <a:prstGeom prst="wedgeRectCallout">
              <a:avLst>
                <a:gd name="adj1" fmla="val -73888"/>
                <a:gd name="adj2" fmla="val -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Lift: +3066,7%</a:t>
              </a:r>
              <a:endParaRPr lang="de-DE" sz="1400" dirty="0"/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330CAADE-67C4-C8DC-E91F-EDA930A557F2}"/>
                </a:ext>
              </a:extLst>
            </p:cNvPr>
            <p:cNvSpPr/>
            <p:nvPr/>
          </p:nvSpPr>
          <p:spPr>
            <a:xfrm>
              <a:off x="6368903" y="4042719"/>
              <a:ext cx="138223" cy="1382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57AFC513-3714-CAA0-FAA4-4E247EC90A4E}"/>
                </a:ext>
              </a:extLst>
            </p:cNvPr>
            <p:cNvSpPr/>
            <p:nvPr/>
          </p:nvSpPr>
          <p:spPr>
            <a:xfrm>
              <a:off x="8890589" y="2345055"/>
              <a:ext cx="138223" cy="1382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C0996C2E-C547-4F81-985D-E0D4F67484DC}"/>
              </a:ext>
            </a:extLst>
          </p:cNvPr>
          <p:cNvSpPr txBox="1"/>
          <p:nvPr/>
        </p:nvSpPr>
        <p:spPr>
          <a:xfrm>
            <a:off x="262453" y="6492875"/>
            <a:ext cx="2062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Bild von </a:t>
            </a:r>
            <a:r>
              <a:rPr lang="de-DE" sz="80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vectorjuice</a:t>
            </a:r>
            <a:r>
              <a:rPr lang="de-DE" sz="80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de-DE" sz="80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Freepik</a:t>
            </a:r>
            <a:endParaRPr lang="de-DE" sz="8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629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Electric Blue (Farbe), Design enthält.&#10;&#10;KI-generierte Inhalte können fehlerhaft sein.">
            <a:extLst>
              <a:ext uri="{FF2B5EF4-FFF2-40B4-BE49-F238E27FC236}">
                <a16:creationId xmlns:a16="http://schemas.microsoft.com/office/drawing/2014/main" id="{7CABD835-7E6D-8A66-3153-1FB548585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239" y="3620654"/>
            <a:ext cx="2256269" cy="225626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6D727E9-B307-547D-857A-90662E7C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MEHR PERSONALISIERUNG = MEHR PERFORMANCE…</a:t>
            </a:r>
            <a:br>
              <a:rPr lang="de-DE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ABER WAS KOSTET DAS?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A6364C9-D53A-5C95-A22D-CFDED051A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41019"/>
            <a:ext cx="5157787" cy="823912"/>
          </a:xfrm>
        </p:spPr>
        <p:txBody>
          <a:bodyPr>
            <a:normAutofit/>
          </a:bodyPr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Personalisierung (Kontext)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E633E54-EBDB-38C5-7E4C-911305E2D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64931"/>
            <a:ext cx="5157787" cy="37941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Steigende Personalisierung bedeutet:</a:t>
            </a:r>
            <a:endParaRPr lang="de-DE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mehr Daten pro Nutzer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detailliertere Profile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automatisierte Entscheidungen</a:t>
            </a:r>
          </a:p>
          <a:p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B1EAD4-41FB-4ECA-7BF4-DE274DF53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41019"/>
            <a:ext cx="5183188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Rechtlicher Rahmen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CDD385F8-6254-E6FF-6C0B-0729C3457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64931"/>
            <a:ext cx="5183188" cy="37941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DSGVO (Art. 22)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automatisierte Entscheidungen auf Einzelebene kritisch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insbesondere bei fehlender menschlicher Kontrolle</a:t>
            </a:r>
          </a:p>
          <a:p>
            <a:pPr marL="0" indent="0">
              <a:buNone/>
            </a:pPr>
            <a:r>
              <a:rPr lang="de-DE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EDPB-Leitlinien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Profiling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Bewertung persönlicher Merkmale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Risiko steigt mit Detailtiefe und Individualisierung</a:t>
            </a:r>
          </a:p>
          <a:p>
            <a:pPr marL="0" indent="0">
              <a:buNone/>
            </a:pPr>
            <a:r>
              <a:rPr lang="de-DE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ICO </a:t>
            </a:r>
            <a:r>
              <a:rPr lang="de-DE" sz="18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Guidance</a:t>
            </a:r>
            <a:endParaRPr lang="de-DE" sz="18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Transparenz gegenüber Nutzern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Fairness und Vermeidung unerwarteter Personalisierung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klare Rechenschaftspflicht für Unternehmen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9C6EF3A-B640-FA5D-CCD4-5856EB1F68E9}"/>
              </a:ext>
            </a:extLst>
          </p:cNvPr>
          <p:cNvSpPr txBox="1"/>
          <p:nvPr/>
        </p:nvSpPr>
        <p:spPr>
          <a:xfrm>
            <a:off x="1" y="6040584"/>
            <a:ext cx="12192000" cy="49876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Datenschutzrisiko steigt mit zunehmender Individualisierung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F77B76F-C264-61F4-AFFB-1C6A37585F8B}"/>
              </a:ext>
            </a:extLst>
          </p:cNvPr>
          <p:cNvSpPr txBox="1"/>
          <p:nvPr/>
        </p:nvSpPr>
        <p:spPr>
          <a:xfrm>
            <a:off x="262453" y="6492875"/>
            <a:ext cx="2062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Bild von </a:t>
            </a:r>
            <a:r>
              <a:rPr lang="de-DE" sz="80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vectorjuice</a:t>
            </a:r>
            <a:r>
              <a:rPr lang="de-DE" sz="80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de-DE" sz="80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Freepik</a:t>
            </a:r>
            <a:endParaRPr lang="de-DE" sz="8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19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4E618F-7A75-399F-2874-F5BE3DC9B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STUFEN DER PERSONALLSIERUNG IM MARKETING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5D43620-D8A2-2B2C-94BC-EAFF3BE5DC4E}"/>
              </a:ext>
            </a:extLst>
          </p:cNvPr>
          <p:cNvSpPr/>
          <p:nvPr/>
        </p:nvSpPr>
        <p:spPr>
          <a:xfrm>
            <a:off x="1054358" y="1987421"/>
            <a:ext cx="2736000" cy="16609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</a:t>
            </a:r>
          </a:p>
          <a:p>
            <a:pPr algn="ctr"/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Generische </a:t>
            </a:r>
            <a:b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Ansprache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041EA1-9776-2CDA-A375-1B99C615B307}"/>
              </a:ext>
            </a:extLst>
          </p:cNvPr>
          <p:cNvSpPr/>
          <p:nvPr/>
        </p:nvSpPr>
        <p:spPr>
          <a:xfrm>
            <a:off x="4727999" y="2002111"/>
            <a:ext cx="2736000" cy="1660944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Medium</a:t>
            </a:r>
          </a:p>
          <a:p>
            <a:pPr algn="ctr"/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Segmentbasierte Ansprache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6B42A96-65D3-305D-39A0-75ACA49C9FE6}"/>
              </a:ext>
            </a:extLst>
          </p:cNvPr>
          <p:cNvSpPr/>
          <p:nvPr/>
        </p:nvSpPr>
        <p:spPr>
          <a:xfrm>
            <a:off x="8401640" y="1988109"/>
            <a:ext cx="2736000" cy="166094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100000">
                <a:srgbClr val="FF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</a:t>
            </a:r>
          </a:p>
          <a:p>
            <a:pPr algn="ctr"/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Individuelle </a:t>
            </a:r>
            <a:b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Modelle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FC390495-685E-C77A-1DEC-A873089A428B}"/>
              </a:ext>
            </a:extLst>
          </p:cNvPr>
          <p:cNvSpPr/>
          <p:nvPr/>
        </p:nvSpPr>
        <p:spPr>
          <a:xfrm>
            <a:off x="1054359" y="3967023"/>
            <a:ext cx="10083281" cy="734291"/>
          </a:xfrm>
          <a:prstGeom prst="rightArrow">
            <a:avLst/>
          </a:prstGeom>
          <a:gradFill>
            <a:gsLst>
              <a:gs pos="27000">
                <a:schemeClr val="tx2">
                  <a:lumMod val="75000"/>
                  <a:lumOff val="2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76000">
                <a:schemeClr val="accent5">
                  <a:lumMod val="75000"/>
                </a:schemeClr>
              </a:gs>
              <a:gs pos="100000">
                <a:srgbClr val="FF00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einfach                                                                                                                                                                            komplexer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1336B8E-9AE4-ADD3-1071-9A249C3EB47A}"/>
              </a:ext>
            </a:extLst>
          </p:cNvPr>
          <p:cNvSpPr txBox="1"/>
          <p:nvPr/>
        </p:nvSpPr>
        <p:spPr>
          <a:xfrm>
            <a:off x="1380363" y="4858332"/>
            <a:ext cx="2174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z.Bsp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Massenkampagnen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CB4B0D0-BF11-E498-CEFE-992C3242CF14}"/>
              </a:ext>
            </a:extLst>
          </p:cNvPr>
          <p:cNvSpPr txBox="1"/>
          <p:nvPr/>
        </p:nvSpPr>
        <p:spPr>
          <a:xfrm>
            <a:off x="5250436" y="4858332"/>
            <a:ext cx="2174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z.Bsp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b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Loyal </a:t>
            </a: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Buyers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ABA18C6-5071-7717-B207-469D45EAEFC3}"/>
              </a:ext>
            </a:extLst>
          </p:cNvPr>
          <p:cNvSpPr txBox="1"/>
          <p:nvPr/>
        </p:nvSpPr>
        <p:spPr>
          <a:xfrm>
            <a:off x="8764825" y="4858332"/>
            <a:ext cx="239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z.Bsp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b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/>
              <a:t>Vorhersage pro Nutzer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530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6A4A54-2A41-185C-ED43-C01CB0835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BEWERTUNG DES DATENSCHUTZRISIKOS</a:t>
            </a:r>
            <a:br>
              <a:rPr lang="de-DE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WIE PERSONALISIERUNG DAS RISIKO BEEINFLUSST</a:t>
            </a:r>
            <a:endParaRPr lang="de-DE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64AD3EC-7738-BCBA-FA9A-A6E85FB41A1C}"/>
              </a:ext>
            </a:extLst>
          </p:cNvPr>
          <p:cNvSpPr txBox="1"/>
          <p:nvPr/>
        </p:nvSpPr>
        <p:spPr>
          <a:xfrm>
            <a:off x="838200" y="1751478"/>
            <a:ext cx="4943764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Score basiert auf 3 Dimensionen: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Volume: </a:t>
            </a:r>
            <a:r>
              <a:rPr lang="de-DE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Menge und Vielfalt der genutzten Daten</a:t>
            </a:r>
          </a:p>
          <a:p>
            <a:pPr>
              <a:lnSpc>
                <a:spcPct val="150000"/>
              </a:lnSpc>
            </a:pPr>
            <a:r>
              <a:rPr lang="de-DE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</a:t>
            </a:r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Sensibilität der Daten (z. B. Einkommen, Verhalten)</a:t>
            </a:r>
          </a:p>
          <a:p>
            <a:pPr>
              <a:lnSpc>
                <a:spcPct val="150000"/>
              </a:lnSpc>
            </a:pPr>
            <a:r>
              <a:rPr lang="de-DE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Granularity</a:t>
            </a:r>
            <a:r>
              <a:rPr lang="de-D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Grad der Individualisierung!</a:t>
            </a:r>
          </a:p>
          <a:p>
            <a:endParaRPr lang="de-D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Formel:</a:t>
            </a:r>
            <a:b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Risk = 0.3 × Volume + 0.3 × </a:t>
            </a:r>
            <a:r>
              <a:rPr lang="de-DE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Sensitivity</a:t>
            </a:r>
            <a:r>
              <a:rPr lang="de-DE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+ 0.4 × </a:t>
            </a:r>
            <a:r>
              <a:rPr lang="de-DE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Granularity</a:t>
            </a:r>
            <a:endParaRPr lang="de-DE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7AE576B7-689E-A1E5-EF5B-70EADA2A7F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304553"/>
              </p:ext>
            </p:extLst>
          </p:nvPr>
        </p:nvGraphicFramePr>
        <p:xfrm>
          <a:off x="6503541" y="1690688"/>
          <a:ext cx="4943764" cy="4607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7" name="Grafik 16">
            <a:extLst>
              <a:ext uri="{FF2B5EF4-FFF2-40B4-BE49-F238E27FC236}">
                <a16:creationId xmlns:a16="http://schemas.microsoft.com/office/drawing/2014/main" id="{BDF5C7C6-000E-3A2C-D6CB-1EFDCB730E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86"/>
          <a:stretch/>
        </p:blipFill>
        <p:spPr>
          <a:xfrm>
            <a:off x="838200" y="4881703"/>
            <a:ext cx="4872389" cy="149294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58DBEC7-DC1F-EC84-0046-7B50CC592F33}"/>
              </a:ext>
            </a:extLst>
          </p:cNvPr>
          <p:cNvSpPr txBox="1"/>
          <p:nvPr/>
        </p:nvSpPr>
        <p:spPr>
          <a:xfrm>
            <a:off x="934948" y="3230049"/>
            <a:ext cx="4775641" cy="135105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8000" tIns="0" bIns="72000"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Formel für </a:t>
            </a:r>
            <a:r>
              <a:rPr lang="de-DE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Score</a:t>
            </a:r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(0-1): </a:t>
            </a:r>
          </a:p>
          <a:p>
            <a:pPr algn="l"/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0.3 × Volume + </a:t>
            </a:r>
          </a:p>
          <a:p>
            <a:pPr algn="l"/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0.3 × </a:t>
            </a:r>
            <a:r>
              <a:rPr lang="de-DE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</a:t>
            </a:r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</a:p>
          <a:p>
            <a:pPr algn="l"/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0.4 × </a:t>
            </a:r>
            <a:r>
              <a:rPr lang="de-DE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Granularity</a:t>
            </a:r>
            <a:endParaRPr lang="de-D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D8BC379-3669-BBB6-BC8B-ED3CE7AA8765}"/>
              </a:ext>
            </a:extLst>
          </p:cNvPr>
          <p:cNvSpPr/>
          <p:nvPr/>
        </p:nvSpPr>
        <p:spPr>
          <a:xfrm>
            <a:off x="5520928" y="3050257"/>
            <a:ext cx="360000" cy="36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bg1"/>
                </a:solidFill>
                <a:latin typeface="Blackadder ITC" panose="020F0502020204030204" pitchFamily="82" charset="0"/>
              </a:rPr>
              <a:t>i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6338ADDF-2394-C1AF-B36B-2EFD322B171A}"/>
              </a:ext>
            </a:extLst>
          </p:cNvPr>
          <p:cNvCxnSpPr/>
          <p:nvPr/>
        </p:nvCxnSpPr>
        <p:spPr>
          <a:xfrm>
            <a:off x="6813494" y="3429000"/>
            <a:ext cx="4633811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3B7E3B23-100F-B251-92AF-C96119B8E453}"/>
              </a:ext>
            </a:extLst>
          </p:cNvPr>
          <p:cNvSpPr txBox="1"/>
          <p:nvPr/>
        </p:nvSpPr>
        <p:spPr>
          <a:xfrm>
            <a:off x="6804067" y="3224920"/>
            <a:ext cx="1562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Kritische Schwelle</a:t>
            </a:r>
          </a:p>
        </p:txBody>
      </p:sp>
    </p:spTree>
    <p:extLst>
      <p:ext uri="{BB962C8B-B14F-4D97-AF65-F5344CB8AC3E}">
        <p14:creationId xmlns:p14="http://schemas.microsoft.com/office/powerpoint/2010/main" val="358930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5C7E9FC-2DED-ACAC-2C36-697F9D24E1FA}"/>
              </a:ext>
            </a:extLst>
          </p:cNvPr>
          <p:cNvSpPr/>
          <p:nvPr/>
        </p:nvSpPr>
        <p:spPr>
          <a:xfrm>
            <a:off x="5616944" y="1839074"/>
            <a:ext cx="1728584" cy="3667874"/>
          </a:xfrm>
          <a:prstGeom prst="rect">
            <a:avLst/>
          </a:prstGeom>
          <a:solidFill>
            <a:srgbClr val="FF00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8279B35-1C4F-6020-B692-EA49DFB6FC59}"/>
              </a:ext>
            </a:extLst>
          </p:cNvPr>
          <p:cNvSpPr/>
          <p:nvPr/>
        </p:nvSpPr>
        <p:spPr>
          <a:xfrm>
            <a:off x="4827999" y="4261615"/>
            <a:ext cx="791962" cy="689858"/>
          </a:xfrm>
          <a:prstGeom prst="ellipse">
            <a:avLst/>
          </a:prstGeom>
          <a:solidFill>
            <a:schemeClr val="accent3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91013C89-EDBE-A5AC-3381-5CE8C721A09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1690688"/>
          <a:ext cx="6680895" cy="4498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prechblase: rechteckig 2">
            <a:extLst>
              <a:ext uri="{FF2B5EF4-FFF2-40B4-BE49-F238E27FC236}">
                <a16:creationId xmlns:a16="http://schemas.microsoft.com/office/drawing/2014/main" id="{01C76013-3470-D22D-6E92-4609917C99CA}"/>
              </a:ext>
            </a:extLst>
          </p:cNvPr>
          <p:cNvSpPr/>
          <p:nvPr/>
        </p:nvSpPr>
        <p:spPr>
          <a:xfrm>
            <a:off x="4002423" y="3500399"/>
            <a:ext cx="1160980" cy="523220"/>
          </a:xfrm>
          <a:prstGeom prst="wedgeRectCallout">
            <a:avLst>
              <a:gd name="adj1" fmla="val 52224"/>
              <a:gd name="adj2" fmla="val 109754"/>
            </a:avLst>
          </a:prstGeom>
          <a:solidFill>
            <a:schemeClr val="accent3">
              <a:lumMod val="40000"/>
              <a:lumOff val="60000"/>
              <a:alpha val="44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Sweet</a:t>
            </a:r>
          </a:p>
          <a:p>
            <a:pPr algn="ctr"/>
            <a:r>
              <a:rPr lang="de-DE" sz="1600" dirty="0">
                <a:solidFill>
                  <a:schemeClr val="tx1"/>
                </a:solidFill>
              </a:rPr>
              <a:t>Spot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C7BD24-CEBF-C4DE-406D-1F9B4CAA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1215851" cy="1325563"/>
          </a:xfrm>
        </p:spPr>
        <p:txBody>
          <a:bodyPr>
            <a:normAutofit/>
          </a:bodyPr>
          <a:lstStyle/>
          <a:p>
            <a:r>
              <a:rPr lang="de-DE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TRADE-OFF-ANALYSE: W</a:t>
            </a:r>
            <a:r>
              <a:rPr lang="de-DE" sz="3600" dirty="0"/>
              <a:t>O</a:t>
            </a:r>
            <a:r>
              <a:rPr lang="de-DE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LIEGT DIE OPTIMALE </a:t>
            </a:r>
            <a:br>
              <a:rPr lang="de-DE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GRENZE DER PERSONALISIERUNG?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0F2E8E6-4FA3-8540-D6FD-113061E3D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72218" y="1681163"/>
            <a:ext cx="4318454" cy="4508500"/>
          </a:xfrm>
        </p:spPr>
        <p:txBody>
          <a:bodyPr anchor="t" anchorCtr="0"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Ergebnis:</a:t>
            </a:r>
            <a:endParaRPr lang="de-DE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steigt mit Personalisierung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Datenschutzrisiko steigt überproportional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Individuelle Modelle → </a:t>
            </a:r>
            <a:br>
              <a:rPr lang="de-DE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kritischer Bereich (DSGVO Art. 22)</a:t>
            </a:r>
          </a:p>
          <a:p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Optimale Balance: </a:t>
            </a:r>
            <a:b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Segmentbasierte Personalisierung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78291A0-B732-D16B-3B9A-00736737C0EE}"/>
              </a:ext>
            </a:extLst>
          </p:cNvPr>
          <p:cNvSpPr txBox="1"/>
          <p:nvPr/>
        </p:nvSpPr>
        <p:spPr>
          <a:xfrm>
            <a:off x="1880170" y="4797584"/>
            <a:ext cx="1160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Generisch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212B3EF-CC25-C983-1995-33D4A2D8AC9A}"/>
              </a:ext>
            </a:extLst>
          </p:cNvPr>
          <p:cNvSpPr txBox="1"/>
          <p:nvPr/>
        </p:nvSpPr>
        <p:spPr>
          <a:xfrm>
            <a:off x="4231238" y="4261615"/>
            <a:ext cx="1160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Segment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E4B04E5-5A25-8E63-C6B4-FB08B4461BA4}"/>
              </a:ext>
            </a:extLst>
          </p:cNvPr>
          <p:cNvSpPr txBox="1"/>
          <p:nvPr/>
        </p:nvSpPr>
        <p:spPr>
          <a:xfrm>
            <a:off x="5463282" y="4643695"/>
            <a:ext cx="1265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Recommender</a:t>
            </a:r>
            <a:endParaRPr lang="de-DE" sz="14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AA7D4CA-979B-2AAE-935C-BC05AA8DBD5D}"/>
              </a:ext>
            </a:extLst>
          </p:cNvPr>
          <p:cNvSpPr txBox="1"/>
          <p:nvPr/>
        </p:nvSpPr>
        <p:spPr>
          <a:xfrm>
            <a:off x="6065601" y="2060416"/>
            <a:ext cx="1160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Modell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1D82F94-6397-3BBE-03D1-1F9211F6161C}"/>
              </a:ext>
            </a:extLst>
          </p:cNvPr>
          <p:cNvCxnSpPr/>
          <p:nvPr/>
        </p:nvCxnSpPr>
        <p:spPr>
          <a:xfrm>
            <a:off x="5629200" y="1839074"/>
            <a:ext cx="0" cy="36678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B88BAAF9-2CDF-CDBF-2826-DB38623D664F}"/>
              </a:ext>
            </a:extLst>
          </p:cNvPr>
          <p:cNvSpPr txBox="1"/>
          <p:nvPr/>
        </p:nvSpPr>
        <p:spPr>
          <a:xfrm>
            <a:off x="4842550" y="2551527"/>
            <a:ext cx="1160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Kritische Schwelle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A59A196-EB40-2B6A-918F-DA2132838B7A}"/>
              </a:ext>
            </a:extLst>
          </p:cNvPr>
          <p:cNvSpPr txBox="1"/>
          <p:nvPr/>
        </p:nvSpPr>
        <p:spPr>
          <a:xfrm>
            <a:off x="7799069" y="5253331"/>
            <a:ext cx="3853955" cy="69540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Mehr Personalisierung </a:t>
            </a:r>
            <a:b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ist nicht immer besser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207BF2B-570A-C351-52FA-55279B662A2D}"/>
              </a:ext>
            </a:extLst>
          </p:cNvPr>
          <p:cNvSpPr/>
          <p:nvPr/>
        </p:nvSpPr>
        <p:spPr>
          <a:xfrm>
            <a:off x="11482198" y="5073331"/>
            <a:ext cx="324110" cy="36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bg1"/>
                </a:solidFill>
                <a:latin typeface="Blackadder ITC" panose="020F0502020204030204" pitchFamily="82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141871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07DFE-DF43-C790-FC0C-926B6730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EMPFEHLUNGEN FÜR UNTERNEHMEN</a:t>
            </a:r>
            <a:br>
              <a:rPr lang="de-DE" dirty="0"/>
            </a:br>
            <a:r>
              <a:rPr lang="de-DE" sz="2800" dirty="0"/>
              <a:t>CAMPAIGN OS STATT REINER PERSONALIERUNGS-ENGINE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92B17C-1554-BD3B-73C5-2EF8CE572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b="1" dirty="0"/>
              <a:t>Vision</a:t>
            </a:r>
            <a:r>
              <a:rPr lang="de-DE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	Ein SaaS, das aus Business-Ziel, Produkt und Datenlage direkt eine einsatzbare Kampagne 	erzeugt – inklusive steuerbarer Personalisierung und Risk Score!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D8D826B-934D-86D0-08F2-DA0CE12D5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21" b="93750" l="3627" r="95596">
                        <a14:foregroundMark x1="12824" y1="4421" x2="12824" y2="4421"/>
                        <a14:foregroundMark x1="26684" y1="21799" x2="26684" y2="21799"/>
                        <a14:foregroundMark x1="35363" y1="10976" x2="35363" y2="10976"/>
                        <a14:foregroundMark x1="27979" y1="9299" x2="27979" y2="9299"/>
                        <a14:foregroundMark x1="20466" y1="10976" x2="20466" y2="10976"/>
                        <a14:foregroundMark x1="12565" y1="20274" x2="12565" y2="20274"/>
                        <a14:foregroundMark x1="7513" y1="16159" x2="7513" y2="16159"/>
                        <a14:foregroundMark x1="7642" y1="12805" x2="7642" y2="12805"/>
                        <a14:foregroundMark x1="5959" y1="21799" x2="5959" y2="21799"/>
                        <a14:foregroundMark x1="4663" y1="25610" x2="4663" y2="25610"/>
                        <a14:foregroundMark x1="3886" y1="19360" x2="3886" y2="19360"/>
                        <a14:foregroundMark x1="84326" y1="5030" x2="84326" y2="5030"/>
                        <a14:foregroundMark x1="85104" y1="12957" x2="85104" y2="12957"/>
                        <a14:foregroundMark x1="81347" y1="9299" x2="81347" y2="9299"/>
                        <a14:foregroundMark x1="93912" y1="21189" x2="93912" y2="21189"/>
                        <a14:foregroundMark x1="95725" y1="33841" x2="95725" y2="33841"/>
                        <a14:foregroundMark x1="95337" y1="73323" x2="95337" y2="73323"/>
                        <a14:foregroundMark x1="93653" y1="72713" x2="93653" y2="72713"/>
                        <a14:foregroundMark x1="92228" y1="41921" x2="92228" y2="41921"/>
                        <a14:foregroundMark x1="93394" y1="34909" x2="93394" y2="34909"/>
                        <a14:foregroundMark x1="94560" y1="29116" x2="94560" y2="29116"/>
                        <a14:foregroundMark x1="95337" y1="45732" x2="95337" y2="45732"/>
                        <a14:foregroundMark x1="95337" y1="45732" x2="95337" y2="45732"/>
                        <a14:foregroundMark x1="95725" y1="60366" x2="95725" y2="60366"/>
                        <a14:foregroundMark x1="95725" y1="60366" x2="95725" y2="60366"/>
                        <a14:foregroundMark x1="94171" y1="66463" x2="94171" y2="66463"/>
                        <a14:foregroundMark x1="94171" y1="66463" x2="94171" y2="66463"/>
                        <a14:foregroundMark x1="93653" y1="70884" x2="93653" y2="70884"/>
                        <a14:foregroundMark x1="92876" y1="84604" x2="92876" y2="84604"/>
                        <a14:foregroundMark x1="92876" y1="84604" x2="92876" y2="84604"/>
                        <a14:foregroundMark x1="90155" y1="88262" x2="90155" y2="88262"/>
                        <a14:foregroundMark x1="90155" y1="88262" x2="90155" y2="88262"/>
                        <a14:foregroundMark x1="85881" y1="88415" x2="85881" y2="88415"/>
                        <a14:foregroundMark x1="85881" y1="88415" x2="85881" y2="88415"/>
                        <a14:foregroundMark x1="93782" y1="79573" x2="93782" y2="79573"/>
                        <a14:foregroundMark x1="84585" y1="93750" x2="84585" y2="93750"/>
                        <a14:foregroundMark x1="84585" y1="93750" x2="84585" y2="93750"/>
                        <a14:foregroundMark x1="74611" y1="93445" x2="74611" y2="93445"/>
                        <a14:foregroundMark x1="74611" y1="93445" x2="74611" y2="93445"/>
                        <a14:foregroundMark x1="91321" y1="48628" x2="91321" y2="48628"/>
                        <a14:foregroundMark x1="91321" y1="48628" x2="91321" y2="48628"/>
                        <a14:foregroundMark x1="94689" y1="58841" x2="94689" y2="58841"/>
                        <a14:foregroundMark x1="94689" y1="58841" x2="94689" y2="58841"/>
                        <a14:foregroundMark x1="94301" y1="67835" x2="94301" y2="67835"/>
                        <a14:foregroundMark x1="94301" y1="67835" x2="94301" y2="67835"/>
                        <a14:foregroundMark x1="92228" y1="80488" x2="92228" y2="80488"/>
                        <a14:foregroundMark x1="92228" y1="80488" x2="92228" y2="80488"/>
                        <a14:foregroundMark x1="92228" y1="80488" x2="92228" y2="80488"/>
                        <a14:foregroundMark x1="90803" y1="85518" x2="90803" y2="85518"/>
                        <a14:foregroundMark x1="90803" y1="85518" x2="90803" y2="85518"/>
                        <a14:foregroundMark x1="84974" y1="91921" x2="84974" y2="91921"/>
                        <a14:foregroundMark x1="84974" y1="91921" x2="84974" y2="91921"/>
                        <a14:foregroundMark x1="79922" y1="93445" x2="79922" y2="93445"/>
                        <a14:foregroundMark x1="79922" y1="93445" x2="79922" y2="93445"/>
                        <a14:foregroundMark x1="70725" y1="91768" x2="70725" y2="91768"/>
                        <a14:foregroundMark x1="70725" y1="91768" x2="70725" y2="91768"/>
                        <a14:foregroundMark x1="88860" y1="91768" x2="88860" y2="91768"/>
                        <a14:foregroundMark x1="63342" y1="92988" x2="63342" y2="92988"/>
                        <a14:foregroundMark x1="50130" y1="89482" x2="50130" y2="89482"/>
                        <a14:foregroundMark x1="45337" y1="86128" x2="45337" y2="86128"/>
                        <a14:foregroundMark x1="43264" y1="89024" x2="43264" y2="89024"/>
                        <a14:foregroundMark x1="42228" y1="91006" x2="42228" y2="91006"/>
                        <a14:foregroundMark x1="40415" y1="91311" x2="40415" y2="91311"/>
                        <a14:foregroundMark x1="32513" y1="91311" x2="32513" y2="91311"/>
                        <a14:foregroundMark x1="25907" y1="92683" x2="25907" y2="92683"/>
                        <a14:foregroundMark x1="18394" y1="92835" x2="18394" y2="92835"/>
                        <a14:foregroundMark x1="14249" y1="92226" x2="14249" y2="92226"/>
                        <a14:foregroundMark x1="11788" y1="91311" x2="11788" y2="91311"/>
                        <a14:foregroundMark x1="8679" y1="89787" x2="8679" y2="897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55660" y="2473441"/>
            <a:ext cx="4362196" cy="3706736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0B9BA9C4-71B5-C86C-F7E6-888E44E444DB}"/>
              </a:ext>
            </a:extLst>
          </p:cNvPr>
          <p:cNvSpPr/>
          <p:nvPr/>
        </p:nvSpPr>
        <p:spPr>
          <a:xfrm>
            <a:off x="-1" y="2506941"/>
            <a:ext cx="6991606" cy="29888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pPr>
              <a:spcAft>
                <a:spcPts val="1200"/>
              </a:spcAft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		Reaktivierung, Neukunde, </a:t>
            </a: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Upsell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oder Cross-		Sell als Startpunkt definieren</a:t>
            </a:r>
          </a:p>
          <a:p>
            <a:pPr>
              <a:spcAft>
                <a:spcPts val="1200"/>
              </a:spcAft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OUTPUT 		KI erstellt Targeting, Ad Copy, Creatives und 		Kanalempfehlung automatisch</a:t>
            </a:r>
          </a:p>
          <a:p>
            <a:pPr>
              <a:spcAft>
                <a:spcPts val="1200"/>
              </a:spcAft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CONTROL		</a:t>
            </a: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Personalization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-Slider erhöht oder senkt 		Relevanz – der Risk Score reagiert mit</a:t>
            </a:r>
          </a:p>
          <a:p>
            <a:pPr>
              <a:spcAft>
                <a:spcPts val="1200"/>
              </a:spcAft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VALUE		Schnellere Kampagnenplanung bei konsistenter 		Qualität und klaren Compliance-Grenzen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16E53DF9-C0BB-3F36-452A-8B102F394A6B}"/>
              </a:ext>
            </a:extLst>
          </p:cNvPr>
          <p:cNvSpPr/>
          <p:nvPr/>
        </p:nvSpPr>
        <p:spPr>
          <a:xfrm>
            <a:off x="1723604" y="2701148"/>
            <a:ext cx="472424" cy="25511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87011FB4-24B2-0F20-9AE2-146D04F01F0B}"/>
              </a:ext>
            </a:extLst>
          </p:cNvPr>
          <p:cNvSpPr/>
          <p:nvPr/>
        </p:nvSpPr>
        <p:spPr>
          <a:xfrm>
            <a:off x="1723604" y="3374418"/>
            <a:ext cx="472424" cy="25511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4A1CA1E4-264F-2C20-ADA2-10F23814FFA7}"/>
              </a:ext>
            </a:extLst>
          </p:cNvPr>
          <p:cNvSpPr/>
          <p:nvPr/>
        </p:nvSpPr>
        <p:spPr>
          <a:xfrm>
            <a:off x="1725147" y="4090401"/>
            <a:ext cx="472424" cy="25511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E10ABABF-758D-E8CA-2D68-4E984662D0F1}"/>
              </a:ext>
            </a:extLst>
          </p:cNvPr>
          <p:cNvSpPr/>
          <p:nvPr/>
        </p:nvSpPr>
        <p:spPr>
          <a:xfrm>
            <a:off x="1723604" y="4788575"/>
            <a:ext cx="472424" cy="25511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55DE915-49E4-BFBE-BE00-BB114850DDBD}"/>
              </a:ext>
            </a:extLst>
          </p:cNvPr>
          <p:cNvSpPr txBox="1"/>
          <p:nvPr/>
        </p:nvSpPr>
        <p:spPr>
          <a:xfrm>
            <a:off x="838201" y="5813281"/>
            <a:ext cx="6153404" cy="69540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Nicht maximale Personalisierung gewinnt – sondern </a:t>
            </a:r>
            <a:b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steuerbare Performance innerhalb definierter Risiko-Grenzen!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39D3E58-EAE8-02D8-8EAE-B6DF904A905B}"/>
              </a:ext>
            </a:extLst>
          </p:cNvPr>
          <p:cNvSpPr/>
          <p:nvPr/>
        </p:nvSpPr>
        <p:spPr>
          <a:xfrm>
            <a:off x="6826038" y="5633281"/>
            <a:ext cx="324110" cy="36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bg1"/>
                </a:solidFill>
                <a:latin typeface="Blackadder ITC" panose="020F0502020204030204" pitchFamily="82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62817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FDD8F27-ACD5-5627-2735-A18AD1ADFD50}"/>
              </a:ext>
            </a:extLst>
          </p:cNvPr>
          <p:cNvSpPr txBox="1"/>
          <p:nvPr/>
        </p:nvSpPr>
        <p:spPr>
          <a:xfrm>
            <a:off x="0" y="1878929"/>
            <a:ext cx="12191999" cy="2871537"/>
          </a:xfrm>
          <a:prstGeom prst="rect">
            <a:avLst/>
          </a:prstGeom>
          <a:gradFill>
            <a:gsLst>
              <a:gs pos="27000">
                <a:schemeClr val="tx2">
                  <a:lumMod val="75000"/>
                  <a:lumOff val="2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76000">
                <a:schemeClr val="accent5">
                  <a:lumMod val="75000"/>
                </a:schemeClr>
              </a:gs>
              <a:gs pos="100000">
                <a:srgbClr val="FF00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80000"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endParaRPr lang="de-D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CDAB2C9-7B47-A1C3-F308-C8ADCA514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8835"/>
            <a:ext cx="9144000" cy="1547358"/>
          </a:xfrm>
        </p:spPr>
        <p:txBody>
          <a:bodyPr anchor="ctr" anchorCtr="0">
            <a:normAutofit/>
          </a:bodyPr>
          <a:lstStyle/>
          <a:p>
            <a:r>
              <a:rPr lang="de-DE" sz="3600" dirty="0"/>
              <a:t>Mehr Personalisierung ist nicht immer besser.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BB642BC6-8DFE-558F-2913-1954F5702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93775"/>
            <a:ext cx="9144000" cy="1655762"/>
          </a:xfrm>
        </p:spPr>
        <p:txBody>
          <a:bodyPr>
            <a:normAutofit/>
          </a:bodyPr>
          <a:lstStyle/>
          <a:p>
            <a:r>
              <a:rPr lang="de-DE" sz="6600" dirty="0">
                <a:solidFill>
                  <a:schemeClr val="bg1"/>
                </a:solidFill>
              </a:rPr>
              <a:t>Vielen Dank!</a:t>
            </a:r>
          </a:p>
        </p:txBody>
      </p:sp>
    </p:spTree>
    <p:extLst>
      <p:ext uri="{BB962C8B-B14F-4D97-AF65-F5344CB8AC3E}">
        <p14:creationId xmlns:p14="http://schemas.microsoft.com/office/powerpoint/2010/main" val="3376821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</Words>
  <Application>Microsoft Office PowerPoint</Application>
  <PresentationFormat>Breitbild</PresentationFormat>
  <Paragraphs>206</Paragraphs>
  <Slides>16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3" baseType="lpstr">
      <vt:lpstr>Aptos</vt:lpstr>
      <vt:lpstr>Arial</vt:lpstr>
      <vt:lpstr>Blackadder ITC</vt:lpstr>
      <vt:lpstr>Calibri</vt:lpstr>
      <vt:lpstr>Calibri Light</vt:lpstr>
      <vt:lpstr>Wingdings</vt:lpstr>
      <vt:lpstr>Office</vt:lpstr>
      <vt:lpstr>KI-gestützte Personalisierung im Marketing</vt:lpstr>
      <vt:lpstr>PROJEKTDESIGN &amp; SETUP</vt:lpstr>
      <vt:lpstr>AUS ROHDATEN WERDEN KUNDENPROFILE</vt:lpstr>
      <vt:lpstr>DIE RICHTIGEN KUNDEN ERKENNEN</vt:lpstr>
      <vt:lpstr>DIE RICHTIGE ZIELGRUPPE ANSPRECHEN 2,4-MAL EFFEKTIVER MIT DEMSELBEN AUFWAND</vt:lpstr>
      <vt:lpstr>VON SEGMENTEN ZUR ENTSCHEIDUNG</vt:lpstr>
      <vt:lpstr>VOM PROFILING ZUR VORHERSAGE WER REAGIERT AUF DIE KAMPAGNE?</vt:lpstr>
      <vt:lpstr>DAS MODELL TRIFFT SEHR ZUVERLÄSSIG… ABER NICHT PERFEKT</vt:lpstr>
      <vt:lpstr>WELCHE FAKTOREN BEEINFLUSSEN DIE  REAKTION AM STÄRKSTEN?</vt:lpstr>
      <vt:lpstr>AUCH EMPFEHLUNGEN WERDEN RELEVANTER </vt:lpstr>
      <vt:lpstr>MEHR PERSONALISIERUNG = MEHR PERFORMANCE… ABER WAS KOSTET DAS?</vt:lpstr>
      <vt:lpstr>STUFEN DER PERSONALLSIERUNG IM MARKETING</vt:lpstr>
      <vt:lpstr>BEWERTUNG DES DATENSCHUTZRISIKOS WIE PERSONALISIERUNG DAS RISIKO BEEINFLUSST</vt:lpstr>
      <vt:lpstr>TRADE-OFF-ANALYSE: WO LIEGT DIE OPTIMALE  GRENZE DER PERSONALISIERUNG?</vt:lpstr>
      <vt:lpstr>EMPFEHLUNGEN FÜR UNTERNEHMEN CAMPAIGN OS STATT REINER PERSONALIERUNGS-ENGINE</vt:lpstr>
      <vt:lpstr>Mehr Personalisierung ist nicht immer besser.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 Gräubig</dc:creator>
  <cp:lastModifiedBy>Maximilian Gräubig</cp:lastModifiedBy>
  <cp:revision>106</cp:revision>
  <dcterms:created xsi:type="dcterms:W3CDTF">2026-04-10T09:41:46Z</dcterms:created>
  <dcterms:modified xsi:type="dcterms:W3CDTF">2026-04-28T09:01:52Z</dcterms:modified>
</cp:coreProperties>
</file>