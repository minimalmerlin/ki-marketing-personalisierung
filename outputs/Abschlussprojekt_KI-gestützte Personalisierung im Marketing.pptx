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notesSlides/notesSlide5.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9.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95" r:id="rId2"/>
    <p:sldId id="301" r:id="rId3"/>
    <p:sldId id="302" r:id="rId4"/>
    <p:sldId id="303" r:id="rId5"/>
    <p:sldId id="304" r:id="rId6"/>
    <p:sldId id="305" r:id="rId7"/>
    <p:sldId id="312" r:id="rId8"/>
    <p:sldId id="313" r:id="rId9"/>
    <p:sldId id="316" r:id="rId10"/>
    <p:sldId id="318" r:id="rId11"/>
    <p:sldId id="280" r:id="rId12"/>
    <p:sldId id="286" r:id="rId13"/>
    <p:sldId id="311" r:id="rId14"/>
    <p:sldId id="296" r:id="rId15"/>
    <p:sldId id="289" r:id="rId16"/>
    <p:sldId id="319" r:id="rId17"/>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el &amp; Intro" id="{8C1AF47E-71BC-452F-8F9F-B78CB01E9AB3}">
          <p14:sldIdLst>
            <p14:sldId id="295"/>
            <p14:sldId id="301"/>
          </p14:sldIdLst>
        </p14:section>
        <p14:section name="Segmentierung" id="{049A4FA7-97DE-4759-B29F-6B17B728837D}">
          <p14:sldIdLst>
            <p14:sldId id="302"/>
            <p14:sldId id="303"/>
            <p14:sldId id="304"/>
            <p14:sldId id="305"/>
          </p14:sldIdLst>
        </p14:section>
        <p14:section name="Modellierung" id="{3C9E105A-69B1-457A-A35E-503F6564B8CE}">
          <p14:sldIdLst>
            <p14:sldId id="312"/>
            <p14:sldId id="313"/>
            <p14:sldId id="316"/>
            <p14:sldId id="318"/>
          </p14:sldIdLst>
        </p14:section>
        <p14:section name="Datenschutz &amp; Trade-off" id="{07C58F97-EEC5-4ACD-B872-9644D3F5A26C}">
          <p14:sldIdLst>
            <p14:sldId id="280"/>
            <p14:sldId id="286"/>
            <p14:sldId id="311"/>
            <p14:sldId id="296"/>
          </p14:sldIdLst>
        </p14:section>
        <p14:section name="Fazit" id="{89576BCA-EEC4-4D61-88A3-E2F7B72B5602}">
          <p14:sldIdLst>
            <p14:sldId id="289"/>
            <p14:sldId id="319"/>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C2E1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6980" autoAdjust="0"/>
    <p:restoredTop sz="93340" autoAdjust="0"/>
  </p:normalViewPr>
  <p:slideViewPr>
    <p:cSldViewPr snapToGrid="0">
      <p:cViewPr varScale="1">
        <p:scale>
          <a:sx n="118" d="100"/>
          <a:sy n="118" d="100"/>
        </p:scale>
        <p:origin x="198" y="108"/>
      </p:cViewPr>
      <p:guideLst>
        <p:guide orient="horz" pos="2160"/>
        <p:guide pos="3840"/>
      </p:guideLst>
    </p:cSldViewPr>
  </p:slideViewPr>
  <p:notesTextViewPr>
    <p:cViewPr>
      <p:scale>
        <a:sx n="3" d="2"/>
        <a:sy n="3" d="2"/>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Tabelle1!$B$1</c:f>
              <c:strCache>
                <c:ptCount val="1"/>
                <c:pt idx="0">
                  <c:v>Datenreihe 1</c:v>
                </c:pt>
              </c:strCache>
            </c:strRef>
          </c:tx>
          <c:spPr>
            <a:solidFill>
              <a:schemeClr val="accent1"/>
            </a:solidFill>
            <a:ln>
              <a:noFill/>
            </a:ln>
            <a:effectLst/>
          </c:spPr>
          <c:invertIfNegative val="0"/>
          <c:dPt>
            <c:idx val="0"/>
            <c:invertIfNegative val="0"/>
            <c:bubble3D val="0"/>
            <c:spPr>
              <a:gradFill>
                <a:gsLst>
                  <a:gs pos="100000">
                    <a:srgbClr val="FF0000"/>
                  </a:gs>
                  <a:gs pos="0">
                    <a:schemeClr val="accent5">
                      <a:lumMod val="75000"/>
                    </a:schemeClr>
                  </a:gs>
                </a:gsLst>
                <a:lin ang="0" scaled="1"/>
              </a:gradFill>
              <a:ln>
                <a:noFill/>
              </a:ln>
              <a:effectLst/>
            </c:spPr>
            <c:extLst>
              <c:ext xmlns:c16="http://schemas.microsoft.com/office/drawing/2014/chart" uri="{C3380CC4-5D6E-409C-BE32-E72D297353CC}">
                <c16:uniqueId val="{00000003-DE00-4336-AC57-7973E1530B12}"/>
              </c:ext>
            </c:extLst>
          </c:dPt>
          <c:dPt>
            <c:idx val="1"/>
            <c:invertIfNegative val="0"/>
            <c:bubble3D val="0"/>
            <c:spPr>
              <a:gradFill>
                <a:gsLst>
                  <a:gs pos="100000">
                    <a:schemeClr val="tx2">
                      <a:lumMod val="75000"/>
                      <a:lumOff val="25000"/>
                    </a:schemeClr>
                  </a:gs>
                  <a:gs pos="0">
                    <a:schemeClr val="tx2">
                      <a:lumMod val="50000"/>
                      <a:lumOff val="50000"/>
                    </a:schemeClr>
                  </a:gs>
                </a:gsLst>
                <a:lin ang="0" scaled="1"/>
              </a:gradFill>
              <a:ln>
                <a:noFill/>
              </a:ln>
              <a:effectLst/>
            </c:spPr>
            <c:extLst>
              <c:ext xmlns:c16="http://schemas.microsoft.com/office/drawing/2014/chart" uri="{C3380CC4-5D6E-409C-BE32-E72D297353CC}">
                <c16:uniqueId val="{0000000A-DE00-4336-AC57-7973E1530B12}"/>
              </c:ext>
            </c:extLst>
          </c:dPt>
          <c:dPt>
            <c:idx val="2"/>
            <c:invertIfNegative val="0"/>
            <c:bubble3D val="0"/>
            <c:spPr>
              <a:gradFill>
                <a:gsLst>
                  <a:gs pos="100000">
                    <a:schemeClr val="tx2">
                      <a:lumMod val="75000"/>
                      <a:lumOff val="25000"/>
                    </a:schemeClr>
                  </a:gs>
                  <a:gs pos="0">
                    <a:schemeClr val="tx2">
                      <a:lumMod val="50000"/>
                      <a:lumOff val="50000"/>
                    </a:schemeClr>
                  </a:gs>
                </a:gsLst>
                <a:lin ang="0" scaled="1"/>
              </a:gradFill>
              <a:ln>
                <a:noFill/>
              </a:ln>
              <a:effectLst/>
            </c:spPr>
            <c:extLst>
              <c:ext xmlns:c16="http://schemas.microsoft.com/office/drawing/2014/chart" uri="{C3380CC4-5D6E-409C-BE32-E72D297353CC}">
                <c16:uniqueId val="{00000009-DE00-4336-AC57-7973E1530B12}"/>
              </c:ext>
            </c:extLst>
          </c:dPt>
          <c:dPt>
            <c:idx val="3"/>
            <c:invertIfNegative val="0"/>
            <c:bubble3D val="0"/>
            <c:spPr>
              <a:gradFill>
                <a:gsLst>
                  <a:gs pos="100000">
                    <a:schemeClr val="tx2">
                      <a:lumMod val="75000"/>
                      <a:lumOff val="25000"/>
                    </a:schemeClr>
                  </a:gs>
                  <a:gs pos="0">
                    <a:schemeClr val="tx2">
                      <a:lumMod val="50000"/>
                      <a:lumOff val="50000"/>
                    </a:schemeClr>
                  </a:gs>
                </a:gsLst>
                <a:lin ang="0" scaled="1"/>
              </a:gradFill>
              <a:ln>
                <a:noFill/>
              </a:ln>
              <a:effectLst/>
            </c:spPr>
            <c:extLst>
              <c:ext xmlns:c16="http://schemas.microsoft.com/office/drawing/2014/chart" uri="{C3380CC4-5D6E-409C-BE32-E72D297353CC}">
                <c16:uniqueId val="{00000008-DE00-4336-AC57-7973E1530B12}"/>
              </c:ext>
            </c:extLst>
          </c:dPt>
          <c:dPt>
            <c:idx val="4"/>
            <c:invertIfNegative val="0"/>
            <c:bubble3D val="0"/>
            <c:spPr>
              <a:gradFill>
                <a:gsLst>
                  <a:gs pos="100000">
                    <a:schemeClr val="tx2">
                      <a:lumMod val="75000"/>
                      <a:lumOff val="25000"/>
                    </a:schemeClr>
                  </a:gs>
                  <a:gs pos="0">
                    <a:schemeClr val="tx2">
                      <a:lumMod val="50000"/>
                      <a:lumOff val="50000"/>
                    </a:schemeClr>
                  </a:gs>
                </a:gsLst>
                <a:lin ang="0" scaled="1"/>
              </a:gradFill>
              <a:ln>
                <a:noFill/>
              </a:ln>
              <a:effectLst/>
            </c:spPr>
            <c:extLst>
              <c:ext xmlns:c16="http://schemas.microsoft.com/office/drawing/2014/chart" uri="{C3380CC4-5D6E-409C-BE32-E72D297353CC}">
                <c16:uniqueId val="{00000007-DE00-4336-AC57-7973E1530B12}"/>
              </c:ext>
            </c:extLst>
          </c:dPt>
          <c:dPt>
            <c:idx val="5"/>
            <c:invertIfNegative val="0"/>
            <c:bubble3D val="0"/>
            <c:spPr>
              <a:gradFill>
                <a:gsLst>
                  <a:gs pos="100000">
                    <a:srgbClr val="FF0000"/>
                  </a:gs>
                  <a:gs pos="0">
                    <a:schemeClr val="accent5">
                      <a:lumMod val="75000"/>
                    </a:schemeClr>
                  </a:gs>
                </a:gsLst>
                <a:lin ang="0" scaled="1"/>
              </a:gradFill>
              <a:ln>
                <a:noFill/>
              </a:ln>
              <a:effectLst/>
            </c:spPr>
            <c:extLst>
              <c:ext xmlns:c16="http://schemas.microsoft.com/office/drawing/2014/chart" uri="{C3380CC4-5D6E-409C-BE32-E72D297353CC}">
                <c16:uniqueId val="{00000005-DE00-4336-AC57-7973E1530B12}"/>
              </c:ext>
            </c:extLst>
          </c:dPt>
          <c:dPt>
            <c:idx val="6"/>
            <c:invertIfNegative val="0"/>
            <c:bubble3D val="0"/>
            <c:spPr>
              <a:gradFill>
                <a:gsLst>
                  <a:gs pos="100000">
                    <a:srgbClr val="FF0000"/>
                  </a:gs>
                  <a:gs pos="3000">
                    <a:schemeClr val="accent5">
                      <a:lumMod val="75000"/>
                    </a:schemeClr>
                  </a:gs>
                </a:gsLst>
                <a:lin ang="0" scaled="1"/>
              </a:gradFill>
              <a:ln>
                <a:noFill/>
              </a:ln>
              <a:effectLst/>
            </c:spPr>
            <c:extLst>
              <c:ext xmlns:c16="http://schemas.microsoft.com/office/drawing/2014/chart" uri="{C3380CC4-5D6E-409C-BE32-E72D297353CC}">
                <c16:uniqueId val="{00000004-DE00-4336-AC57-7973E1530B12}"/>
              </c:ext>
            </c:extLst>
          </c:dPt>
          <c:dPt>
            <c:idx val="7"/>
            <c:invertIfNegative val="0"/>
            <c:bubble3D val="0"/>
            <c:spPr>
              <a:gradFill>
                <a:gsLst>
                  <a:gs pos="100000">
                    <a:schemeClr val="tx2">
                      <a:lumMod val="75000"/>
                      <a:lumOff val="25000"/>
                    </a:schemeClr>
                  </a:gs>
                  <a:gs pos="0">
                    <a:schemeClr val="tx2">
                      <a:lumMod val="50000"/>
                      <a:lumOff val="50000"/>
                    </a:schemeClr>
                  </a:gs>
                </a:gsLst>
                <a:lin ang="0" scaled="1"/>
              </a:gradFill>
              <a:ln>
                <a:noFill/>
              </a:ln>
              <a:effectLst/>
            </c:spPr>
            <c:extLst>
              <c:ext xmlns:c16="http://schemas.microsoft.com/office/drawing/2014/chart" uri="{C3380CC4-5D6E-409C-BE32-E72D297353CC}">
                <c16:uniqueId val="{00000006-DE00-4336-AC57-7973E1530B12}"/>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Calibri Light" panose="020F0302020204030204" pitchFamily="34" charset="0"/>
                    <a:ea typeface="Calibri Light" panose="020F0302020204030204" pitchFamily="34" charset="0"/>
                    <a:cs typeface="Calibri Light" panose="020F0302020204030204" pitchFamily="34" charset="0"/>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Tabelle1!$A$2:$A$9</c:f>
              <c:strCache>
                <c:ptCount val="8"/>
                <c:pt idx="0">
                  <c:v>emp.var.rate</c:v>
                </c:pt>
                <c:pt idx="1">
                  <c:v>duration</c:v>
                </c:pt>
                <c:pt idx="2">
                  <c:v>month_mar</c:v>
                </c:pt>
                <c:pt idx="3">
                  <c:v>euribor3m</c:v>
                </c:pt>
                <c:pt idx="4">
                  <c:v>cons.price.idx</c:v>
                </c:pt>
                <c:pt idx="5">
                  <c:v>month_may</c:v>
                </c:pt>
                <c:pt idx="6">
                  <c:v>month_jun</c:v>
                </c:pt>
                <c:pt idx="7">
                  <c:v>month_aug</c:v>
                </c:pt>
              </c:strCache>
            </c:strRef>
          </c:cat>
          <c:val>
            <c:numRef>
              <c:f>Tabelle1!$B$2:$B$9</c:f>
              <c:numCache>
                <c:formatCode>General</c:formatCode>
                <c:ptCount val="8"/>
                <c:pt idx="0">
                  <c:v>3.29</c:v>
                </c:pt>
                <c:pt idx="1">
                  <c:v>1.81</c:v>
                </c:pt>
                <c:pt idx="2">
                  <c:v>1.78</c:v>
                </c:pt>
                <c:pt idx="3">
                  <c:v>1.35</c:v>
                </c:pt>
                <c:pt idx="4">
                  <c:v>1.18</c:v>
                </c:pt>
                <c:pt idx="5">
                  <c:v>1.01</c:v>
                </c:pt>
                <c:pt idx="6">
                  <c:v>0.95</c:v>
                </c:pt>
                <c:pt idx="7">
                  <c:v>0.87</c:v>
                </c:pt>
              </c:numCache>
            </c:numRef>
          </c:val>
          <c:extLst>
            <c:ext xmlns:c16="http://schemas.microsoft.com/office/drawing/2014/chart" uri="{C3380CC4-5D6E-409C-BE32-E72D297353CC}">
              <c16:uniqueId val="{00000000-DE00-4336-AC57-7973E1530B12}"/>
            </c:ext>
          </c:extLst>
        </c:ser>
        <c:dLbls>
          <c:showLegendKey val="0"/>
          <c:showVal val="0"/>
          <c:showCatName val="0"/>
          <c:showSerName val="0"/>
          <c:showPercent val="0"/>
          <c:showBubbleSize val="0"/>
        </c:dLbls>
        <c:gapWidth val="182"/>
        <c:axId val="1487429727"/>
        <c:axId val="1487430687"/>
      </c:barChart>
      <c:catAx>
        <c:axId val="1487429727"/>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Calibri Light" panose="020F0302020204030204" pitchFamily="34" charset="0"/>
                <a:ea typeface="Calibri Light" panose="020F0302020204030204" pitchFamily="34" charset="0"/>
                <a:cs typeface="Calibri Light" panose="020F0302020204030204" pitchFamily="34" charset="0"/>
              </a:defRPr>
            </a:pPr>
            <a:endParaRPr lang="de-DE"/>
          </a:p>
        </c:txPr>
        <c:crossAx val="1487430687"/>
        <c:crosses val="autoZero"/>
        <c:auto val="1"/>
        <c:lblAlgn val="ctr"/>
        <c:lblOffset val="100"/>
        <c:noMultiLvlLbl val="0"/>
      </c:catAx>
      <c:valAx>
        <c:axId val="1487430687"/>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Calibri Light" panose="020F0302020204030204" pitchFamily="34" charset="0"/>
                <a:ea typeface="Calibri Light" panose="020F0302020204030204" pitchFamily="34" charset="0"/>
                <a:cs typeface="Calibri Light" panose="020F0302020204030204" pitchFamily="34" charset="0"/>
              </a:defRPr>
            </a:pPr>
            <a:endParaRPr lang="de-DE"/>
          </a:p>
        </c:txPr>
        <c:crossAx val="1487429727"/>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solidFill>
              <a:latin typeface="Calibri" panose="020F0502020204030204" pitchFamily="34" charset="0"/>
              <a:ea typeface="Calibri" panose="020F0502020204030204" pitchFamily="34" charset="0"/>
              <a:cs typeface="Calibri" panose="020F0502020204030204" pitchFamily="34" charset="0"/>
            </a:defRPr>
          </a:pPr>
          <a:endParaRPr lang="de-DE"/>
        </a:p>
      </c:txPr>
    </c:title>
    <c:autoTitleDeleted val="0"/>
    <c:plotArea>
      <c:layout>
        <c:manualLayout>
          <c:layoutTarget val="inner"/>
          <c:xMode val="edge"/>
          <c:yMode val="edge"/>
          <c:x val="5.4604084645669293E-2"/>
          <c:y val="0.24415405859248659"/>
          <c:w val="0.94539591535433076"/>
          <c:h val="0.60100124638625563"/>
        </c:manualLayout>
      </c:layout>
      <c:barChart>
        <c:barDir val="col"/>
        <c:grouping val="clustered"/>
        <c:varyColors val="0"/>
        <c:ser>
          <c:idx val="0"/>
          <c:order val="0"/>
          <c:tx>
            <c:strRef>
              <c:f>Tabelle1!$B$1</c:f>
              <c:strCache>
                <c:ptCount val="1"/>
                <c:pt idx="0">
                  <c:v>Precision@5</c:v>
                </c:pt>
              </c:strCache>
            </c:strRef>
          </c:tx>
          <c:spPr>
            <a:gradFill>
              <a:gsLst>
                <a:gs pos="0">
                  <a:schemeClr val="accent1">
                    <a:lumMod val="60000"/>
                    <a:lumOff val="40000"/>
                  </a:schemeClr>
                </a:gs>
                <a:gs pos="100000">
                  <a:schemeClr val="tx2">
                    <a:lumMod val="75000"/>
                    <a:lumOff val="25000"/>
                  </a:schemeClr>
                </a:gs>
              </a:gsLst>
              <a:lin ang="0" scaled="1"/>
            </a:gradFill>
            <a:ln>
              <a:noFill/>
            </a:ln>
            <a:effectLst/>
          </c:spPr>
          <c:invertIfNegative val="0"/>
          <c:dPt>
            <c:idx val="0"/>
            <c:invertIfNegative val="0"/>
            <c:bubble3D val="0"/>
            <c:spPr>
              <a:gradFill>
                <a:gsLst>
                  <a:gs pos="0">
                    <a:schemeClr val="accent1">
                      <a:lumMod val="60000"/>
                      <a:lumOff val="40000"/>
                    </a:schemeClr>
                  </a:gs>
                  <a:gs pos="100000">
                    <a:schemeClr val="tx2">
                      <a:lumMod val="75000"/>
                      <a:lumOff val="25000"/>
                    </a:schemeClr>
                  </a:gs>
                </a:gsLst>
                <a:lin ang="0" scaled="1"/>
              </a:gradFill>
              <a:ln>
                <a:noFill/>
              </a:ln>
              <a:effectLst/>
            </c:spPr>
            <c:extLst>
              <c:ext xmlns:c16="http://schemas.microsoft.com/office/drawing/2014/chart" uri="{C3380CC4-5D6E-409C-BE32-E72D297353CC}">
                <c16:uniqueId val="{00000001-5171-4691-8B33-B0620A29079A}"/>
              </c:ext>
            </c:extLst>
          </c:dPt>
          <c:dPt>
            <c:idx val="1"/>
            <c:invertIfNegative val="0"/>
            <c:bubble3D val="0"/>
            <c:spPr>
              <a:gradFill>
                <a:gsLst>
                  <a:gs pos="0">
                    <a:schemeClr val="accent1">
                      <a:lumMod val="60000"/>
                      <a:lumOff val="40000"/>
                    </a:schemeClr>
                  </a:gs>
                  <a:gs pos="100000">
                    <a:schemeClr val="tx2">
                      <a:lumMod val="75000"/>
                      <a:lumOff val="25000"/>
                    </a:schemeClr>
                  </a:gs>
                </a:gsLst>
                <a:lin ang="0" scaled="1"/>
              </a:gradFill>
              <a:ln>
                <a:noFill/>
              </a:ln>
              <a:effectLst/>
            </c:spPr>
            <c:extLst>
              <c:ext xmlns:c16="http://schemas.microsoft.com/office/drawing/2014/chart" uri="{C3380CC4-5D6E-409C-BE32-E72D297353CC}">
                <c16:uniqueId val="{00000003-5171-4691-8B33-B0620A29079A}"/>
              </c:ext>
            </c:extLst>
          </c:dPt>
          <c:dLbls>
            <c:dLbl>
              <c:idx val="0"/>
              <c:tx>
                <c:rich>
                  <a:bodyPr/>
                  <a:lstStyle/>
                  <a:p>
                    <a:fld id="{78EAE7F9-7A36-4FCC-8CE9-762AF25CEA39}" type="VALUE">
                      <a:rPr lang="en-US" smtClean="0"/>
                      <a:pPr/>
                      <a:t>[WERT]</a:t>
                    </a:fld>
                    <a:r>
                      <a:rPr lang="en-US"/>
                      <a:t>0</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5171-4691-8B33-B0620A29079A}"/>
                </c:ext>
              </c:extLst>
            </c:dLbl>
            <c:dLbl>
              <c:idx val="1"/>
              <c:tx>
                <c:rich>
                  <a:bodyPr/>
                  <a:lstStyle/>
                  <a:p>
                    <a:fld id="{C2A1CA71-986A-4681-A362-E56A0AC732F5}" type="VALUE">
                      <a:rPr lang="en-US" smtClean="0"/>
                      <a:pPr/>
                      <a:t>[WERT]</a:t>
                    </a:fld>
                    <a:r>
                      <a:rPr lang="en-US"/>
                      <a:t>0</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5171-4691-8B33-B0620A29079A}"/>
                </c:ext>
              </c:extLst>
            </c:dLbl>
            <c:numFmt formatCode="0.000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de-D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Tabelle1!$A$2:$A$3</c:f>
              <c:strCache>
                <c:ptCount val="2"/>
                <c:pt idx="0">
                  <c:v>Baseline</c:v>
                </c:pt>
                <c:pt idx="1">
                  <c:v>Segmentierter Recommender</c:v>
                </c:pt>
              </c:strCache>
            </c:strRef>
          </c:cat>
          <c:val>
            <c:numRef>
              <c:f>Tabelle1!$B$2:$B$3</c:f>
              <c:numCache>
                <c:formatCode>General</c:formatCode>
                <c:ptCount val="2"/>
                <c:pt idx="0">
                  <c:v>7.4000000000000003E-3</c:v>
                </c:pt>
                <c:pt idx="1">
                  <c:v>0.2331</c:v>
                </c:pt>
              </c:numCache>
            </c:numRef>
          </c:val>
          <c:extLst>
            <c:ext xmlns:c16="http://schemas.microsoft.com/office/drawing/2014/chart" uri="{C3380CC4-5D6E-409C-BE32-E72D297353CC}">
              <c16:uniqueId val="{00000008-5171-4691-8B33-B0620A29079A}"/>
            </c:ext>
          </c:extLst>
        </c:ser>
        <c:dLbls>
          <c:showLegendKey val="0"/>
          <c:showVal val="0"/>
          <c:showCatName val="0"/>
          <c:showSerName val="0"/>
          <c:showPercent val="0"/>
          <c:showBubbleSize val="0"/>
        </c:dLbls>
        <c:gapWidth val="219"/>
        <c:overlap val="-27"/>
        <c:axId val="732895248"/>
        <c:axId val="732896688"/>
      </c:barChart>
      <c:catAx>
        <c:axId val="7328952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de-DE"/>
          </a:p>
        </c:txPr>
        <c:crossAx val="732896688"/>
        <c:crosses val="autoZero"/>
        <c:auto val="1"/>
        <c:lblAlgn val="ctr"/>
        <c:lblOffset val="100"/>
        <c:noMultiLvlLbl val="0"/>
      </c:catAx>
      <c:valAx>
        <c:axId val="732896688"/>
        <c:scaling>
          <c:orientation val="minMax"/>
        </c:scaling>
        <c:delete val="1"/>
        <c:axPos val="l"/>
        <c:numFmt formatCode="General" sourceLinked="1"/>
        <c:majorTickMark val="none"/>
        <c:minorTickMark val="none"/>
        <c:tickLblPos val="nextTo"/>
        <c:crossAx val="73289524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00" b="1" i="0" u="none" strike="noStrike" kern="1200" spc="0" baseline="0">
              <a:solidFill>
                <a:schemeClr val="tx1"/>
              </a:solidFill>
              <a:latin typeface="Calibri" panose="020F0502020204030204" pitchFamily="34" charset="0"/>
              <a:ea typeface="Calibri" panose="020F0502020204030204" pitchFamily="34" charset="0"/>
              <a:cs typeface="Calibri" panose="020F0502020204030204" pitchFamily="34" charset="0"/>
            </a:defRPr>
          </a:pPr>
          <a:endParaRPr lang="de-DE"/>
        </a:p>
      </c:txPr>
    </c:title>
    <c:autoTitleDeleted val="0"/>
    <c:plotArea>
      <c:layout>
        <c:manualLayout>
          <c:layoutTarget val="inner"/>
          <c:xMode val="edge"/>
          <c:yMode val="edge"/>
          <c:x val="5.4604084645669293E-2"/>
          <c:y val="0.22351775524865594"/>
          <c:w val="0.94539591535433076"/>
          <c:h val="0.62163750686400265"/>
        </c:manualLayout>
      </c:layout>
      <c:barChart>
        <c:barDir val="col"/>
        <c:grouping val="clustered"/>
        <c:varyColors val="0"/>
        <c:ser>
          <c:idx val="0"/>
          <c:order val="0"/>
          <c:tx>
            <c:strRef>
              <c:f>Tabelle1!$B$1</c:f>
              <c:strCache>
                <c:ptCount val="1"/>
                <c:pt idx="0">
                  <c:v>Datenschutzrisiko nach Personalisierungsstufe</c:v>
                </c:pt>
              </c:strCache>
            </c:strRef>
          </c:tx>
          <c:spPr>
            <a:solidFill>
              <a:schemeClr val="accent1"/>
            </a:solidFill>
            <a:ln>
              <a:noFill/>
            </a:ln>
            <a:effectLst/>
          </c:spPr>
          <c:invertIfNegative val="0"/>
          <c:dPt>
            <c:idx val="0"/>
            <c:invertIfNegative val="0"/>
            <c:bubble3D val="0"/>
            <c:spPr>
              <a:solidFill>
                <a:schemeClr val="tx2">
                  <a:lumMod val="50000"/>
                  <a:lumOff val="50000"/>
                </a:schemeClr>
              </a:solidFill>
              <a:ln>
                <a:noFill/>
              </a:ln>
              <a:effectLst/>
            </c:spPr>
            <c:extLst>
              <c:ext xmlns:c16="http://schemas.microsoft.com/office/drawing/2014/chart" uri="{C3380CC4-5D6E-409C-BE32-E72D297353CC}">
                <c16:uniqueId val="{00000003-A05B-431A-82CD-F783BD18FB04}"/>
              </c:ext>
            </c:extLst>
          </c:dPt>
          <c:dPt>
            <c:idx val="1"/>
            <c:invertIfNegative val="0"/>
            <c:bubble3D val="0"/>
            <c:spPr>
              <a:solidFill>
                <a:schemeClr val="tx2">
                  <a:lumMod val="75000"/>
                  <a:lumOff val="25000"/>
                </a:schemeClr>
              </a:solidFill>
              <a:ln>
                <a:noFill/>
              </a:ln>
              <a:effectLst/>
            </c:spPr>
            <c:extLst>
              <c:ext xmlns:c16="http://schemas.microsoft.com/office/drawing/2014/chart" uri="{C3380CC4-5D6E-409C-BE32-E72D297353CC}">
                <c16:uniqueId val="{00000004-A05B-431A-82CD-F783BD18FB04}"/>
              </c:ext>
            </c:extLst>
          </c:dPt>
          <c:dPt>
            <c:idx val="2"/>
            <c:invertIfNegative val="0"/>
            <c:bubble3D val="0"/>
            <c:spPr>
              <a:solidFill>
                <a:schemeClr val="accent5">
                  <a:lumMod val="75000"/>
                </a:schemeClr>
              </a:solidFill>
              <a:ln>
                <a:noFill/>
              </a:ln>
              <a:effectLst/>
            </c:spPr>
            <c:extLst>
              <c:ext xmlns:c16="http://schemas.microsoft.com/office/drawing/2014/chart" uri="{C3380CC4-5D6E-409C-BE32-E72D297353CC}">
                <c16:uniqueId val="{00000005-A05B-431A-82CD-F783BD18FB04}"/>
              </c:ext>
            </c:extLst>
          </c:dPt>
          <c:dPt>
            <c:idx val="3"/>
            <c:invertIfNegative val="0"/>
            <c:bubble3D val="0"/>
            <c:spPr>
              <a:solidFill>
                <a:srgbClr val="FF0000"/>
              </a:solidFill>
              <a:ln>
                <a:noFill/>
              </a:ln>
              <a:effectLst/>
            </c:spPr>
            <c:extLst>
              <c:ext xmlns:c16="http://schemas.microsoft.com/office/drawing/2014/chart" uri="{C3380CC4-5D6E-409C-BE32-E72D297353CC}">
                <c16:uniqueId val="{00000006-A05B-431A-82CD-F783BD18FB04}"/>
              </c:ext>
            </c:extLst>
          </c:dPt>
          <c:dLbls>
            <c:dLbl>
              <c:idx val="0"/>
              <c:tx>
                <c:rich>
                  <a:bodyPr/>
                  <a:lstStyle/>
                  <a:p>
                    <a:fld id="{78EAE7F9-7A36-4FCC-8CE9-762AF25CEA39}" type="VALUE">
                      <a:rPr lang="en-US" smtClean="0"/>
                      <a:pPr/>
                      <a:t>[WERT]</a:t>
                    </a:fld>
                    <a:r>
                      <a:rPr lang="en-US"/>
                      <a:t>0</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A05B-431A-82CD-F783BD18FB04}"/>
                </c:ext>
              </c:extLst>
            </c:dLbl>
            <c:dLbl>
              <c:idx val="1"/>
              <c:tx>
                <c:rich>
                  <a:bodyPr/>
                  <a:lstStyle/>
                  <a:p>
                    <a:fld id="{C2A1CA71-986A-4681-A362-E56A0AC732F5}" type="VALUE">
                      <a:rPr lang="en-US" smtClean="0"/>
                      <a:pPr/>
                      <a:t>[WERT]</a:t>
                    </a:fld>
                    <a:r>
                      <a:rPr lang="en-US"/>
                      <a:t>0</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4-A05B-431A-82CD-F783BD18FB04}"/>
                </c:ext>
              </c:extLst>
            </c:dLbl>
            <c:dLbl>
              <c:idx val="3"/>
              <c:tx>
                <c:rich>
                  <a:bodyPr/>
                  <a:lstStyle/>
                  <a:p>
                    <a:fld id="{5BD99026-7CDE-476A-876E-C65D61781076}" type="VALUE">
                      <a:rPr lang="en-US" smtClean="0"/>
                      <a:pPr/>
                      <a:t>[WERT]</a:t>
                    </a:fld>
                    <a:r>
                      <a:rPr lang="en-US"/>
                      <a:t>0</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6-A05B-431A-82CD-F783BD18FB04}"/>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de-D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Generisch</c:v>
                </c:pt>
                <c:pt idx="1">
                  <c:v>Segment</c:v>
                </c:pt>
                <c:pt idx="2">
                  <c:v>Recommender</c:v>
                </c:pt>
                <c:pt idx="3">
                  <c:v>Modell</c:v>
                </c:pt>
              </c:strCache>
            </c:strRef>
          </c:cat>
          <c:val>
            <c:numRef>
              <c:f>Tabelle1!$B$2:$B$5</c:f>
              <c:numCache>
                <c:formatCode>General</c:formatCode>
                <c:ptCount val="4"/>
                <c:pt idx="0">
                  <c:v>0.2</c:v>
                </c:pt>
                <c:pt idx="1">
                  <c:v>0.6</c:v>
                </c:pt>
                <c:pt idx="2">
                  <c:v>0.67</c:v>
                </c:pt>
                <c:pt idx="3">
                  <c:v>0.9</c:v>
                </c:pt>
              </c:numCache>
            </c:numRef>
          </c:val>
          <c:extLst>
            <c:ext xmlns:c16="http://schemas.microsoft.com/office/drawing/2014/chart" uri="{C3380CC4-5D6E-409C-BE32-E72D297353CC}">
              <c16:uniqueId val="{00000000-A05B-431A-82CD-F783BD18FB04}"/>
            </c:ext>
          </c:extLst>
        </c:ser>
        <c:dLbls>
          <c:showLegendKey val="0"/>
          <c:showVal val="0"/>
          <c:showCatName val="0"/>
          <c:showSerName val="0"/>
          <c:showPercent val="0"/>
          <c:showBubbleSize val="0"/>
        </c:dLbls>
        <c:gapWidth val="219"/>
        <c:overlap val="-27"/>
        <c:axId val="732895248"/>
        <c:axId val="732896688"/>
      </c:barChart>
      <c:catAx>
        <c:axId val="7328952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de-DE"/>
          </a:p>
        </c:txPr>
        <c:crossAx val="732896688"/>
        <c:crosses val="autoZero"/>
        <c:auto val="1"/>
        <c:lblAlgn val="ctr"/>
        <c:lblOffset val="100"/>
        <c:noMultiLvlLbl val="0"/>
      </c:catAx>
      <c:valAx>
        <c:axId val="732896688"/>
        <c:scaling>
          <c:orientation val="minMax"/>
        </c:scaling>
        <c:delete val="1"/>
        <c:axPos val="l"/>
        <c:numFmt formatCode="General" sourceLinked="1"/>
        <c:majorTickMark val="none"/>
        <c:minorTickMark val="none"/>
        <c:tickLblPos val="nextTo"/>
        <c:crossAx val="73289524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Tabelle1!$B$1</c:f>
              <c:strCache>
                <c:ptCount val="1"/>
                <c:pt idx="0">
                  <c:v>Performance</c:v>
                </c:pt>
              </c:strCache>
            </c:strRef>
          </c:tx>
          <c:spPr>
            <a:ln w="38100" cap="rnd">
              <a:noFill/>
              <a:round/>
            </a:ln>
            <a:effectLst/>
          </c:spPr>
          <c:marker>
            <c:symbol val="circle"/>
            <c:size val="14"/>
            <c:spPr>
              <a:solidFill>
                <a:schemeClr val="tx2">
                  <a:lumMod val="50000"/>
                  <a:lumOff val="50000"/>
                </a:schemeClr>
              </a:solidFill>
              <a:ln w="25400">
                <a:noFill/>
              </a:ln>
              <a:effectLst/>
            </c:spPr>
          </c:marker>
          <c:dPt>
            <c:idx val="1"/>
            <c:marker>
              <c:symbol val="circle"/>
              <c:size val="14"/>
              <c:spPr>
                <a:solidFill>
                  <a:schemeClr val="tx2">
                    <a:lumMod val="75000"/>
                    <a:lumOff val="25000"/>
                  </a:schemeClr>
                </a:solidFill>
                <a:ln w="25400">
                  <a:noFill/>
                </a:ln>
                <a:effectLst/>
              </c:spPr>
            </c:marker>
            <c:bubble3D val="0"/>
            <c:extLst>
              <c:ext xmlns:c16="http://schemas.microsoft.com/office/drawing/2014/chart" uri="{C3380CC4-5D6E-409C-BE32-E72D297353CC}">
                <c16:uniqueId val="{00000001-86E7-4E16-8012-51E75CE38C55}"/>
              </c:ext>
            </c:extLst>
          </c:dPt>
          <c:dPt>
            <c:idx val="2"/>
            <c:marker>
              <c:symbol val="circle"/>
              <c:size val="14"/>
              <c:spPr>
                <a:solidFill>
                  <a:schemeClr val="accent5">
                    <a:lumMod val="75000"/>
                  </a:schemeClr>
                </a:solidFill>
                <a:ln w="25400">
                  <a:noFill/>
                </a:ln>
                <a:effectLst/>
              </c:spPr>
            </c:marker>
            <c:bubble3D val="0"/>
            <c:extLst>
              <c:ext xmlns:c16="http://schemas.microsoft.com/office/drawing/2014/chart" uri="{C3380CC4-5D6E-409C-BE32-E72D297353CC}">
                <c16:uniqueId val="{00000002-86E7-4E16-8012-51E75CE38C55}"/>
              </c:ext>
            </c:extLst>
          </c:dPt>
          <c:dPt>
            <c:idx val="3"/>
            <c:marker>
              <c:symbol val="circle"/>
              <c:size val="14"/>
              <c:spPr>
                <a:solidFill>
                  <a:srgbClr val="FF0000"/>
                </a:solidFill>
                <a:ln w="25400">
                  <a:noFill/>
                </a:ln>
                <a:effectLst/>
              </c:spPr>
            </c:marker>
            <c:bubble3D val="0"/>
            <c:extLst>
              <c:ext xmlns:c16="http://schemas.microsoft.com/office/drawing/2014/chart" uri="{C3380CC4-5D6E-409C-BE32-E72D297353CC}">
                <c16:uniqueId val="{00000003-86E7-4E16-8012-51E75CE38C55}"/>
              </c:ext>
            </c:extLst>
          </c:dPt>
          <c:xVal>
            <c:numRef>
              <c:f>Tabelle1!$A$2:$A$5</c:f>
              <c:numCache>
                <c:formatCode>General</c:formatCode>
                <c:ptCount val="4"/>
                <c:pt idx="0">
                  <c:v>0.2</c:v>
                </c:pt>
                <c:pt idx="1">
                  <c:v>0.6</c:v>
                </c:pt>
                <c:pt idx="2">
                  <c:v>0.67</c:v>
                </c:pt>
                <c:pt idx="3">
                  <c:v>0.9</c:v>
                </c:pt>
              </c:numCache>
            </c:numRef>
          </c:xVal>
          <c:yVal>
            <c:numRef>
              <c:f>Tabelle1!$B$2:$B$5</c:f>
              <c:numCache>
                <c:formatCode>General</c:formatCode>
                <c:ptCount val="4"/>
                <c:pt idx="0">
                  <c:v>11.7</c:v>
                </c:pt>
                <c:pt idx="1">
                  <c:v>26</c:v>
                </c:pt>
                <c:pt idx="2">
                  <c:v>23</c:v>
                </c:pt>
                <c:pt idx="3">
                  <c:v>94</c:v>
                </c:pt>
              </c:numCache>
            </c:numRef>
          </c:yVal>
          <c:smooth val="0"/>
          <c:extLst>
            <c:ext xmlns:c16="http://schemas.microsoft.com/office/drawing/2014/chart" uri="{C3380CC4-5D6E-409C-BE32-E72D297353CC}">
              <c16:uniqueId val="{00000000-86E7-4E16-8012-51E75CE38C55}"/>
            </c:ext>
          </c:extLst>
        </c:ser>
        <c:dLbls>
          <c:showLegendKey val="0"/>
          <c:showVal val="0"/>
          <c:showCatName val="0"/>
          <c:showSerName val="0"/>
          <c:showPercent val="0"/>
          <c:showBubbleSize val="0"/>
        </c:dLbls>
        <c:axId val="572981439"/>
        <c:axId val="572983359"/>
      </c:scatterChart>
      <c:valAx>
        <c:axId val="572981439"/>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330" b="0" i="0" u="none" strike="noStrike" kern="1200" baseline="0">
                    <a:solidFill>
                      <a:schemeClr val="tx1">
                        <a:lumMod val="65000"/>
                        <a:lumOff val="35000"/>
                      </a:schemeClr>
                    </a:solidFill>
                    <a:latin typeface="Calibri Light" panose="020F0302020204030204" pitchFamily="34" charset="0"/>
                    <a:ea typeface="Calibri Light" panose="020F0302020204030204" pitchFamily="34" charset="0"/>
                    <a:cs typeface="Calibri Light" panose="020F0302020204030204" pitchFamily="34" charset="0"/>
                  </a:defRPr>
                </a:pPr>
                <a:r>
                  <a:rPr lang="de-DE" dirty="0">
                    <a:latin typeface="Calibri Light" panose="020F0302020204030204" pitchFamily="34" charset="0"/>
                    <a:ea typeface="Calibri Light" panose="020F0302020204030204" pitchFamily="34" charset="0"/>
                    <a:cs typeface="Calibri Light" panose="020F0302020204030204" pitchFamily="34" charset="0"/>
                  </a:rPr>
                  <a:t>Datenschutzrisiko (Risk Score)</a:t>
                </a:r>
              </a:p>
            </c:rich>
          </c:tx>
          <c:overlay val="0"/>
          <c:spPr>
            <a:noFill/>
            <a:ln>
              <a:noFill/>
            </a:ln>
            <a:effectLst/>
          </c:spPr>
          <c:txPr>
            <a:bodyPr rot="0" spcFirstLastPara="1" vertOverflow="ellipsis" vert="horz" wrap="square" anchor="ctr" anchorCtr="1"/>
            <a:lstStyle/>
            <a:p>
              <a:pPr>
                <a:defRPr sz="1330" b="0" i="0" u="none" strike="noStrike" kern="1200" baseline="0">
                  <a:solidFill>
                    <a:schemeClr val="tx1">
                      <a:lumMod val="65000"/>
                      <a:lumOff val="35000"/>
                    </a:schemeClr>
                  </a:solidFill>
                  <a:latin typeface="Calibri Light" panose="020F0302020204030204" pitchFamily="34" charset="0"/>
                  <a:ea typeface="Calibri Light" panose="020F0302020204030204" pitchFamily="34" charset="0"/>
                  <a:cs typeface="Calibri Light" panose="020F0302020204030204" pitchFamily="34" charset="0"/>
                </a:defRPr>
              </a:pPr>
              <a:endParaRPr lang="de-DE"/>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de-DE"/>
          </a:p>
        </c:txPr>
        <c:crossAx val="572983359"/>
        <c:crosses val="autoZero"/>
        <c:crossBetween val="midCat"/>
      </c:valAx>
      <c:valAx>
        <c:axId val="572983359"/>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sz="1330" b="0" i="0" u="none" strike="noStrike" kern="1200" baseline="0">
                    <a:solidFill>
                      <a:prstClr val="black">
                        <a:lumMod val="65000"/>
                        <a:lumOff val="35000"/>
                      </a:prstClr>
                    </a:solidFill>
                    <a:latin typeface="Calibri Light" panose="020F0302020204030204" pitchFamily="34" charset="0"/>
                    <a:ea typeface="Calibri Light" panose="020F0302020204030204" pitchFamily="34" charset="0"/>
                    <a:cs typeface="Calibri Light" panose="020F0302020204030204" pitchFamily="34" charset="0"/>
                  </a:defRPr>
                </a:pPr>
                <a:r>
                  <a:rPr lang="en-US" sz="1400" b="0" i="0" u="none" strike="noStrike" kern="1200" spc="0" baseline="0" dirty="0">
                    <a:solidFill>
                      <a:prstClr val="black">
                        <a:lumMod val="65000"/>
                        <a:lumOff val="35000"/>
                      </a:prstClr>
                    </a:solidFill>
                    <a:latin typeface="Calibri Light" panose="020F0302020204030204" pitchFamily="34" charset="0"/>
                    <a:ea typeface="Calibri Light" panose="020F0302020204030204" pitchFamily="34" charset="0"/>
                    <a:cs typeface="Calibri Light" panose="020F0302020204030204" pitchFamily="34" charset="0"/>
                  </a:rPr>
                  <a:t>Performance</a:t>
                </a:r>
                <a:r>
                  <a:rPr lang="de-DE" sz="1330" b="0" i="0" u="none" strike="noStrike" kern="1200" spc="0" baseline="0" dirty="0">
                    <a:solidFill>
                      <a:prstClr val="black">
                        <a:lumMod val="65000"/>
                        <a:lumOff val="35000"/>
                      </a:prstClr>
                    </a:solidFill>
                    <a:latin typeface="Calibri Light" panose="020F0302020204030204" pitchFamily="34" charset="0"/>
                    <a:ea typeface="Calibri Light" panose="020F0302020204030204" pitchFamily="34" charset="0"/>
                    <a:cs typeface="Calibri Light" panose="020F0302020204030204" pitchFamily="34" charset="0"/>
                  </a:rPr>
                  <a:t> (%)</a:t>
                </a:r>
                <a:endParaRPr lang="en-US" sz="1400" b="0" i="0" u="none" strike="noStrike" kern="1200" spc="0" baseline="0" dirty="0">
                  <a:solidFill>
                    <a:prstClr val="black">
                      <a:lumMod val="65000"/>
                      <a:lumOff val="35000"/>
                    </a:prstClr>
                  </a:solidFill>
                  <a:latin typeface="Calibri Light" panose="020F0302020204030204" pitchFamily="34" charset="0"/>
                  <a:ea typeface="Calibri Light" panose="020F0302020204030204" pitchFamily="34" charset="0"/>
                  <a:cs typeface="Calibri Light" panose="020F0302020204030204" pitchFamily="34" charset="0"/>
                </a:endParaRPr>
              </a:p>
            </c:rich>
          </c:tx>
          <c:overlay val="0"/>
          <c:spPr>
            <a:noFill/>
            <a:ln>
              <a:noFill/>
            </a:ln>
            <a:effectLst/>
          </c:spPr>
          <c:txPr>
            <a:bodyPr rot="-540000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sz="1330" b="0" i="0" u="none" strike="noStrike" kern="1200" baseline="0">
                  <a:solidFill>
                    <a:prstClr val="black">
                      <a:lumMod val="65000"/>
                      <a:lumOff val="35000"/>
                    </a:prstClr>
                  </a:solidFill>
                  <a:latin typeface="Calibri Light" panose="020F0302020204030204" pitchFamily="34" charset="0"/>
                  <a:ea typeface="Calibri Light" panose="020F0302020204030204" pitchFamily="34" charset="0"/>
                  <a:cs typeface="Calibri Light" panose="020F0302020204030204" pitchFamily="34" charset="0"/>
                </a:defRPr>
              </a:pPr>
              <a:endParaRPr lang="de-DE"/>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de-DE"/>
          </a:p>
        </c:txPr>
        <c:crossAx val="572981439"/>
        <c:crosses val="autoZero"/>
        <c:crossBetween val="midCat"/>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0.37955</cdr:x>
      <cdr:y>0.27414</cdr:y>
    </cdr:from>
    <cdr:to>
      <cdr:x>0.47547</cdr:x>
      <cdr:y>0.33426</cdr:y>
    </cdr:to>
    <cdr:sp macro="" textlink="">
      <cdr:nvSpPr>
        <cdr:cNvPr id="3" name="Textfeld 6">
          <a:extLst xmlns:a="http://schemas.openxmlformats.org/drawingml/2006/main">
            <a:ext uri="{FF2B5EF4-FFF2-40B4-BE49-F238E27FC236}">
              <a16:creationId xmlns:a16="http://schemas.microsoft.com/office/drawing/2014/main" id="{7ACD08CF-C75E-AC46-57EA-D22547DD0EAD}"/>
            </a:ext>
          </a:extLst>
        </cdr:cNvPr>
        <cdr:cNvSpPr txBox="1"/>
      </cdr:nvSpPr>
      <cdr:spPr>
        <a:xfrm xmlns:a="http://schemas.openxmlformats.org/drawingml/2006/main">
          <a:off x="3991205" y="1192886"/>
          <a:ext cx="1008668"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xmlns:a="http://schemas.openxmlformats.org/drawingml/2006/main">
          <a:r>
            <a:rPr lang="de-DE" sz="1100" dirty="0">
              <a:latin typeface="Calibri Light" panose="020F0302020204030204" pitchFamily="34" charset="0"/>
              <a:ea typeface="Calibri Light" panose="020F0302020204030204" pitchFamily="34" charset="0"/>
              <a:cs typeface="Calibri Light" panose="020F0302020204030204" pitchFamily="34" charset="0"/>
            </a:rPr>
            <a:t>(negativ)</a:t>
          </a:r>
        </a:p>
      </cdr:txBody>
    </cdr:sp>
  </cdr:relSizeAnchor>
  <cdr:relSizeAnchor xmlns:cdr="http://schemas.openxmlformats.org/drawingml/2006/chartDrawing">
    <cdr:from>
      <cdr:x>0.57545</cdr:x>
      <cdr:y>0.60503</cdr:y>
    </cdr:from>
    <cdr:to>
      <cdr:x>0.67137</cdr:x>
      <cdr:y>0.66515</cdr:y>
    </cdr:to>
    <cdr:sp macro="" textlink="">
      <cdr:nvSpPr>
        <cdr:cNvPr id="5" name="Textfeld 6">
          <a:extLst xmlns:a="http://schemas.openxmlformats.org/drawingml/2006/main">
            <a:ext uri="{FF2B5EF4-FFF2-40B4-BE49-F238E27FC236}">
              <a16:creationId xmlns:a16="http://schemas.microsoft.com/office/drawing/2014/main" id="{7ACD08CF-C75E-AC46-57EA-D22547DD0EAD}"/>
            </a:ext>
          </a:extLst>
        </cdr:cNvPr>
        <cdr:cNvSpPr txBox="1"/>
      </cdr:nvSpPr>
      <cdr:spPr>
        <a:xfrm xmlns:a="http://schemas.openxmlformats.org/drawingml/2006/main">
          <a:off x="6051223" y="2632696"/>
          <a:ext cx="1008668"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xmlns:a="http://schemas.openxmlformats.org/drawingml/2006/main">
          <a:r>
            <a:rPr lang="de-DE" sz="1100" dirty="0">
              <a:latin typeface="Calibri Light" panose="020F0302020204030204" pitchFamily="34" charset="0"/>
              <a:ea typeface="Calibri Light" panose="020F0302020204030204" pitchFamily="34" charset="0"/>
              <a:cs typeface="Calibri Light" panose="020F0302020204030204" pitchFamily="34" charset="0"/>
            </a:rPr>
            <a:t>(positiv)</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1A480D-0252-4522-B0EF-2B597A2252A5}" type="datetimeFigureOut">
              <a:rPr lang="de-DE" smtClean="0"/>
              <a:t>21.04.2026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8A6D911-81B8-41B3-9BA6-32D4E1373D9C}" type="slidenum">
              <a:rPr lang="de-DE" smtClean="0"/>
              <a:t>‹Nr.›</a:t>
            </a:fld>
            <a:endParaRPr lang="de-DE"/>
          </a:p>
        </p:txBody>
      </p:sp>
    </p:spTree>
    <p:extLst>
      <p:ext uri="{BB962C8B-B14F-4D97-AF65-F5344CB8AC3E}">
        <p14:creationId xmlns:p14="http://schemas.microsoft.com/office/powerpoint/2010/main" val="34674829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a:lnSpc>
                <a:spcPct val="115000"/>
              </a:lnSpc>
              <a:spcAft>
                <a:spcPts val="800"/>
              </a:spcAft>
            </a:pPr>
            <a:r>
              <a:rPr lang="de-DE" sz="1800" b="1" kern="100" dirty="0">
                <a:effectLst/>
                <a:latin typeface="Aptos" panose="020B0004020202020204" pitchFamily="34" charset="0"/>
                <a:ea typeface="Aptos" panose="020B0004020202020204" pitchFamily="34" charset="0"/>
                <a:cs typeface="Times New Roman" panose="02020603050405020304" pitchFamily="18" charset="0"/>
              </a:rPr>
              <a:t>Titel:</a:t>
            </a:r>
            <a:r>
              <a:rPr lang="de-DE" sz="1800" kern="100" dirty="0">
                <a:effectLst/>
                <a:latin typeface="Aptos" panose="020B0004020202020204" pitchFamily="34" charset="0"/>
                <a:ea typeface="Aptos" panose="020B0004020202020204" pitchFamily="34" charset="0"/>
                <a:cs typeface="Times New Roman" panose="02020603050405020304" pitchFamily="18" charset="0"/>
              </a:rPr>
              <a:t> Projektdesign &amp; Setup: Struktur vor Modell</a:t>
            </a:r>
          </a:p>
          <a:p>
            <a:pPr>
              <a:lnSpc>
                <a:spcPct val="115000"/>
              </a:lnSpc>
              <a:spcAft>
                <a:spcPts val="800"/>
              </a:spcAft>
            </a:pPr>
            <a:r>
              <a:rPr lang="de-DE" sz="1800" b="1" kern="100" dirty="0">
                <a:effectLst/>
                <a:latin typeface="Aptos" panose="020B0004020202020204" pitchFamily="34" charset="0"/>
                <a:ea typeface="Aptos" panose="020B0004020202020204" pitchFamily="34" charset="0"/>
                <a:cs typeface="Times New Roman" panose="02020603050405020304" pitchFamily="18" charset="0"/>
              </a:rPr>
              <a:t>APs &amp; Aufgaben clustern:</a:t>
            </a:r>
            <a:r>
              <a:rPr lang="de-DE" sz="1800" kern="100" dirty="0">
                <a:effectLst/>
                <a:latin typeface="Aptos" panose="020B0004020202020204" pitchFamily="34" charset="0"/>
                <a:ea typeface="Aptos" panose="020B0004020202020204" pitchFamily="34" charset="0"/>
                <a:cs typeface="Times New Roman" panose="02020603050405020304" pitchFamily="18" charset="0"/>
              </a:rPr>
              <a:t> Arbeitspakete + klare Verantwortlichkeiten definiert</a:t>
            </a:r>
          </a:p>
          <a:p>
            <a:pPr>
              <a:lnSpc>
                <a:spcPct val="115000"/>
              </a:lnSpc>
              <a:spcAft>
                <a:spcPts val="800"/>
              </a:spcAft>
            </a:pPr>
            <a:r>
              <a:rPr lang="de-DE" sz="1800" b="1" kern="100" dirty="0">
                <a:effectLst/>
                <a:latin typeface="Aptos" panose="020B0004020202020204" pitchFamily="34" charset="0"/>
                <a:ea typeface="Aptos" panose="020B0004020202020204" pitchFamily="34" charset="0"/>
                <a:cs typeface="Times New Roman" panose="02020603050405020304" pitchFamily="18" charset="0"/>
              </a:rPr>
              <a:t>Projektmanagement in Notion:</a:t>
            </a:r>
            <a:r>
              <a:rPr lang="de-DE" sz="1800" kern="100" dirty="0">
                <a:effectLst/>
                <a:latin typeface="Aptos" panose="020B0004020202020204" pitchFamily="34" charset="0"/>
                <a:ea typeface="Aptos" panose="020B0004020202020204" pitchFamily="34" charset="0"/>
                <a:cs typeface="Times New Roman" panose="02020603050405020304" pitchFamily="18" charset="0"/>
              </a:rPr>
              <a:t> Aufgaben-DB + Statuspflege + regelmäßige </a:t>
            </a:r>
            <a:r>
              <a:rPr lang="de-DE" sz="1800" kern="100" dirty="0" err="1">
                <a:effectLst/>
                <a:latin typeface="Aptos" panose="020B0004020202020204" pitchFamily="34" charset="0"/>
                <a:ea typeface="Aptos" panose="020B0004020202020204" pitchFamily="34" charset="0"/>
                <a:cs typeface="Times New Roman" panose="02020603050405020304" pitchFamily="18" charset="0"/>
              </a:rPr>
              <a:t>Huddles</a:t>
            </a:r>
            <a:r>
              <a:rPr lang="de-DE" sz="1800" kern="100" dirty="0">
                <a:effectLst/>
                <a:latin typeface="Aptos" panose="020B0004020202020204" pitchFamily="34" charset="0"/>
                <a:ea typeface="Aptos" panose="020B0004020202020204" pitchFamily="34" charset="0"/>
                <a:cs typeface="Times New Roman" panose="02020603050405020304" pitchFamily="18" charset="0"/>
              </a:rPr>
              <a:t>/Updates</a:t>
            </a:r>
          </a:p>
          <a:p>
            <a:pPr>
              <a:lnSpc>
                <a:spcPct val="115000"/>
              </a:lnSpc>
              <a:spcAft>
                <a:spcPts val="800"/>
              </a:spcAft>
            </a:pPr>
            <a:r>
              <a:rPr lang="de-DE" sz="1800" b="1" kern="100" dirty="0">
                <a:effectLst/>
                <a:latin typeface="Aptos" panose="020B0004020202020204" pitchFamily="34" charset="0"/>
                <a:ea typeface="Aptos" panose="020B0004020202020204" pitchFamily="34" charset="0"/>
                <a:cs typeface="Times New Roman" panose="02020603050405020304" pitchFamily="18" charset="0"/>
              </a:rPr>
              <a:t>Gemeinsames Arbeiten über GitHub:</a:t>
            </a:r>
            <a:r>
              <a:rPr lang="de-DE" sz="1800" kern="100" dirty="0">
                <a:effectLst/>
                <a:latin typeface="Aptos" panose="020B0004020202020204" pitchFamily="34" charset="0"/>
                <a:ea typeface="Aptos" panose="020B0004020202020204" pitchFamily="34" charset="0"/>
                <a:cs typeface="Times New Roman" panose="02020603050405020304" pitchFamily="18" charset="0"/>
              </a:rPr>
              <a:t> Repo-Struktur, Versionierung, “</a:t>
            </a:r>
            <a:r>
              <a:rPr lang="de-DE" sz="1800" kern="100" dirty="0" err="1">
                <a:effectLst/>
                <a:latin typeface="Aptos" panose="020B0004020202020204" pitchFamily="34" charset="0"/>
                <a:ea typeface="Aptos" panose="020B0004020202020204" pitchFamily="34" charset="0"/>
                <a:cs typeface="Times New Roman" panose="02020603050405020304" pitchFamily="18" charset="0"/>
              </a:rPr>
              <a:t>single</a:t>
            </a:r>
            <a:r>
              <a:rPr lang="de-DE" sz="1800" kern="100" dirty="0">
                <a:effectLst/>
                <a:latin typeface="Aptos" panose="020B0004020202020204" pitchFamily="34" charset="0"/>
                <a:ea typeface="Aptos" panose="020B0004020202020204" pitchFamily="34" charset="0"/>
                <a:cs typeface="Times New Roman" panose="02020603050405020304" pitchFamily="18" charset="0"/>
              </a:rPr>
              <a:t> source </a:t>
            </a:r>
            <a:r>
              <a:rPr lang="de-DE" sz="1800" kern="100" dirty="0" err="1">
                <a:effectLst/>
                <a:latin typeface="Aptos" panose="020B0004020202020204" pitchFamily="34" charset="0"/>
                <a:ea typeface="Aptos" panose="020B0004020202020204" pitchFamily="34" charset="0"/>
                <a:cs typeface="Times New Roman" panose="02020603050405020304" pitchFamily="18" charset="0"/>
              </a:rPr>
              <a:t>of</a:t>
            </a:r>
            <a:r>
              <a:rPr lang="de-DE" sz="1800" kern="100" dirty="0">
                <a:effectLst/>
                <a:latin typeface="Aptos" panose="020B0004020202020204" pitchFamily="34" charset="0"/>
                <a:ea typeface="Aptos" panose="020B0004020202020204" pitchFamily="34" charset="0"/>
                <a:cs typeface="Times New Roman" panose="02020603050405020304" pitchFamily="18" charset="0"/>
              </a:rPr>
              <a:t> </a:t>
            </a:r>
            <a:r>
              <a:rPr lang="de-DE" sz="1800" kern="100" dirty="0" err="1">
                <a:effectLst/>
                <a:latin typeface="Aptos" panose="020B0004020202020204" pitchFamily="34" charset="0"/>
                <a:ea typeface="Aptos" panose="020B0004020202020204" pitchFamily="34" charset="0"/>
                <a:cs typeface="Times New Roman" panose="02020603050405020304" pitchFamily="18" charset="0"/>
              </a:rPr>
              <a:t>data</a:t>
            </a:r>
            <a:r>
              <a:rPr lang="de-DE" sz="1800" kern="100" dirty="0">
                <a:effectLst/>
                <a:latin typeface="Aptos" panose="020B0004020202020204" pitchFamily="34" charset="0"/>
                <a:ea typeface="Aptos" panose="020B0004020202020204" pitchFamily="34" charset="0"/>
                <a:cs typeface="Times New Roman" panose="02020603050405020304" pitchFamily="18" charset="0"/>
              </a:rPr>
              <a:t>”</a:t>
            </a:r>
          </a:p>
          <a:p>
            <a:pPr>
              <a:lnSpc>
                <a:spcPct val="115000"/>
              </a:lnSpc>
              <a:spcAft>
                <a:spcPts val="800"/>
              </a:spcAft>
            </a:pPr>
            <a:r>
              <a:rPr lang="de-DE" sz="1800" b="1" kern="100" dirty="0">
                <a:effectLst/>
                <a:latin typeface="Aptos" panose="020B0004020202020204" pitchFamily="34" charset="0"/>
                <a:ea typeface="Aptos" panose="020B0004020202020204" pitchFamily="34" charset="0"/>
                <a:cs typeface="Times New Roman" panose="02020603050405020304" pitchFamily="18" charset="0"/>
              </a:rPr>
              <a:t>Datenstrategie:</a:t>
            </a:r>
            <a:r>
              <a:rPr lang="de-DE" sz="1800" kern="100" dirty="0">
                <a:effectLst/>
                <a:latin typeface="Aptos" panose="020B0004020202020204" pitchFamily="34" charset="0"/>
                <a:ea typeface="Aptos" panose="020B0004020202020204" pitchFamily="34" charset="0"/>
                <a:cs typeface="Times New Roman" panose="02020603050405020304" pitchFamily="18" charset="0"/>
              </a:rPr>
              <a:t> bewusst </a:t>
            </a:r>
            <a:r>
              <a:rPr lang="de-DE" sz="1800" b="1" kern="100" dirty="0">
                <a:effectLst/>
                <a:latin typeface="Aptos" panose="020B0004020202020204" pitchFamily="34" charset="0"/>
                <a:ea typeface="Aptos" panose="020B0004020202020204" pitchFamily="34" charset="0"/>
                <a:cs typeface="Times New Roman" panose="02020603050405020304" pitchFamily="18" charset="0"/>
              </a:rPr>
              <a:t>große, aussagekräftige Datensätze</a:t>
            </a:r>
            <a:r>
              <a:rPr lang="de-DE" sz="1800" kern="100" dirty="0">
                <a:effectLst/>
                <a:latin typeface="Aptos" panose="020B0004020202020204" pitchFamily="34" charset="0"/>
                <a:ea typeface="Aptos" panose="020B0004020202020204" pitchFamily="34" charset="0"/>
                <a:cs typeface="Times New Roman" panose="02020603050405020304" pitchFamily="18" charset="0"/>
              </a:rPr>
              <a:t> gesucht</a:t>
            </a:r>
          </a:p>
          <a:p>
            <a:pPr>
              <a:lnSpc>
                <a:spcPct val="115000"/>
              </a:lnSpc>
              <a:spcAft>
                <a:spcPts val="800"/>
              </a:spcAft>
            </a:pPr>
            <a:r>
              <a:rPr lang="de-DE" sz="1800" b="1" kern="100" dirty="0">
                <a:effectLst/>
                <a:latin typeface="Aptos" panose="020B0004020202020204" pitchFamily="34" charset="0"/>
                <a:ea typeface="Aptos" panose="020B0004020202020204" pitchFamily="34" charset="0"/>
                <a:cs typeface="Times New Roman" panose="02020603050405020304" pitchFamily="18" charset="0"/>
              </a:rPr>
              <a:t>Ergebnis Datenwahl:</a:t>
            </a:r>
            <a:r>
              <a:rPr lang="de-DE" sz="1800" kern="100" dirty="0">
                <a:effectLst/>
                <a:latin typeface="Aptos" panose="020B0004020202020204" pitchFamily="34" charset="0"/>
                <a:ea typeface="Aptos" panose="020B0004020202020204" pitchFamily="34" charset="0"/>
                <a:cs typeface="Times New Roman" panose="02020603050405020304" pitchFamily="18" charset="0"/>
              </a:rPr>
              <a:t> GA4 E-Commerce + Bank Marketing Dataset</a:t>
            </a:r>
          </a:p>
          <a:p>
            <a:pPr>
              <a:lnSpc>
                <a:spcPct val="115000"/>
              </a:lnSpc>
              <a:spcAft>
                <a:spcPts val="800"/>
              </a:spcAft>
            </a:pPr>
            <a:r>
              <a:rPr lang="de-DE" sz="1800" b="1" kern="100" dirty="0">
                <a:effectLst/>
                <a:latin typeface="Aptos" panose="020B0004020202020204" pitchFamily="34" charset="0"/>
                <a:ea typeface="Aptos" panose="020B0004020202020204" pitchFamily="34" charset="0"/>
                <a:cs typeface="Times New Roman" panose="02020603050405020304" pitchFamily="18" charset="0"/>
              </a:rPr>
              <a:t>EDA:</a:t>
            </a:r>
            <a:r>
              <a:rPr lang="de-DE" sz="1800" kern="100" dirty="0">
                <a:effectLst/>
                <a:latin typeface="Aptos" panose="020B0004020202020204" pitchFamily="34" charset="0"/>
                <a:ea typeface="Aptos" panose="020B0004020202020204" pitchFamily="34" charset="0"/>
                <a:cs typeface="Times New Roman" panose="02020603050405020304" pitchFamily="18" charset="0"/>
              </a:rPr>
              <a:t> macht Hadi (führt in bereinigte/strukturierte Analyse-Daten über)</a:t>
            </a:r>
          </a:p>
        </p:txBody>
      </p:sp>
      <p:sp>
        <p:nvSpPr>
          <p:cNvPr id="4" name="Foliennummernplatzhalter 3"/>
          <p:cNvSpPr>
            <a:spLocks noGrp="1"/>
          </p:cNvSpPr>
          <p:nvPr>
            <p:ph type="sldNum" sz="quarter" idx="5"/>
          </p:nvPr>
        </p:nvSpPr>
        <p:spPr/>
        <p:txBody>
          <a:bodyPr/>
          <a:lstStyle/>
          <a:p>
            <a:fld id="{C8A6D911-81B8-41B3-9BA6-32D4E1373D9C}" type="slidenum">
              <a:rPr lang="de-DE" smtClean="0"/>
              <a:t>2</a:t>
            </a:fld>
            <a:endParaRPr lang="de-DE"/>
          </a:p>
        </p:txBody>
      </p:sp>
    </p:spTree>
    <p:extLst>
      <p:ext uri="{BB962C8B-B14F-4D97-AF65-F5344CB8AC3E}">
        <p14:creationId xmlns:p14="http://schemas.microsoft.com/office/powerpoint/2010/main" val="16577826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„Nach der Segmentierung wollten wir im nächsten Schritt nicht nur Gruppen verstehen, sondern direkt vorhersagen, welche Kunden auf eine Kampagne reagieren. Dafür haben wir ein </a:t>
            </a:r>
            <a:r>
              <a:rPr lang="de-DE" dirty="0" err="1"/>
              <a:t>Logistic</a:t>
            </a:r>
            <a:r>
              <a:rPr lang="de-DE" dirty="0"/>
              <a:t>-Regression-Modell auf dem Bank-Marketing-Datensatz trainiert. Insgesamt wurden 20 Merkmale verwendet, die mit einer sauberen Pipeline aus Skalierung und </a:t>
            </a:r>
            <a:r>
              <a:rPr lang="de-DE" dirty="0" err="1"/>
              <a:t>One</a:t>
            </a:r>
            <a:r>
              <a:rPr lang="de-DE" dirty="0"/>
              <a:t>-Hot-Encoding verarbeitet wurden.“</a:t>
            </a:r>
          </a:p>
        </p:txBody>
      </p:sp>
      <p:sp>
        <p:nvSpPr>
          <p:cNvPr id="4" name="Foliennummernplatzhalter 3"/>
          <p:cNvSpPr>
            <a:spLocks noGrp="1"/>
          </p:cNvSpPr>
          <p:nvPr>
            <p:ph type="sldNum" sz="quarter" idx="5"/>
          </p:nvPr>
        </p:nvSpPr>
        <p:spPr/>
        <p:txBody>
          <a:bodyPr/>
          <a:lstStyle/>
          <a:p>
            <a:fld id="{C8A6D911-81B8-41B3-9BA6-32D4E1373D9C}" type="slidenum">
              <a:rPr lang="de-DE" smtClean="0"/>
              <a:t>7</a:t>
            </a:fld>
            <a:endParaRPr lang="de-DE"/>
          </a:p>
        </p:txBody>
      </p:sp>
    </p:spTree>
    <p:extLst>
      <p:ext uri="{BB962C8B-B14F-4D97-AF65-F5344CB8AC3E}">
        <p14:creationId xmlns:p14="http://schemas.microsoft.com/office/powerpoint/2010/main" val="22224451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„Die wichtigste Kennzahl hier ist die AUC von 94,3 Prozent. Das zeigt, dass das Modell sehr gut zwischen reaktiven und nicht reaktiven Kunden unterscheiden kann. Gleichzeitig sehen wir an der Precision, dass nicht jede positive Vorhersage auch tatsächlich zutrifft. Das Modell ist also stark, aber nicht fehlerfrei.“</a:t>
            </a:r>
          </a:p>
        </p:txBody>
      </p:sp>
      <p:sp>
        <p:nvSpPr>
          <p:cNvPr id="4" name="Foliennummernplatzhalter 3"/>
          <p:cNvSpPr>
            <a:spLocks noGrp="1"/>
          </p:cNvSpPr>
          <p:nvPr>
            <p:ph type="sldNum" sz="quarter" idx="5"/>
          </p:nvPr>
        </p:nvSpPr>
        <p:spPr/>
        <p:txBody>
          <a:bodyPr/>
          <a:lstStyle/>
          <a:p>
            <a:fld id="{C8A6D911-81B8-41B3-9BA6-32D4E1373D9C}" type="slidenum">
              <a:rPr lang="de-DE" smtClean="0"/>
              <a:t>8</a:t>
            </a:fld>
            <a:endParaRPr lang="de-DE"/>
          </a:p>
        </p:txBody>
      </p:sp>
    </p:spTree>
    <p:extLst>
      <p:ext uri="{BB962C8B-B14F-4D97-AF65-F5344CB8AC3E}">
        <p14:creationId xmlns:p14="http://schemas.microsoft.com/office/powerpoint/2010/main" val="33243570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„Ein großer Vorteil der </a:t>
            </a:r>
            <a:r>
              <a:rPr lang="de-DE" dirty="0" err="1"/>
              <a:t>Logistic</a:t>
            </a:r>
            <a:r>
              <a:rPr lang="de-DE" dirty="0"/>
              <a:t> Regression ist ihre Interpretierbarkeit. Wir können also nachvollziehen, welche Faktoren die Wahrscheinlichkeit einer positiven Reaktion besonders stark beeinflussen. Das ist wichtig, weil wir dadurch nicht nur bessere Vorhersagen erhalten, sondern auch verstehen, worauf die Entscheidung des Modells basiert.“</a:t>
            </a:r>
          </a:p>
        </p:txBody>
      </p:sp>
      <p:sp>
        <p:nvSpPr>
          <p:cNvPr id="4" name="Foliennummernplatzhalter 3"/>
          <p:cNvSpPr>
            <a:spLocks noGrp="1"/>
          </p:cNvSpPr>
          <p:nvPr>
            <p:ph type="sldNum" sz="quarter" idx="5"/>
          </p:nvPr>
        </p:nvSpPr>
        <p:spPr/>
        <p:txBody>
          <a:bodyPr/>
          <a:lstStyle/>
          <a:p>
            <a:fld id="{C8A6D911-81B8-41B3-9BA6-32D4E1373D9C}" type="slidenum">
              <a:rPr lang="de-DE" smtClean="0"/>
              <a:t>9</a:t>
            </a:fld>
            <a:endParaRPr lang="de-DE"/>
          </a:p>
        </p:txBody>
      </p:sp>
    </p:spTree>
    <p:extLst>
      <p:ext uri="{BB962C8B-B14F-4D97-AF65-F5344CB8AC3E}">
        <p14:creationId xmlns:p14="http://schemas.microsoft.com/office/powerpoint/2010/main" val="16962775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„Für H2 haben wir untersucht, ob Personalisierung nicht nur die </a:t>
            </a:r>
            <a:r>
              <a:rPr lang="de-DE" dirty="0" err="1"/>
              <a:t>Conversion</a:t>
            </a:r>
            <a:r>
              <a:rPr lang="de-DE" dirty="0"/>
              <a:t>, sondern auch die Relevanz von Empfehlungen verbessert. Genau das sehen wir hier: Die Precision@5 steigt von 0.0074 auf 0.2331. Das bedeutet, dass segmentbasierte Empfehlungen deutlich häufiger tatsächlich relevante Produkte enthalten.“</a:t>
            </a:r>
          </a:p>
        </p:txBody>
      </p:sp>
      <p:sp>
        <p:nvSpPr>
          <p:cNvPr id="4" name="Foliennummernplatzhalter 3"/>
          <p:cNvSpPr>
            <a:spLocks noGrp="1"/>
          </p:cNvSpPr>
          <p:nvPr>
            <p:ph type="sldNum" sz="quarter" idx="5"/>
          </p:nvPr>
        </p:nvSpPr>
        <p:spPr/>
        <p:txBody>
          <a:bodyPr/>
          <a:lstStyle/>
          <a:p>
            <a:fld id="{C8A6D911-81B8-41B3-9BA6-32D4E1373D9C}" type="slidenum">
              <a:rPr lang="de-DE" smtClean="0"/>
              <a:t>10</a:t>
            </a:fld>
            <a:endParaRPr lang="de-DE"/>
          </a:p>
        </p:txBody>
      </p:sp>
    </p:spTree>
    <p:extLst>
      <p:ext uri="{BB962C8B-B14F-4D97-AF65-F5344CB8AC3E}">
        <p14:creationId xmlns:p14="http://schemas.microsoft.com/office/powerpoint/2010/main" val="6753601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„Wir haben gesehen, dass Personalisierung die Performance deutlich verbessert.</a:t>
            </a:r>
            <a:br>
              <a:rPr lang="de-DE" dirty="0"/>
            </a:br>
            <a:r>
              <a:rPr lang="de-DE" dirty="0"/>
              <a:t>Aber die zentrale Frage ist: Was kostet das aus Datenschutzsicht?</a:t>
            </a:r>
            <a:br>
              <a:rPr lang="de-DE" dirty="0"/>
            </a:br>
            <a:r>
              <a:rPr lang="de-DE" dirty="0"/>
              <a:t>Mit zunehmender Personalisierung nutzen wir mehr Daten, erstellen detailliertere Profile und treffen automatisierte Entscheidungen.</a:t>
            </a:r>
            <a:br>
              <a:rPr lang="de-DE" dirty="0"/>
            </a:br>
            <a:r>
              <a:rPr lang="de-DE" dirty="0"/>
              <a:t>Genau hier setzt die DSGVO an – insbesondere Artikel 22, der solche Entscheidungen kritisch bewertet.</a:t>
            </a:r>
            <a:br>
              <a:rPr lang="de-DE" dirty="0"/>
            </a:br>
            <a:r>
              <a:rPr lang="de-DE" dirty="0"/>
              <a:t>Die EDPB-Leitlinien definieren </a:t>
            </a:r>
            <a:r>
              <a:rPr lang="de-DE" dirty="0" err="1"/>
              <a:t>Profiling</a:t>
            </a:r>
            <a:r>
              <a:rPr lang="de-DE" dirty="0"/>
              <a:t> als die Bewertung persönlicher Eigenschaften und machen deutlich, dass das Risiko mit der Detailtiefe steigt.</a:t>
            </a:r>
            <a:br>
              <a:rPr lang="de-DE" dirty="0"/>
            </a:br>
            <a:r>
              <a:rPr lang="de-DE" dirty="0"/>
              <a:t>Zusätzlich betont die ICO-</a:t>
            </a:r>
            <a:r>
              <a:rPr lang="de-DE" dirty="0" err="1"/>
              <a:t>Guidance</a:t>
            </a:r>
            <a:r>
              <a:rPr lang="de-DE" dirty="0"/>
              <a:t> Prinzipien wie Transparenz und Fairness.</a:t>
            </a:r>
            <a:br>
              <a:rPr lang="de-DE" dirty="0"/>
            </a:br>
            <a:r>
              <a:rPr lang="de-DE" dirty="0"/>
              <a:t>Die zentrale Erkenntnis ist daher: Je individueller die Personalisierung, desto höher das Datenschutzrisiko.“</a:t>
            </a:r>
          </a:p>
        </p:txBody>
      </p:sp>
      <p:sp>
        <p:nvSpPr>
          <p:cNvPr id="4" name="Foliennummernplatzhalter 3"/>
          <p:cNvSpPr>
            <a:spLocks noGrp="1"/>
          </p:cNvSpPr>
          <p:nvPr>
            <p:ph type="sldNum" sz="quarter" idx="5"/>
          </p:nvPr>
        </p:nvSpPr>
        <p:spPr/>
        <p:txBody>
          <a:bodyPr/>
          <a:lstStyle/>
          <a:p>
            <a:fld id="{C8A6D911-81B8-41B3-9BA6-32D4E1373D9C}" type="slidenum">
              <a:rPr lang="de-DE" smtClean="0"/>
              <a:t>11</a:t>
            </a:fld>
            <a:endParaRPr lang="de-DE"/>
          </a:p>
        </p:txBody>
      </p:sp>
    </p:spTree>
    <p:extLst>
      <p:ext uri="{BB962C8B-B14F-4D97-AF65-F5344CB8AC3E}">
        <p14:creationId xmlns:p14="http://schemas.microsoft.com/office/powerpoint/2010/main" val="26145387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„Für die Analyse unterscheiden wir drei Stufen der Personalisierung.</a:t>
            </a:r>
            <a:br>
              <a:rPr lang="de-DE" dirty="0"/>
            </a:br>
            <a:r>
              <a:rPr lang="de-DE" dirty="0"/>
              <a:t>Ganz links haben wir generische Ansprache ohne individuelle Daten.</a:t>
            </a:r>
            <a:br>
              <a:rPr lang="de-DE" dirty="0"/>
            </a:br>
            <a:r>
              <a:rPr lang="de-DE" dirty="0"/>
              <a:t>In der Mitte segmentbasierte Ansätze, bei denen Nutzer in Gruppen eingeteilt werden.</a:t>
            </a:r>
            <a:br>
              <a:rPr lang="de-DE" dirty="0"/>
            </a:br>
            <a:r>
              <a:rPr lang="de-DE" dirty="0"/>
              <a:t>Und rechts individuelle Modelle, die für jede einzelne Person eine Vorhersage treffen.“</a:t>
            </a:r>
          </a:p>
        </p:txBody>
      </p:sp>
      <p:sp>
        <p:nvSpPr>
          <p:cNvPr id="4" name="Foliennummernplatzhalter 3"/>
          <p:cNvSpPr>
            <a:spLocks noGrp="1"/>
          </p:cNvSpPr>
          <p:nvPr>
            <p:ph type="sldNum" sz="quarter" idx="5"/>
          </p:nvPr>
        </p:nvSpPr>
        <p:spPr/>
        <p:txBody>
          <a:bodyPr/>
          <a:lstStyle/>
          <a:p>
            <a:fld id="{C8A6D911-81B8-41B3-9BA6-32D4E1373D9C}" type="slidenum">
              <a:rPr lang="de-DE" smtClean="0"/>
              <a:t>12</a:t>
            </a:fld>
            <a:endParaRPr lang="de-DE"/>
          </a:p>
        </p:txBody>
      </p:sp>
    </p:spTree>
    <p:extLst>
      <p:ext uri="{BB962C8B-B14F-4D97-AF65-F5344CB8AC3E}">
        <p14:creationId xmlns:p14="http://schemas.microsoft.com/office/powerpoint/2010/main" val="5775633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„Um das Datenschutzrisiko zu bewerten, haben wir einen eigenen Risk Score entwickelt.</a:t>
            </a:r>
            <a:br>
              <a:rPr lang="de-DE" dirty="0"/>
            </a:br>
            <a:r>
              <a:rPr lang="de-DE" dirty="0"/>
              <a:t>Dieser basiert auf drei Faktoren: dem Umfang der Daten, ihrer Sensitivität und dem Grad der Individualisierung.</a:t>
            </a:r>
            <a:br>
              <a:rPr lang="de-DE" dirty="0"/>
            </a:br>
            <a:r>
              <a:rPr lang="de-DE" dirty="0"/>
              <a:t>Besonders wichtig ist dabei die </a:t>
            </a:r>
            <a:r>
              <a:rPr lang="de-DE" dirty="0" err="1"/>
              <a:t>Granularity</a:t>
            </a:r>
            <a:r>
              <a:rPr lang="de-DE" dirty="0"/>
              <a:t>, also wie individuell die Ansprache ist.</a:t>
            </a:r>
            <a:br>
              <a:rPr lang="de-DE" dirty="0"/>
            </a:br>
            <a:r>
              <a:rPr lang="de-DE" dirty="0"/>
              <a:t>Wie man hier sieht, steigt das Risiko deutlich von generischen Ansätzen bis hin zu individuellen Modellen.“</a:t>
            </a:r>
          </a:p>
        </p:txBody>
      </p:sp>
      <p:sp>
        <p:nvSpPr>
          <p:cNvPr id="4" name="Foliennummernplatzhalter 3"/>
          <p:cNvSpPr>
            <a:spLocks noGrp="1"/>
          </p:cNvSpPr>
          <p:nvPr>
            <p:ph type="sldNum" sz="quarter" idx="5"/>
          </p:nvPr>
        </p:nvSpPr>
        <p:spPr/>
        <p:txBody>
          <a:bodyPr/>
          <a:lstStyle/>
          <a:p>
            <a:fld id="{C8A6D911-81B8-41B3-9BA6-32D4E1373D9C}" type="slidenum">
              <a:rPr lang="de-DE" smtClean="0"/>
              <a:t>13</a:t>
            </a:fld>
            <a:endParaRPr lang="de-DE"/>
          </a:p>
        </p:txBody>
      </p:sp>
    </p:spTree>
    <p:extLst>
      <p:ext uri="{BB962C8B-B14F-4D97-AF65-F5344CB8AC3E}">
        <p14:creationId xmlns:p14="http://schemas.microsoft.com/office/powerpoint/2010/main" val="33692774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„Wir sehen hier den Zusammenhang zwischen Personalisierung und Performance.</a:t>
            </a:r>
            <a:br>
              <a:rPr lang="de-DE" dirty="0"/>
            </a:br>
            <a:r>
              <a:rPr lang="de-DE" dirty="0"/>
              <a:t>Mit steigender Personalisierung verbessert sich die Performance deutlich.</a:t>
            </a:r>
            <a:br>
              <a:rPr lang="de-DE" dirty="0"/>
            </a:br>
            <a:r>
              <a:rPr lang="de-DE" dirty="0"/>
              <a:t>Allerdings steigt gleichzeitig das Datenschutzrisiko stark an.</a:t>
            </a:r>
            <a:br>
              <a:rPr lang="de-DE" dirty="0"/>
            </a:br>
            <a:r>
              <a:rPr lang="de-DE" dirty="0"/>
              <a:t>Ab einem Risk Score von etwa 0.7 erreichen wir einen kritischen Bereich im Sinne der DSGVO.</a:t>
            </a:r>
            <a:br>
              <a:rPr lang="de-DE" dirty="0"/>
            </a:br>
            <a:r>
              <a:rPr lang="de-DE" dirty="0"/>
              <a:t>Der optimale Punkt liegt daher im Bereich der segmentbasierten Ansätze.“</a:t>
            </a:r>
          </a:p>
        </p:txBody>
      </p:sp>
      <p:sp>
        <p:nvSpPr>
          <p:cNvPr id="4" name="Foliennummernplatzhalter 3"/>
          <p:cNvSpPr>
            <a:spLocks noGrp="1"/>
          </p:cNvSpPr>
          <p:nvPr>
            <p:ph type="sldNum" sz="quarter" idx="5"/>
          </p:nvPr>
        </p:nvSpPr>
        <p:spPr/>
        <p:txBody>
          <a:bodyPr/>
          <a:lstStyle/>
          <a:p>
            <a:fld id="{C8A6D911-81B8-41B3-9BA6-32D4E1373D9C}" type="slidenum">
              <a:rPr lang="de-DE" smtClean="0"/>
              <a:t>14</a:t>
            </a:fld>
            <a:endParaRPr lang="de-DE"/>
          </a:p>
        </p:txBody>
      </p:sp>
    </p:spTree>
    <p:extLst>
      <p:ext uri="{BB962C8B-B14F-4D97-AF65-F5344CB8AC3E}">
        <p14:creationId xmlns:p14="http://schemas.microsoft.com/office/powerpoint/2010/main" val="41291238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algn="l"/>
            <a:r>
              <a:rPr lang="de-DE" b="0" i="0" dirty="0">
                <a:effectLst/>
                <a:latin typeface="system-ui"/>
              </a:rPr>
              <a:t>Aus den Ergebnissen lassen sich mehrere konkrete Empfehlungen für Unternehmen ableiten:</a:t>
            </a:r>
          </a:p>
          <a:p>
            <a:pPr algn="l"/>
            <a:r>
              <a:rPr lang="de-DE" b="1" i="0" dirty="0">
                <a:effectLst/>
                <a:latin typeface="system-ui"/>
              </a:rPr>
              <a:t>1. Segmentbasierte Personalisierung gezielt einsetzen</a:t>
            </a:r>
            <a:br>
              <a:rPr lang="de-DE" b="0" i="0" dirty="0">
                <a:effectLst/>
                <a:latin typeface="system-ui"/>
              </a:rPr>
            </a:br>
            <a:r>
              <a:rPr lang="de-DE" b="0" i="0" dirty="0">
                <a:effectLst/>
                <a:latin typeface="system-ui"/>
              </a:rPr>
              <a:t>Segmentbasierte Ansätze bieten einen hohen Mehrwert bei vergleichsweise geringem Risiko. Sie stellen daher in vielen Fällen den optimalen Einstieg in datengetriebenes Marketing dar.</a:t>
            </a:r>
          </a:p>
          <a:p>
            <a:pPr algn="l"/>
            <a:r>
              <a:rPr lang="de-DE" b="1" i="0" dirty="0">
                <a:effectLst/>
                <a:latin typeface="system-ui"/>
              </a:rPr>
              <a:t>2. Individuelle Modelle nur unter klaren Rahmenbedingungen nutzen</a:t>
            </a:r>
            <a:br>
              <a:rPr lang="de-DE" b="0" i="0" dirty="0">
                <a:effectLst/>
                <a:latin typeface="system-ui"/>
              </a:rPr>
            </a:br>
            <a:r>
              <a:rPr lang="de-DE" b="0" i="0" dirty="0">
                <a:effectLst/>
                <a:latin typeface="system-ui"/>
              </a:rPr>
              <a:t>Individuelle Vorhersagemodelle sollten nur dann eingesetzt werden, wenn eine klare rechtliche Grundlage, transparente Kommunikation und geeignete </a:t>
            </a:r>
            <a:r>
              <a:rPr lang="de-DE" b="0" i="0" dirty="0" err="1">
                <a:effectLst/>
                <a:latin typeface="system-ui"/>
              </a:rPr>
              <a:t>Governance</a:t>
            </a:r>
            <a:r>
              <a:rPr lang="de-DE" b="0" i="0" dirty="0">
                <a:effectLst/>
                <a:latin typeface="system-ui"/>
              </a:rPr>
              <a:t>-Strukturen vorhanden sind.</a:t>
            </a:r>
          </a:p>
          <a:p>
            <a:pPr algn="l"/>
            <a:r>
              <a:rPr lang="de-DE" b="1" i="0" dirty="0">
                <a:effectLst/>
                <a:latin typeface="system-ui"/>
              </a:rPr>
              <a:t>3. Datenschutz frühzeitig integrieren (Privacy </a:t>
            </a:r>
            <a:r>
              <a:rPr lang="de-DE" b="1" i="0" dirty="0" err="1">
                <a:effectLst/>
                <a:latin typeface="system-ui"/>
              </a:rPr>
              <a:t>by</a:t>
            </a:r>
            <a:r>
              <a:rPr lang="de-DE" b="1" i="0" dirty="0">
                <a:effectLst/>
                <a:latin typeface="system-ui"/>
              </a:rPr>
              <a:t> Design)</a:t>
            </a:r>
            <a:br>
              <a:rPr lang="de-DE" b="0" i="0" dirty="0">
                <a:effectLst/>
                <a:latin typeface="system-ui"/>
              </a:rPr>
            </a:br>
            <a:r>
              <a:rPr lang="de-DE" b="0" i="0" dirty="0">
                <a:effectLst/>
                <a:latin typeface="system-ui"/>
              </a:rPr>
              <a:t>Datenschutz sollte nicht erst nachträglich berücksichtigt werden, sondern bereits bei der Entwicklung von Modellen und Kampagnen eine zentrale Rolle spielen.</a:t>
            </a:r>
          </a:p>
          <a:p>
            <a:pPr algn="l"/>
            <a:r>
              <a:rPr lang="de-DE" b="1" i="0" dirty="0">
                <a:effectLst/>
                <a:latin typeface="system-ui"/>
              </a:rPr>
              <a:t>4. Transparenz gegenüber Nutzern erhöhen</a:t>
            </a:r>
            <a:br>
              <a:rPr lang="de-DE" b="0" i="0" dirty="0">
                <a:effectLst/>
                <a:latin typeface="system-ui"/>
              </a:rPr>
            </a:br>
            <a:r>
              <a:rPr lang="de-DE" b="0" i="0" dirty="0">
                <a:effectLst/>
                <a:latin typeface="system-ui"/>
              </a:rPr>
              <a:t>Nutzer sollten nachvollziehen können, warum sie bestimmte Inhalte oder Angebote erhalten. Dies stärkt Vertrauen und reduziert regulatorische Risiken.</a:t>
            </a:r>
          </a:p>
          <a:p>
            <a:pPr algn="l"/>
            <a:r>
              <a:rPr lang="de-DE" b="1" i="0" dirty="0">
                <a:effectLst/>
                <a:latin typeface="system-ui"/>
              </a:rPr>
              <a:t>5. Datenumfang bewusst begrenzen (Datensparsamkeit)</a:t>
            </a:r>
            <a:br>
              <a:rPr lang="de-DE" b="0" i="0" dirty="0">
                <a:effectLst/>
                <a:latin typeface="system-ui"/>
              </a:rPr>
            </a:br>
            <a:r>
              <a:rPr lang="de-DE" b="0" i="0" dirty="0">
                <a:effectLst/>
                <a:latin typeface="system-ui"/>
              </a:rPr>
              <a:t>Nicht jede verfügbare Information sollte genutzt werden. Eine gezielte Auswahl relevanter Merkmale kann helfen, das Risiko zu reduzieren, ohne die Performance wesentlich zu beeinträchtigen.</a:t>
            </a:r>
          </a:p>
          <a:p>
            <a:pPr algn="l"/>
            <a:r>
              <a:rPr lang="de-DE" b="1" i="0" dirty="0">
                <a:effectLst/>
                <a:latin typeface="system-ui"/>
              </a:rPr>
              <a:t>6. Trade-off aktiv managen</a:t>
            </a:r>
            <a:br>
              <a:rPr lang="de-DE" b="0" i="0" dirty="0">
                <a:effectLst/>
                <a:latin typeface="system-ui"/>
              </a:rPr>
            </a:br>
            <a:r>
              <a:rPr lang="de-DE" b="0" i="0" dirty="0">
                <a:effectLst/>
                <a:latin typeface="system-ui"/>
              </a:rPr>
              <a:t>Unternehmen sollten Personalisierung nicht maximal, sondern optimal einsetzen. Ziel ist es, ein Gleichgewicht zwischen Nutzen und Risiko zu finden.</a:t>
            </a:r>
          </a:p>
        </p:txBody>
      </p:sp>
      <p:sp>
        <p:nvSpPr>
          <p:cNvPr id="4" name="Foliennummernplatzhalter 3"/>
          <p:cNvSpPr>
            <a:spLocks noGrp="1"/>
          </p:cNvSpPr>
          <p:nvPr>
            <p:ph type="sldNum" sz="quarter" idx="5"/>
          </p:nvPr>
        </p:nvSpPr>
        <p:spPr/>
        <p:txBody>
          <a:bodyPr/>
          <a:lstStyle/>
          <a:p>
            <a:fld id="{C8A6D911-81B8-41B3-9BA6-32D4E1373D9C}" type="slidenum">
              <a:rPr lang="de-DE" smtClean="0"/>
              <a:t>15</a:t>
            </a:fld>
            <a:endParaRPr lang="de-DE"/>
          </a:p>
        </p:txBody>
      </p:sp>
    </p:spTree>
    <p:extLst>
      <p:ext uri="{BB962C8B-B14F-4D97-AF65-F5344CB8AC3E}">
        <p14:creationId xmlns:p14="http://schemas.microsoft.com/office/powerpoint/2010/main" val="39996884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18A4F28-3056-E595-E037-68B2C7447DEB}"/>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8F931328-6117-4A72-37D5-5E101F64BF7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C77EEDCD-70F6-716A-2E31-8602A9A46DF9}"/>
              </a:ext>
            </a:extLst>
          </p:cNvPr>
          <p:cNvSpPr>
            <a:spLocks noGrp="1"/>
          </p:cNvSpPr>
          <p:nvPr>
            <p:ph type="dt" sz="half" idx="10"/>
          </p:nvPr>
        </p:nvSpPr>
        <p:spPr/>
        <p:txBody>
          <a:bodyPr/>
          <a:lstStyle/>
          <a:p>
            <a:fld id="{5B7A6D87-A654-40B7-AB74-6B9E6A20D7F1}" type="datetimeFigureOut">
              <a:rPr lang="de-DE" smtClean="0"/>
              <a:t>21.04.2026</a:t>
            </a:fld>
            <a:endParaRPr lang="de-DE"/>
          </a:p>
        </p:txBody>
      </p:sp>
      <p:sp>
        <p:nvSpPr>
          <p:cNvPr id="5" name="Fußzeilenplatzhalter 4">
            <a:extLst>
              <a:ext uri="{FF2B5EF4-FFF2-40B4-BE49-F238E27FC236}">
                <a16:creationId xmlns:a16="http://schemas.microsoft.com/office/drawing/2014/main" id="{BDD9AEC1-3100-EF28-6949-94834279683A}"/>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F0CD9DE6-6F9A-47FE-00E7-F506BD4F0A81}"/>
              </a:ext>
            </a:extLst>
          </p:cNvPr>
          <p:cNvSpPr>
            <a:spLocks noGrp="1"/>
          </p:cNvSpPr>
          <p:nvPr>
            <p:ph type="sldNum" sz="quarter" idx="12"/>
          </p:nvPr>
        </p:nvSpPr>
        <p:spPr/>
        <p:txBody>
          <a:bodyPr/>
          <a:lstStyle/>
          <a:p>
            <a:fld id="{8CCFFEFF-DBBB-47E0-91BE-32C338BCD697}" type="slidenum">
              <a:rPr lang="de-DE" smtClean="0"/>
              <a:t>‹Nr.›</a:t>
            </a:fld>
            <a:endParaRPr lang="de-DE"/>
          </a:p>
        </p:txBody>
      </p:sp>
    </p:spTree>
    <p:extLst>
      <p:ext uri="{BB962C8B-B14F-4D97-AF65-F5344CB8AC3E}">
        <p14:creationId xmlns:p14="http://schemas.microsoft.com/office/powerpoint/2010/main" val="25919391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4D6F742-E4E9-9623-AEFC-C828604B70E5}"/>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3180E054-C7B6-8609-3F98-FC04B9078CEE}"/>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187F9CFB-9A02-BF6A-CFAE-F51CEA21E625}"/>
              </a:ext>
            </a:extLst>
          </p:cNvPr>
          <p:cNvSpPr>
            <a:spLocks noGrp="1"/>
          </p:cNvSpPr>
          <p:nvPr>
            <p:ph type="dt" sz="half" idx="10"/>
          </p:nvPr>
        </p:nvSpPr>
        <p:spPr/>
        <p:txBody>
          <a:bodyPr/>
          <a:lstStyle/>
          <a:p>
            <a:fld id="{5B7A6D87-A654-40B7-AB74-6B9E6A20D7F1}" type="datetimeFigureOut">
              <a:rPr lang="de-DE" smtClean="0"/>
              <a:t>21.04.2026</a:t>
            </a:fld>
            <a:endParaRPr lang="de-DE"/>
          </a:p>
        </p:txBody>
      </p:sp>
      <p:sp>
        <p:nvSpPr>
          <p:cNvPr id="5" name="Fußzeilenplatzhalter 4">
            <a:extLst>
              <a:ext uri="{FF2B5EF4-FFF2-40B4-BE49-F238E27FC236}">
                <a16:creationId xmlns:a16="http://schemas.microsoft.com/office/drawing/2014/main" id="{7D55C183-B91D-E216-644A-D04AAB7B07BF}"/>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6387F600-D44F-2640-FBE5-7EE4C721E639}"/>
              </a:ext>
            </a:extLst>
          </p:cNvPr>
          <p:cNvSpPr>
            <a:spLocks noGrp="1"/>
          </p:cNvSpPr>
          <p:nvPr>
            <p:ph type="sldNum" sz="quarter" idx="12"/>
          </p:nvPr>
        </p:nvSpPr>
        <p:spPr/>
        <p:txBody>
          <a:bodyPr/>
          <a:lstStyle/>
          <a:p>
            <a:fld id="{8CCFFEFF-DBBB-47E0-91BE-32C338BCD697}" type="slidenum">
              <a:rPr lang="de-DE" smtClean="0"/>
              <a:t>‹Nr.›</a:t>
            </a:fld>
            <a:endParaRPr lang="de-DE"/>
          </a:p>
        </p:txBody>
      </p:sp>
    </p:spTree>
    <p:extLst>
      <p:ext uri="{BB962C8B-B14F-4D97-AF65-F5344CB8AC3E}">
        <p14:creationId xmlns:p14="http://schemas.microsoft.com/office/powerpoint/2010/main" val="298327451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C93AE48-5652-6B44-6C56-76EEB3BDF9E9}"/>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C2537C57-A48C-407C-9C0F-4768EFB4807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A0DCA728-CCDD-3BD3-9CE4-E7A19FC2AE4B}"/>
              </a:ext>
            </a:extLst>
          </p:cNvPr>
          <p:cNvSpPr>
            <a:spLocks noGrp="1"/>
          </p:cNvSpPr>
          <p:nvPr>
            <p:ph type="dt" sz="half" idx="10"/>
          </p:nvPr>
        </p:nvSpPr>
        <p:spPr/>
        <p:txBody>
          <a:bodyPr/>
          <a:lstStyle/>
          <a:p>
            <a:fld id="{5B7A6D87-A654-40B7-AB74-6B9E6A20D7F1}" type="datetimeFigureOut">
              <a:rPr lang="de-DE" smtClean="0"/>
              <a:t>21.04.2026</a:t>
            </a:fld>
            <a:endParaRPr lang="de-DE"/>
          </a:p>
        </p:txBody>
      </p:sp>
      <p:sp>
        <p:nvSpPr>
          <p:cNvPr id="5" name="Fußzeilenplatzhalter 4">
            <a:extLst>
              <a:ext uri="{FF2B5EF4-FFF2-40B4-BE49-F238E27FC236}">
                <a16:creationId xmlns:a16="http://schemas.microsoft.com/office/drawing/2014/main" id="{2BB34E91-0A00-9E47-F420-549206502825}"/>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DD522C4E-B697-97B4-3283-B838A0BAE798}"/>
              </a:ext>
            </a:extLst>
          </p:cNvPr>
          <p:cNvSpPr>
            <a:spLocks noGrp="1"/>
          </p:cNvSpPr>
          <p:nvPr>
            <p:ph type="sldNum" sz="quarter" idx="12"/>
          </p:nvPr>
        </p:nvSpPr>
        <p:spPr/>
        <p:txBody>
          <a:bodyPr/>
          <a:lstStyle/>
          <a:p>
            <a:fld id="{8CCFFEFF-DBBB-47E0-91BE-32C338BCD697}" type="slidenum">
              <a:rPr lang="de-DE" smtClean="0"/>
              <a:t>‹Nr.›</a:t>
            </a:fld>
            <a:endParaRPr lang="de-DE"/>
          </a:p>
        </p:txBody>
      </p:sp>
    </p:spTree>
    <p:extLst>
      <p:ext uri="{BB962C8B-B14F-4D97-AF65-F5344CB8AC3E}">
        <p14:creationId xmlns:p14="http://schemas.microsoft.com/office/powerpoint/2010/main" val="24505627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86853CA-D43D-F609-5D85-757C53A8397F}"/>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580B15FA-020A-4323-4E9F-8C9A0D82C95C}"/>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BDACF234-F011-FAA4-280A-EFF1A946E844}"/>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E2608EC3-C6C5-6657-D7A2-93EA5562EB22}"/>
              </a:ext>
            </a:extLst>
          </p:cNvPr>
          <p:cNvSpPr>
            <a:spLocks noGrp="1"/>
          </p:cNvSpPr>
          <p:nvPr>
            <p:ph type="dt" sz="half" idx="10"/>
          </p:nvPr>
        </p:nvSpPr>
        <p:spPr/>
        <p:txBody>
          <a:bodyPr/>
          <a:lstStyle/>
          <a:p>
            <a:fld id="{5B7A6D87-A654-40B7-AB74-6B9E6A20D7F1}" type="datetimeFigureOut">
              <a:rPr lang="de-DE" smtClean="0"/>
              <a:t>21.04.2026</a:t>
            </a:fld>
            <a:endParaRPr lang="de-DE"/>
          </a:p>
        </p:txBody>
      </p:sp>
      <p:sp>
        <p:nvSpPr>
          <p:cNvPr id="6" name="Fußzeilenplatzhalter 5">
            <a:extLst>
              <a:ext uri="{FF2B5EF4-FFF2-40B4-BE49-F238E27FC236}">
                <a16:creationId xmlns:a16="http://schemas.microsoft.com/office/drawing/2014/main" id="{E0B706B4-3818-6D3B-0CD1-25F78EDFA532}"/>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1BB505A2-F52A-C6F7-B653-ED1C8137794D}"/>
              </a:ext>
            </a:extLst>
          </p:cNvPr>
          <p:cNvSpPr>
            <a:spLocks noGrp="1"/>
          </p:cNvSpPr>
          <p:nvPr>
            <p:ph type="sldNum" sz="quarter" idx="12"/>
          </p:nvPr>
        </p:nvSpPr>
        <p:spPr/>
        <p:txBody>
          <a:bodyPr/>
          <a:lstStyle/>
          <a:p>
            <a:fld id="{8CCFFEFF-DBBB-47E0-91BE-32C338BCD697}" type="slidenum">
              <a:rPr lang="de-DE" smtClean="0"/>
              <a:t>‹Nr.›</a:t>
            </a:fld>
            <a:endParaRPr lang="de-DE"/>
          </a:p>
        </p:txBody>
      </p:sp>
    </p:spTree>
    <p:extLst>
      <p:ext uri="{BB962C8B-B14F-4D97-AF65-F5344CB8AC3E}">
        <p14:creationId xmlns:p14="http://schemas.microsoft.com/office/powerpoint/2010/main" val="3327573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B509B95-AB2D-2E78-3040-8DED277ACC35}"/>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DF3B12DE-7D67-75D5-8179-E713B355770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71563DF1-163A-8AF0-CF80-FF5C6F7AC106}"/>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E5BB31E1-A91A-64DA-FF06-7F1D2EFADC3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0028BE23-EF58-CFA3-8CDB-50254B9873A0}"/>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2A0E7125-326A-A728-C011-B042E24C5BA1}"/>
              </a:ext>
            </a:extLst>
          </p:cNvPr>
          <p:cNvSpPr>
            <a:spLocks noGrp="1"/>
          </p:cNvSpPr>
          <p:nvPr>
            <p:ph type="dt" sz="half" idx="10"/>
          </p:nvPr>
        </p:nvSpPr>
        <p:spPr/>
        <p:txBody>
          <a:bodyPr/>
          <a:lstStyle/>
          <a:p>
            <a:fld id="{5B7A6D87-A654-40B7-AB74-6B9E6A20D7F1}" type="datetimeFigureOut">
              <a:rPr lang="de-DE" smtClean="0"/>
              <a:t>21.04.2026</a:t>
            </a:fld>
            <a:endParaRPr lang="de-DE"/>
          </a:p>
        </p:txBody>
      </p:sp>
      <p:sp>
        <p:nvSpPr>
          <p:cNvPr id="8" name="Fußzeilenplatzhalter 7">
            <a:extLst>
              <a:ext uri="{FF2B5EF4-FFF2-40B4-BE49-F238E27FC236}">
                <a16:creationId xmlns:a16="http://schemas.microsoft.com/office/drawing/2014/main" id="{A1C3F95B-3485-C11A-528B-824F9E57FDB1}"/>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ACFE8E06-8E07-36B3-DA6D-345AEEA1FE28}"/>
              </a:ext>
            </a:extLst>
          </p:cNvPr>
          <p:cNvSpPr>
            <a:spLocks noGrp="1"/>
          </p:cNvSpPr>
          <p:nvPr>
            <p:ph type="sldNum" sz="quarter" idx="12"/>
          </p:nvPr>
        </p:nvSpPr>
        <p:spPr/>
        <p:txBody>
          <a:bodyPr/>
          <a:lstStyle/>
          <a:p>
            <a:fld id="{8CCFFEFF-DBBB-47E0-91BE-32C338BCD697}" type="slidenum">
              <a:rPr lang="de-DE" smtClean="0"/>
              <a:t>‹Nr.›</a:t>
            </a:fld>
            <a:endParaRPr lang="de-DE"/>
          </a:p>
        </p:txBody>
      </p:sp>
    </p:spTree>
    <p:extLst>
      <p:ext uri="{BB962C8B-B14F-4D97-AF65-F5344CB8AC3E}">
        <p14:creationId xmlns:p14="http://schemas.microsoft.com/office/powerpoint/2010/main" val="22723923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2D9F3A5-E172-9D45-D419-AAAF58BA1550}"/>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B484A1B9-2668-77CF-A31F-9D7AD49C6396}"/>
              </a:ext>
            </a:extLst>
          </p:cNvPr>
          <p:cNvSpPr>
            <a:spLocks noGrp="1"/>
          </p:cNvSpPr>
          <p:nvPr>
            <p:ph type="dt" sz="half" idx="10"/>
          </p:nvPr>
        </p:nvSpPr>
        <p:spPr/>
        <p:txBody>
          <a:bodyPr/>
          <a:lstStyle/>
          <a:p>
            <a:fld id="{5B7A6D87-A654-40B7-AB74-6B9E6A20D7F1}" type="datetimeFigureOut">
              <a:rPr lang="de-DE" smtClean="0"/>
              <a:t>21.04.2026</a:t>
            </a:fld>
            <a:endParaRPr lang="de-DE"/>
          </a:p>
        </p:txBody>
      </p:sp>
      <p:sp>
        <p:nvSpPr>
          <p:cNvPr id="4" name="Fußzeilenplatzhalter 3">
            <a:extLst>
              <a:ext uri="{FF2B5EF4-FFF2-40B4-BE49-F238E27FC236}">
                <a16:creationId xmlns:a16="http://schemas.microsoft.com/office/drawing/2014/main" id="{90042B73-7BBA-87A4-BD14-98A6F88C243E}"/>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41D36DC4-9E14-A37E-7240-0EBE15685FB1}"/>
              </a:ext>
            </a:extLst>
          </p:cNvPr>
          <p:cNvSpPr>
            <a:spLocks noGrp="1"/>
          </p:cNvSpPr>
          <p:nvPr>
            <p:ph type="sldNum" sz="quarter" idx="12"/>
          </p:nvPr>
        </p:nvSpPr>
        <p:spPr/>
        <p:txBody>
          <a:bodyPr/>
          <a:lstStyle/>
          <a:p>
            <a:fld id="{8CCFFEFF-DBBB-47E0-91BE-32C338BCD697}" type="slidenum">
              <a:rPr lang="de-DE" smtClean="0"/>
              <a:t>‹Nr.›</a:t>
            </a:fld>
            <a:endParaRPr lang="de-DE"/>
          </a:p>
        </p:txBody>
      </p:sp>
    </p:spTree>
    <p:extLst>
      <p:ext uri="{BB962C8B-B14F-4D97-AF65-F5344CB8AC3E}">
        <p14:creationId xmlns:p14="http://schemas.microsoft.com/office/powerpoint/2010/main" val="26243341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CB9D3D54-E256-21F6-F969-CD3E793E3C0F}"/>
              </a:ext>
            </a:extLst>
          </p:cNvPr>
          <p:cNvSpPr>
            <a:spLocks noGrp="1"/>
          </p:cNvSpPr>
          <p:nvPr>
            <p:ph type="dt" sz="half" idx="10"/>
          </p:nvPr>
        </p:nvSpPr>
        <p:spPr/>
        <p:txBody>
          <a:bodyPr/>
          <a:lstStyle/>
          <a:p>
            <a:fld id="{5B7A6D87-A654-40B7-AB74-6B9E6A20D7F1}" type="datetimeFigureOut">
              <a:rPr lang="de-DE" smtClean="0"/>
              <a:t>21.04.2026</a:t>
            </a:fld>
            <a:endParaRPr lang="de-DE"/>
          </a:p>
        </p:txBody>
      </p:sp>
      <p:sp>
        <p:nvSpPr>
          <p:cNvPr id="3" name="Fußzeilenplatzhalter 2">
            <a:extLst>
              <a:ext uri="{FF2B5EF4-FFF2-40B4-BE49-F238E27FC236}">
                <a16:creationId xmlns:a16="http://schemas.microsoft.com/office/drawing/2014/main" id="{D80972FA-C6FB-3AB0-8A1B-42DCD8F7FA45}"/>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B5FF3E82-53E2-3CBF-5D98-E1CA365991C7}"/>
              </a:ext>
            </a:extLst>
          </p:cNvPr>
          <p:cNvSpPr>
            <a:spLocks noGrp="1"/>
          </p:cNvSpPr>
          <p:nvPr>
            <p:ph type="sldNum" sz="quarter" idx="12"/>
          </p:nvPr>
        </p:nvSpPr>
        <p:spPr/>
        <p:txBody>
          <a:bodyPr/>
          <a:lstStyle/>
          <a:p>
            <a:fld id="{8CCFFEFF-DBBB-47E0-91BE-32C338BCD697}" type="slidenum">
              <a:rPr lang="de-DE" smtClean="0"/>
              <a:t>‹Nr.›</a:t>
            </a:fld>
            <a:endParaRPr lang="de-DE"/>
          </a:p>
        </p:txBody>
      </p:sp>
    </p:spTree>
    <p:extLst>
      <p:ext uri="{BB962C8B-B14F-4D97-AF65-F5344CB8AC3E}">
        <p14:creationId xmlns:p14="http://schemas.microsoft.com/office/powerpoint/2010/main" val="13217819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3CD4D10-91BB-7E51-D85A-819C958E7ECE}"/>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36FBD429-292C-FD17-327F-8ED470DBD2D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4D6F3C7E-ED1A-C2DC-2BAF-B3113479AA5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A0B221C4-BA6E-3031-5876-9A6D43F166D0}"/>
              </a:ext>
            </a:extLst>
          </p:cNvPr>
          <p:cNvSpPr>
            <a:spLocks noGrp="1"/>
          </p:cNvSpPr>
          <p:nvPr>
            <p:ph type="dt" sz="half" idx="10"/>
          </p:nvPr>
        </p:nvSpPr>
        <p:spPr/>
        <p:txBody>
          <a:bodyPr/>
          <a:lstStyle/>
          <a:p>
            <a:fld id="{5B7A6D87-A654-40B7-AB74-6B9E6A20D7F1}" type="datetimeFigureOut">
              <a:rPr lang="de-DE" smtClean="0"/>
              <a:t>21.04.2026</a:t>
            </a:fld>
            <a:endParaRPr lang="de-DE"/>
          </a:p>
        </p:txBody>
      </p:sp>
      <p:sp>
        <p:nvSpPr>
          <p:cNvPr id="6" name="Fußzeilenplatzhalter 5">
            <a:extLst>
              <a:ext uri="{FF2B5EF4-FFF2-40B4-BE49-F238E27FC236}">
                <a16:creationId xmlns:a16="http://schemas.microsoft.com/office/drawing/2014/main" id="{2BA3B6B3-A038-B16B-94B7-EF59DD6793F6}"/>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5152908B-CF4F-6589-1A93-E60C4078D378}"/>
              </a:ext>
            </a:extLst>
          </p:cNvPr>
          <p:cNvSpPr>
            <a:spLocks noGrp="1"/>
          </p:cNvSpPr>
          <p:nvPr>
            <p:ph type="sldNum" sz="quarter" idx="12"/>
          </p:nvPr>
        </p:nvSpPr>
        <p:spPr/>
        <p:txBody>
          <a:bodyPr/>
          <a:lstStyle/>
          <a:p>
            <a:fld id="{8CCFFEFF-DBBB-47E0-91BE-32C338BCD697}" type="slidenum">
              <a:rPr lang="de-DE" smtClean="0"/>
              <a:t>‹Nr.›</a:t>
            </a:fld>
            <a:endParaRPr lang="de-DE"/>
          </a:p>
        </p:txBody>
      </p:sp>
    </p:spTree>
    <p:extLst>
      <p:ext uri="{BB962C8B-B14F-4D97-AF65-F5344CB8AC3E}">
        <p14:creationId xmlns:p14="http://schemas.microsoft.com/office/powerpoint/2010/main" val="40230679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1E7EA57-3053-BC6B-DCB5-980D380ED79C}"/>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B3A53089-A5B3-47D1-3EBB-1D40DD7A86D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7D7551EB-E073-CC5F-C7CE-FA4EE3536CE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8A7D2805-6CAE-948E-B9DA-680404D4D4D4}"/>
              </a:ext>
            </a:extLst>
          </p:cNvPr>
          <p:cNvSpPr>
            <a:spLocks noGrp="1"/>
          </p:cNvSpPr>
          <p:nvPr>
            <p:ph type="dt" sz="half" idx="10"/>
          </p:nvPr>
        </p:nvSpPr>
        <p:spPr/>
        <p:txBody>
          <a:bodyPr/>
          <a:lstStyle/>
          <a:p>
            <a:fld id="{5B7A6D87-A654-40B7-AB74-6B9E6A20D7F1}" type="datetimeFigureOut">
              <a:rPr lang="de-DE" smtClean="0"/>
              <a:t>21.04.2026</a:t>
            </a:fld>
            <a:endParaRPr lang="de-DE"/>
          </a:p>
        </p:txBody>
      </p:sp>
      <p:sp>
        <p:nvSpPr>
          <p:cNvPr id="6" name="Fußzeilenplatzhalter 5">
            <a:extLst>
              <a:ext uri="{FF2B5EF4-FFF2-40B4-BE49-F238E27FC236}">
                <a16:creationId xmlns:a16="http://schemas.microsoft.com/office/drawing/2014/main" id="{4259D4A9-A9BB-0F84-2693-DFE61CD0C104}"/>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F858BECD-847A-A0E8-ED6E-E2BBBF14D57D}"/>
              </a:ext>
            </a:extLst>
          </p:cNvPr>
          <p:cNvSpPr>
            <a:spLocks noGrp="1"/>
          </p:cNvSpPr>
          <p:nvPr>
            <p:ph type="sldNum" sz="quarter" idx="12"/>
          </p:nvPr>
        </p:nvSpPr>
        <p:spPr/>
        <p:txBody>
          <a:bodyPr/>
          <a:lstStyle/>
          <a:p>
            <a:fld id="{8CCFFEFF-DBBB-47E0-91BE-32C338BCD697}" type="slidenum">
              <a:rPr lang="de-DE" smtClean="0"/>
              <a:t>‹Nr.›</a:t>
            </a:fld>
            <a:endParaRPr lang="de-DE"/>
          </a:p>
        </p:txBody>
      </p:sp>
    </p:spTree>
    <p:extLst>
      <p:ext uri="{BB962C8B-B14F-4D97-AF65-F5344CB8AC3E}">
        <p14:creationId xmlns:p14="http://schemas.microsoft.com/office/powerpoint/2010/main" val="28502337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C2099B-FECA-ADC3-4A5B-389DC19E45B3}"/>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D14EF608-82AA-B74B-6B11-45AD26BD1B12}"/>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54C65969-F256-D951-B6FE-6D8652DE98D5}"/>
              </a:ext>
            </a:extLst>
          </p:cNvPr>
          <p:cNvSpPr>
            <a:spLocks noGrp="1"/>
          </p:cNvSpPr>
          <p:nvPr>
            <p:ph type="dt" sz="half" idx="10"/>
          </p:nvPr>
        </p:nvSpPr>
        <p:spPr/>
        <p:txBody>
          <a:bodyPr/>
          <a:lstStyle/>
          <a:p>
            <a:fld id="{5B7A6D87-A654-40B7-AB74-6B9E6A20D7F1}" type="datetimeFigureOut">
              <a:rPr lang="de-DE" smtClean="0"/>
              <a:t>21.04.2026</a:t>
            </a:fld>
            <a:endParaRPr lang="de-DE"/>
          </a:p>
        </p:txBody>
      </p:sp>
      <p:sp>
        <p:nvSpPr>
          <p:cNvPr id="5" name="Fußzeilenplatzhalter 4">
            <a:extLst>
              <a:ext uri="{FF2B5EF4-FFF2-40B4-BE49-F238E27FC236}">
                <a16:creationId xmlns:a16="http://schemas.microsoft.com/office/drawing/2014/main" id="{105B4536-FB21-C93E-E857-E570BC976B16}"/>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0A4D0037-D210-E27B-968E-3AC3C4D2FFBD}"/>
              </a:ext>
            </a:extLst>
          </p:cNvPr>
          <p:cNvSpPr>
            <a:spLocks noGrp="1"/>
          </p:cNvSpPr>
          <p:nvPr>
            <p:ph type="sldNum" sz="quarter" idx="12"/>
          </p:nvPr>
        </p:nvSpPr>
        <p:spPr/>
        <p:txBody>
          <a:bodyPr/>
          <a:lstStyle/>
          <a:p>
            <a:fld id="{8CCFFEFF-DBBB-47E0-91BE-32C338BCD697}" type="slidenum">
              <a:rPr lang="de-DE" smtClean="0"/>
              <a:t>‹Nr.›</a:t>
            </a:fld>
            <a:endParaRPr lang="de-DE"/>
          </a:p>
        </p:txBody>
      </p:sp>
    </p:spTree>
    <p:extLst>
      <p:ext uri="{BB962C8B-B14F-4D97-AF65-F5344CB8AC3E}">
        <p14:creationId xmlns:p14="http://schemas.microsoft.com/office/powerpoint/2010/main" val="32320711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048B599E-8007-41A9-C86F-4F702F9C4745}"/>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BC8D43FB-BCD2-165C-A29F-98DB76CA6E53}"/>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3C6550A2-94D6-4866-D688-25965D8A5F48}"/>
              </a:ext>
            </a:extLst>
          </p:cNvPr>
          <p:cNvSpPr>
            <a:spLocks noGrp="1"/>
          </p:cNvSpPr>
          <p:nvPr>
            <p:ph type="dt" sz="half" idx="10"/>
          </p:nvPr>
        </p:nvSpPr>
        <p:spPr/>
        <p:txBody>
          <a:bodyPr/>
          <a:lstStyle/>
          <a:p>
            <a:fld id="{5B7A6D87-A654-40B7-AB74-6B9E6A20D7F1}" type="datetimeFigureOut">
              <a:rPr lang="de-DE" smtClean="0"/>
              <a:t>21.04.2026</a:t>
            </a:fld>
            <a:endParaRPr lang="de-DE"/>
          </a:p>
        </p:txBody>
      </p:sp>
      <p:sp>
        <p:nvSpPr>
          <p:cNvPr id="5" name="Fußzeilenplatzhalter 4">
            <a:extLst>
              <a:ext uri="{FF2B5EF4-FFF2-40B4-BE49-F238E27FC236}">
                <a16:creationId xmlns:a16="http://schemas.microsoft.com/office/drawing/2014/main" id="{223120EE-D49D-31D5-6DE7-EABBA82ABF9E}"/>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CA7F1683-1943-ECBC-4C72-8D94BB400BE1}"/>
              </a:ext>
            </a:extLst>
          </p:cNvPr>
          <p:cNvSpPr>
            <a:spLocks noGrp="1"/>
          </p:cNvSpPr>
          <p:nvPr>
            <p:ph type="sldNum" sz="quarter" idx="12"/>
          </p:nvPr>
        </p:nvSpPr>
        <p:spPr/>
        <p:txBody>
          <a:bodyPr/>
          <a:lstStyle/>
          <a:p>
            <a:fld id="{8CCFFEFF-DBBB-47E0-91BE-32C338BCD697}" type="slidenum">
              <a:rPr lang="de-DE" smtClean="0"/>
              <a:t>‹Nr.›</a:t>
            </a:fld>
            <a:endParaRPr lang="de-DE"/>
          </a:p>
        </p:txBody>
      </p:sp>
    </p:spTree>
    <p:extLst>
      <p:ext uri="{BB962C8B-B14F-4D97-AF65-F5344CB8AC3E}">
        <p14:creationId xmlns:p14="http://schemas.microsoft.com/office/powerpoint/2010/main" val="3741561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3D60789-DA4F-64D7-A800-111B06D2888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A7D88C02-76E9-04C9-A798-CD2FC311DBE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3FA08679-4C4A-9CE3-D65B-72A7ED8D2E5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Calibri Light" panose="020F0302020204030204" pitchFamily="34" charset="0"/>
                <a:ea typeface="Calibri Light" panose="020F0302020204030204" pitchFamily="34" charset="0"/>
                <a:cs typeface="Calibri Light" panose="020F0302020204030204" pitchFamily="34" charset="0"/>
              </a:defRPr>
            </a:lvl1pPr>
          </a:lstStyle>
          <a:p>
            <a:fld id="{5B7A6D87-A654-40B7-AB74-6B9E6A20D7F1}" type="datetimeFigureOut">
              <a:rPr lang="de-DE" smtClean="0"/>
              <a:pPr/>
              <a:t>21.04.2026</a:t>
            </a:fld>
            <a:endParaRPr lang="de-DE"/>
          </a:p>
        </p:txBody>
      </p:sp>
      <p:sp>
        <p:nvSpPr>
          <p:cNvPr id="5" name="Fußzeilenplatzhalter 4">
            <a:extLst>
              <a:ext uri="{FF2B5EF4-FFF2-40B4-BE49-F238E27FC236}">
                <a16:creationId xmlns:a16="http://schemas.microsoft.com/office/drawing/2014/main" id="{2201C71C-AB06-DBA8-EDA5-2E6C1F5364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Calibri" panose="020F0502020204030204" pitchFamily="34" charset="0"/>
                <a:ea typeface="Calibri" panose="020F0502020204030204" pitchFamily="34" charset="0"/>
                <a:cs typeface="Calibri" panose="020F0502020204030204" pitchFamily="34" charset="0"/>
              </a:defRPr>
            </a:lvl1pPr>
          </a:lstStyle>
          <a:p>
            <a:endParaRPr lang="de-DE"/>
          </a:p>
        </p:txBody>
      </p:sp>
      <p:sp>
        <p:nvSpPr>
          <p:cNvPr id="6" name="Foliennummernplatzhalter 5">
            <a:extLst>
              <a:ext uri="{FF2B5EF4-FFF2-40B4-BE49-F238E27FC236}">
                <a16:creationId xmlns:a16="http://schemas.microsoft.com/office/drawing/2014/main" id="{3230CC9B-F2D3-4584-D6AE-82CF31D6102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Calibri Light" panose="020F0302020204030204" pitchFamily="34" charset="0"/>
                <a:ea typeface="Calibri Light" panose="020F0302020204030204" pitchFamily="34" charset="0"/>
                <a:cs typeface="Calibri Light" panose="020F0302020204030204" pitchFamily="34" charset="0"/>
              </a:defRPr>
            </a:lvl1pPr>
          </a:lstStyle>
          <a:p>
            <a:fld id="{8CCFFEFF-DBBB-47E0-91BE-32C338BCD697}" type="slidenum">
              <a:rPr lang="de-DE" smtClean="0"/>
              <a:pPr/>
              <a:t>‹Nr.›</a:t>
            </a:fld>
            <a:endParaRPr lang="de-DE"/>
          </a:p>
        </p:txBody>
      </p:sp>
    </p:spTree>
    <p:extLst>
      <p:ext uri="{BB962C8B-B14F-4D97-AF65-F5344CB8AC3E}">
        <p14:creationId xmlns:p14="http://schemas.microsoft.com/office/powerpoint/2010/main" val="26799335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Calibri" panose="020F0502020204030204" pitchFamily="34" charset="0"/>
          <a:ea typeface="Calibri" panose="020F0502020204030204" pitchFamily="34" charset="0"/>
          <a:cs typeface="Calibri" panose="020F050202020403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Calibri" panose="020F0502020204030204" pitchFamily="34" charset="0"/>
          <a:ea typeface="Calibri" panose="020F0502020204030204" pitchFamily="34" charset="0"/>
          <a:cs typeface="Calibri" panose="020F050202020403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alibri" panose="020F0502020204030204" pitchFamily="34" charset="0"/>
          <a:ea typeface="Calibri" panose="020F0502020204030204" pitchFamily="34" charset="0"/>
          <a:cs typeface="Calibri" panose="020F050202020403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alibri" panose="020F0502020204030204" pitchFamily="34" charset="0"/>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jpeg"/><Relationship Id="rId1" Type="http://schemas.openxmlformats.org/officeDocument/2006/relationships/slideLayout" Target="../slideLayouts/slideLayout2.xml"/><Relationship Id="rId4" Type="http://schemas.openxmlformats.org/officeDocument/2006/relationships/image" Target="../media/image6.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chart" Target="../charts/char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8.xml"/><Relationship Id="rId1" Type="http://schemas.openxmlformats.org/officeDocument/2006/relationships/slideLayout" Target="../slideLayouts/slideLayout6.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2D4982C3-9B08-D2F6-8237-76D82FEBD3F9}"/>
              </a:ext>
            </a:extLst>
          </p:cNvPr>
          <p:cNvSpPr txBox="1"/>
          <p:nvPr/>
        </p:nvSpPr>
        <p:spPr>
          <a:xfrm>
            <a:off x="0" y="1201297"/>
            <a:ext cx="12191999" cy="2871537"/>
          </a:xfrm>
          <a:prstGeom prst="rect">
            <a:avLst/>
          </a:prstGeom>
          <a:gradFill>
            <a:gsLst>
              <a:gs pos="27000">
                <a:schemeClr val="tx2">
                  <a:lumMod val="75000"/>
                  <a:lumOff val="25000"/>
                </a:schemeClr>
              </a:gs>
              <a:gs pos="0">
                <a:schemeClr val="accent1">
                  <a:lumMod val="60000"/>
                  <a:lumOff val="40000"/>
                </a:schemeClr>
              </a:gs>
              <a:gs pos="76000">
                <a:schemeClr val="accent5">
                  <a:lumMod val="75000"/>
                </a:schemeClr>
              </a:gs>
              <a:gs pos="100000">
                <a:srgbClr val="FF0000"/>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tIns="0" bIns="180000" rtlCol="0" anchor="ctr"/>
          <a:lstStyle>
            <a:defPPr>
              <a:defRPr lang="de-DE"/>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nSpc>
                <a:spcPct val="150000"/>
              </a:lnSpc>
            </a:pPr>
            <a:endParaRPr lang="de-DE" sz="2000" dirty="0">
              <a:latin typeface="Calibri" panose="020F0502020204030204" pitchFamily="34" charset="0"/>
              <a:ea typeface="Calibri" panose="020F0502020204030204" pitchFamily="34" charset="0"/>
              <a:cs typeface="Calibri" panose="020F0502020204030204" pitchFamily="34" charset="0"/>
            </a:endParaRPr>
          </a:p>
        </p:txBody>
      </p:sp>
      <p:sp>
        <p:nvSpPr>
          <p:cNvPr id="2" name="Titel 1">
            <a:extLst>
              <a:ext uri="{FF2B5EF4-FFF2-40B4-BE49-F238E27FC236}">
                <a16:creationId xmlns:a16="http://schemas.microsoft.com/office/drawing/2014/main" id="{1C7D7DAE-4950-29C9-5541-E06233474C8B}"/>
              </a:ext>
            </a:extLst>
          </p:cNvPr>
          <p:cNvSpPr>
            <a:spLocks noGrp="1"/>
          </p:cNvSpPr>
          <p:nvPr>
            <p:ph type="ctrTitle"/>
          </p:nvPr>
        </p:nvSpPr>
        <p:spPr>
          <a:xfrm>
            <a:off x="1441808" y="992747"/>
            <a:ext cx="9304962" cy="1195581"/>
          </a:xfrm>
        </p:spPr>
        <p:txBody>
          <a:bodyPr>
            <a:normAutofit/>
          </a:bodyPr>
          <a:lstStyle/>
          <a:p>
            <a:r>
              <a:rPr lang="de-DE" sz="4000" b="1" dirty="0">
                <a:solidFill>
                  <a:schemeClr val="bg1"/>
                </a:solidFill>
              </a:rPr>
              <a:t>KI-gestützte Personalisierung im Marketing</a:t>
            </a:r>
          </a:p>
        </p:txBody>
      </p:sp>
      <p:sp>
        <p:nvSpPr>
          <p:cNvPr id="3" name="Untertitel 2">
            <a:extLst>
              <a:ext uri="{FF2B5EF4-FFF2-40B4-BE49-F238E27FC236}">
                <a16:creationId xmlns:a16="http://schemas.microsoft.com/office/drawing/2014/main" id="{92970BC4-7C9A-E409-1FC0-C6D476DFE3B7}"/>
              </a:ext>
            </a:extLst>
          </p:cNvPr>
          <p:cNvSpPr>
            <a:spLocks noGrp="1"/>
          </p:cNvSpPr>
          <p:nvPr>
            <p:ph type="subTitle" idx="1"/>
          </p:nvPr>
        </p:nvSpPr>
        <p:spPr>
          <a:xfrm>
            <a:off x="1524000" y="2396879"/>
            <a:ext cx="9144000" cy="4228366"/>
          </a:xfrm>
        </p:spPr>
        <p:txBody>
          <a:bodyPr>
            <a:normAutofit/>
          </a:bodyPr>
          <a:lstStyle/>
          <a:p>
            <a:r>
              <a:rPr lang="de-DE" b="1" dirty="0">
                <a:solidFill>
                  <a:schemeClr val="bg1"/>
                </a:solidFill>
                <a:latin typeface="Calibri Light" panose="020F0302020204030204" pitchFamily="34" charset="0"/>
                <a:ea typeface="Calibri Light" panose="020F0302020204030204" pitchFamily="34" charset="0"/>
                <a:cs typeface="Calibri Light" panose="020F0302020204030204" pitchFamily="34" charset="0"/>
              </a:rPr>
              <a:t>Welcher Personalisierungsgrad maximiert den Netto-Business-Value (Performance-Lift abzüglich Compliance-/Ethik-/Reputationsrisiken) unter DSGVO-</a:t>
            </a:r>
            <a:r>
              <a:rPr lang="de-DE" b="1" dirty="0" err="1">
                <a:solidFill>
                  <a:schemeClr val="bg1"/>
                </a:solidFill>
                <a:latin typeface="Calibri Light" panose="020F0302020204030204" pitchFamily="34" charset="0"/>
                <a:ea typeface="Calibri Light" panose="020F0302020204030204" pitchFamily="34" charset="0"/>
                <a:cs typeface="Calibri Light" panose="020F0302020204030204" pitchFamily="34" charset="0"/>
              </a:rPr>
              <a:t>Constraints</a:t>
            </a:r>
            <a:r>
              <a:rPr lang="de-DE" b="1" dirty="0">
                <a:solidFill>
                  <a:schemeClr val="bg1"/>
                </a:solidFill>
                <a:latin typeface="Calibri Light" panose="020F0302020204030204" pitchFamily="34" charset="0"/>
                <a:ea typeface="Calibri Light" panose="020F0302020204030204" pitchFamily="34" charset="0"/>
                <a:cs typeface="Calibri Light" panose="020F0302020204030204" pitchFamily="34" charset="0"/>
              </a:rPr>
              <a:t> — und ab welcher Schwelle kippt der Grenznutzen bzw. steigt das Risiko überproportional?</a:t>
            </a:r>
          </a:p>
          <a:p>
            <a:endParaRPr lang="de-DE" sz="800" dirty="0"/>
          </a:p>
          <a:p>
            <a:endParaRPr lang="de-DE" sz="800" dirty="0"/>
          </a:p>
          <a:p>
            <a:endParaRPr lang="de-DE" sz="800" dirty="0"/>
          </a:p>
          <a:p>
            <a:endParaRPr lang="de-DE" sz="800" dirty="0"/>
          </a:p>
          <a:p>
            <a:endParaRPr lang="de-DE" sz="800" dirty="0"/>
          </a:p>
          <a:p>
            <a:r>
              <a:rPr lang="de-DE" sz="1800" b="1" dirty="0">
                <a:latin typeface="Calibri Light" panose="020F0302020204030204" pitchFamily="34" charset="0"/>
                <a:ea typeface="Calibri Light" panose="020F0302020204030204" pitchFamily="34" charset="0"/>
                <a:cs typeface="Calibri Light" panose="020F0302020204030204" pitchFamily="34" charset="0"/>
              </a:rPr>
              <a:t>Merlin </a:t>
            </a:r>
            <a:r>
              <a:rPr lang="de-DE" sz="1800" b="1" dirty="0" err="1">
                <a:latin typeface="Calibri Light" panose="020F0302020204030204" pitchFamily="34" charset="0"/>
                <a:ea typeface="Calibri Light" panose="020F0302020204030204" pitchFamily="34" charset="0"/>
                <a:cs typeface="Calibri Light" panose="020F0302020204030204" pitchFamily="34" charset="0"/>
              </a:rPr>
              <a:t>Mechler</a:t>
            </a:r>
            <a:endParaRPr lang="de-DE" sz="1800" b="1" dirty="0">
              <a:latin typeface="Calibri Light" panose="020F0302020204030204" pitchFamily="34" charset="0"/>
              <a:ea typeface="Calibri Light" panose="020F0302020204030204" pitchFamily="34" charset="0"/>
              <a:cs typeface="Calibri Light" panose="020F0302020204030204" pitchFamily="34" charset="0"/>
            </a:endParaRPr>
          </a:p>
          <a:p>
            <a:r>
              <a:rPr lang="de-DE" sz="1800" b="1" dirty="0" err="1">
                <a:latin typeface="Calibri Light" panose="020F0302020204030204" pitchFamily="34" charset="0"/>
                <a:ea typeface="Calibri Light" panose="020F0302020204030204" pitchFamily="34" charset="0"/>
                <a:cs typeface="Calibri Light" panose="020F0302020204030204" pitchFamily="34" charset="0"/>
              </a:rPr>
              <a:t>Mohammadhadi</a:t>
            </a:r>
            <a:r>
              <a:rPr lang="de-DE" sz="1800" b="1" dirty="0">
                <a:latin typeface="Calibri Light" panose="020F0302020204030204" pitchFamily="34" charset="0"/>
                <a:ea typeface="Calibri Light" panose="020F0302020204030204" pitchFamily="34" charset="0"/>
                <a:cs typeface="Calibri Light" panose="020F0302020204030204" pitchFamily="34" charset="0"/>
              </a:rPr>
              <a:t> Shiva</a:t>
            </a:r>
          </a:p>
          <a:p>
            <a:r>
              <a:rPr lang="de-DE" sz="1800" b="1" dirty="0">
                <a:latin typeface="Calibri Light" panose="020F0302020204030204" pitchFamily="34" charset="0"/>
                <a:ea typeface="Calibri Light" panose="020F0302020204030204" pitchFamily="34" charset="0"/>
                <a:cs typeface="Calibri Light" panose="020F0302020204030204" pitchFamily="34" charset="0"/>
              </a:rPr>
              <a:t>Maximilian Gräubig</a:t>
            </a:r>
          </a:p>
        </p:txBody>
      </p:sp>
      <p:sp>
        <p:nvSpPr>
          <p:cNvPr id="4" name="Textfeld 3">
            <a:extLst>
              <a:ext uri="{FF2B5EF4-FFF2-40B4-BE49-F238E27FC236}">
                <a16:creationId xmlns:a16="http://schemas.microsoft.com/office/drawing/2014/main" id="{816482E3-3B7B-97A3-2F8B-A2E06DD66652}"/>
              </a:ext>
            </a:extLst>
          </p:cNvPr>
          <p:cNvSpPr txBox="1"/>
          <p:nvPr/>
        </p:nvSpPr>
        <p:spPr>
          <a:xfrm>
            <a:off x="11168009" y="6421081"/>
            <a:ext cx="1140431" cy="307777"/>
          </a:xfrm>
          <a:prstGeom prst="rect">
            <a:avLst/>
          </a:prstGeom>
          <a:noFill/>
        </p:spPr>
        <p:txBody>
          <a:bodyPr wrap="square" rtlCol="0">
            <a:spAutoFit/>
          </a:bodyPr>
          <a:lstStyle/>
          <a:p>
            <a:r>
              <a:rPr lang="de-DE" sz="1400" dirty="0"/>
              <a:t>30.04.2026</a:t>
            </a:r>
          </a:p>
        </p:txBody>
      </p:sp>
    </p:spTree>
    <p:extLst>
      <p:ext uri="{BB962C8B-B14F-4D97-AF65-F5344CB8AC3E}">
        <p14:creationId xmlns:p14="http://schemas.microsoft.com/office/powerpoint/2010/main" val="15306498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62BB80E-8450-6D4A-316E-C971D21990F1}"/>
              </a:ext>
            </a:extLst>
          </p:cNvPr>
          <p:cNvSpPr>
            <a:spLocks noGrp="1"/>
          </p:cNvSpPr>
          <p:nvPr>
            <p:ph type="title"/>
          </p:nvPr>
        </p:nvSpPr>
        <p:spPr/>
        <p:txBody>
          <a:bodyPr/>
          <a:lstStyle/>
          <a:p>
            <a:r>
              <a:rPr lang="de-DE" sz="3600" dirty="0"/>
              <a:t>PROJEKTDESIGN &amp; SETUP</a:t>
            </a:r>
            <a:endParaRPr lang="de-DE" dirty="0"/>
          </a:p>
        </p:txBody>
      </p:sp>
      <p:sp>
        <p:nvSpPr>
          <p:cNvPr id="4" name="Rechteck 3">
            <a:extLst>
              <a:ext uri="{FF2B5EF4-FFF2-40B4-BE49-F238E27FC236}">
                <a16:creationId xmlns:a16="http://schemas.microsoft.com/office/drawing/2014/main" id="{AFBB857F-26E4-A1A6-4CBA-088015A2FCFA}"/>
              </a:ext>
            </a:extLst>
          </p:cNvPr>
          <p:cNvSpPr/>
          <p:nvPr/>
        </p:nvSpPr>
        <p:spPr>
          <a:xfrm>
            <a:off x="0" y="3008102"/>
            <a:ext cx="5383034" cy="2464904"/>
          </a:xfrm>
          <a:prstGeom prst="rect">
            <a:avLst/>
          </a:prstGeom>
          <a:gradFill flip="none" rotWithShape="1">
            <a:gsLst>
              <a:gs pos="0">
                <a:schemeClr val="accent1">
                  <a:lumMod val="60000"/>
                  <a:lumOff val="40000"/>
                </a:schemeClr>
              </a:gs>
              <a:gs pos="100000">
                <a:schemeClr val="tx2">
                  <a:lumMod val="75000"/>
                  <a:lumOff val="2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lIns="360000" rtlCol="0" anchor="ctr"/>
          <a:lstStyle/>
          <a:p>
            <a:pPr marL="285750" indent="-285750">
              <a:spcAft>
                <a:spcPts val="1200"/>
              </a:spcAft>
              <a:buFont typeface="Wingdings" panose="05000000000000000000" pitchFamily="2" charset="2"/>
              <a:buChar char="Ø"/>
            </a:pPr>
            <a:r>
              <a:rPr lang="de-DE" dirty="0">
                <a:latin typeface="Calibri" panose="020F0502020204030204" pitchFamily="34" charset="0"/>
                <a:ea typeface="Calibri" panose="020F0502020204030204" pitchFamily="34" charset="0"/>
                <a:cs typeface="Calibri" panose="020F0502020204030204" pitchFamily="34" charset="0"/>
              </a:rPr>
              <a:t>Klare Arbeitspakete &amp; Verantwortlichkeiten</a:t>
            </a:r>
          </a:p>
          <a:p>
            <a:pPr marL="285750" indent="-285750">
              <a:spcAft>
                <a:spcPts val="1200"/>
              </a:spcAft>
              <a:buFont typeface="Wingdings" panose="05000000000000000000" pitchFamily="2" charset="2"/>
              <a:buChar char="Ø"/>
            </a:pPr>
            <a:r>
              <a:rPr lang="de-DE" dirty="0">
                <a:latin typeface="Calibri" panose="020F0502020204030204" pitchFamily="34" charset="0"/>
                <a:ea typeface="Calibri" panose="020F0502020204030204" pitchFamily="34" charset="0"/>
                <a:cs typeface="Calibri" panose="020F0502020204030204" pitchFamily="34" charset="0"/>
              </a:rPr>
              <a:t>Projektmanagement über Notion    </a:t>
            </a:r>
            <a:br>
              <a:rPr lang="de-DE" dirty="0">
                <a:latin typeface="Calibri" panose="020F0502020204030204" pitchFamily="34" charset="0"/>
                <a:ea typeface="Calibri" panose="020F0502020204030204" pitchFamily="34" charset="0"/>
                <a:cs typeface="Calibri" panose="020F0502020204030204" pitchFamily="34" charset="0"/>
              </a:rPr>
            </a:br>
            <a:r>
              <a:rPr lang="de-DE" dirty="0">
                <a:latin typeface="Calibri" panose="020F0502020204030204" pitchFamily="34" charset="0"/>
                <a:ea typeface="Calibri" panose="020F0502020204030204" pitchFamily="34" charset="0"/>
                <a:cs typeface="Calibri" panose="020F0502020204030204" pitchFamily="34" charset="0"/>
              </a:rPr>
              <a:t>→ Aufgaben, Status, Updates</a:t>
            </a:r>
          </a:p>
          <a:p>
            <a:pPr marL="285750" indent="-285750">
              <a:buFont typeface="Wingdings" panose="05000000000000000000" pitchFamily="2" charset="2"/>
              <a:buChar char="Ø"/>
            </a:pPr>
            <a:r>
              <a:rPr lang="de-DE" dirty="0">
                <a:latin typeface="Calibri" panose="020F0502020204030204" pitchFamily="34" charset="0"/>
                <a:ea typeface="Calibri" panose="020F0502020204030204" pitchFamily="34" charset="0"/>
                <a:cs typeface="Calibri" panose="020F0502020204030204" pitchFamily="34" charset="0"/>
              </a:rPr>
              <a:t>Zusammenarbeit über GitHub    </a:t>
            </a:r>
            <a:br>
              <a:rPr lang="de-DE" dirty="0">
                <a:latin typeface="Calibri" panose="020F0502020204030204" pitchFamily="34" charset="0"/>
                <a:ea typeface="Calibri" panose="020F0502020204030204" pitchFamily="34" charset="0"/>
                <a:cs typeface="Calibri" panose="020F0502020204030204" pitchFamily="34" charset="0"/>
              </a:rPr>
            </a:br>
            <a:r>
              <a:rPr lang="de-DE" dirty="0">
                <a:latin typeface="Calibri" panose="020F0502020204030204" pitchFamily="34" charset="0"/>
                <a:ea typeface="Calibri" panose="020F0502020204030204" pitchFamily="34" charset="0"/>
                <a:cs typeface="Calibri" panose="020F0502020204030204" pitchFamily="34" charset="0"/>
              </a:rPr>
              <a:t>→ Versionierung &amp; Datenbasis</a:t>
            </a:r>
          </a:p>
        </p:txBody>
      </p:sp>
      <p:sp>
        <p:nvSpPr>
          <p:cNvPr id="5" name="Rechteck 4">
            <a:extLst>
              <a:ext uri="{FF2B5EF4-FFF2-40B4-BE49-F238E27FC236}">
                <a16:creationId xmlns:a16="http://schemas.microsoft.com/office/drawing/2014/main" id="{A9F17E59-43F3-FF91-D81B-56B8B275BE83}"/>
              </a:ext>
            </a:extLst>
          </p:cNvPr>
          <p:cNvSpPr/>
          <p:nvPr/>
        </p:nvSpPr>
        <p:spPr>
          <a:xfrm>
            <a:off x="6808966" y="3008101"/>
            <a:ext cx="5383034" cy="2464905"/>
          </a:xfrm>
          <a:prstGeom prst="rect">
            <a:avLst/>
          </a:prstGeom>
          <a:gradFill flip="none" rotWithShape="1">
            <a:gsLst>
              <a:gs pos="0">
                <a:schemeClr val="accent1">
                  <a:lumMod val="60000"/>
                  <a:lumOff val="40000"/>
                </a:schemeClr>
              </a:gs>
              <a:gs pos="100000">
                <a:schemeClr val="tx2">
                  <a:lumMod val="75000"/>
                  <a:lumOff val="2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lIns="360000" rtlCol="0" anchor="ctr"/>
          <a:lstStyle/>
          <a:p>
            <a:pPr marL="285750" indent="-285750">
              <a:spcAft>
                <a:spcPts val="1200"/>
              </a:spcAft>
              <a:buFont typeface="Wingdings" panose="05000000000000000000" pitchFamily="2" charset="2"/>
              <a:buChar char="Ø"/>
            </a:pPr>
            <a:r>
              <a:rPr lang="de-DE" dirty="0">
                <a:latin typeface="Calibri" panose="020F0502020204030204" pitchFamily="34" charset="0"/>
                <a:ea typeface="Calibri" panose="020F0502020204030204" pitchFamily="34" charset="0"/>
                <a:cs typeface="Calibri" panose="020F0502020204030204" pitchFamily="34" charset="0"/>
              </a:rPr>
              <a:t>Datenstrategie: große, realistische Datensätze</a:t>
            </a:r>
          </a:p>
          <a:p>
            <a:pPr marL="285750" indent="-285750">
              <a:spcAft>
                <a:spcPts val="1200"/>
              </a:spcAft>
              <a:buFont typeface="Wingdings" panose="05000000000000000000" pitchFamily="2" charset="2"/>
              <a:buChar char="Ø"/>
            </a:pPr>
            <a:r>
              <a:rPr lang="de-DE" dirty="0">
                <a:latin typeface="Calibri" panose="020F0502020204030204" pitchFamily="34" charset="0"/>
                <a:ea typeface="Calibri" panose="020F0502020204030204" pitchFamily="34" charset="0"/>
                <a:cs typeface="Calibri" panose="020F0502020204030204" pitchFamily="34" charset="0"/>
              </a:rPr>
              <a:t>Datenauswahl:  </a:t>
            </a:r>
            <a:br>
              <a:rPr lang="de-DE" dirty="0">
                <a:latin typeface="Calibri" panose="020F0502020204030204" pitchFamily="34" charset="0"/>
                <a:ea typeface="Calibri" panose="020F0502020204030204" pitchFamily="34" charset="0"/>
                <a:cs typeface="Calibri" panose="020F0502020204030204" pitchFamily="34" charset="0"/>
              </a:rPr>
            </a:br>
            <a:r>
              <a:rPr lang="de-DE" dirty="0">
                <a:latin typeface="Calibri" panose="020F0502020204030204" pitchFamily="34" charset="0"/>
                <a:ea typeface="Calibri" panose="020F0502020204030204" pitchFamily="34" charset="0"/>
                <a:cs typeface="Calibri" panose="020F0502020204030204" pitchFamily="34" charset="0"/>
              </a:rPr>
              <a:t>→ GA4 E-Commerce  </a:t>
            </a:r>
            <a:br>
              <a:rPr lang="de-DE" dirty="0">
                <a:latin typeface="Calibri" panose="020F0502020204030204" pitchFamily="34" charset="0"/>
                <a:ea typeface="Calibri" panose="020F0502020204030204" pitchFamily="34" charset="0"/>
                <a:cs typeface="Calibri" panose="020F0502020204030204" pitchFamily="34" charset="0"/>
              </a:rPr>
            </a:br>
            <a:r>
              <a:rPr lang="de-DE" dirty="0">
                <a:latin typeface="Calibri" panose="020F0502020204030204" pitchFamily="34" charset="0"/>
                <a:ea typeface="Calibri" panose="020F0502020204030204" pitchFamily="34" charset="0"/>
                <a:cs typeface="Calibri" panose="020F0502020204030204" pitchFamily="34" charset="0"/>
              </a:rPr>
              <a:t>→ Bank Marketing Dataset</a:t>
            </a:r>
          </a:p>
          <a:p>
            <a:pPr marL="285750" indent="-285750">
              <a:buFont typeface="Wingdings" panose="05000000000000000000" pitchFamily="2" charset="2"/>
              <a:buChar char="Ø"/>
            </a:pPr>
            <a:r>
              <a:rPr lang="de-DE" dirty="0">
                <a:latin typeface="Calibri" panose="020F0502020204030204" pitchFamily="34" charset="0"/>
                <a:ea typeface="Calibri" panose="020F0502020204030204" pitchFamily="34" charset="0"/>
                <a:cs typeface="Calibri" panose="020F0502020204030204" pitchFamily="34" charset="0"/>
              </a:rPr>
              <a:t>Explorative Datenanalyse (EDA)    </a:t>
            </a:r>
            <a:br>
              <a:rPr lang="de-DE" dirty="0">
                <a:latin typeface="Calibri" panose="020F0502020204030204" pitchFamily="34" charset="0"/>
                <a:ea typeface="Calibri" panose="020F0502020204030204" pitchFamily="34" charset="0"/>
                <a:cs typeface="Calibri" panose="020F0502020204030204" pitchFamily="34" charset="0"/>
              </a:rPr>
            </a:br>
            <a:r>
              <a:rPr lang="de-DE" dirty="0">
                <a:latin typeface="Calibri" panose="020F0502020204030204" pitchFamily="34" charset="0"/>
                <a:ea typeface="Calibri" panose="020F0502020204030204" pitchFamily="34" charset="0"/>
                <a:cs typeface="Calibri" panose="020F0502020204030204" pitchFamily="34" charset="0"/>
              </a:rPr>
              <a:t>→ Grundlage für Modellierung</a:t>
            </a:r>
          </a:p>
        </p:txBody>
      </p:sp>
      <p:sp>
        <p:nvSpPr>
          <p:cNvPr id="6" name="Rechteck 5">
            <a:extLst>
              <a:ext uri="{FF2B5EF4-FFF2-40B4-BE49-F238E27FC236}">
                <a16:creationId xmlns:a16="http://schemas.microsoft.com/office/drawing/2014/main" id="{C4AF07AB-76C4-C395-7E2C-5C5CBAB671AD}"/>
              </a:ext>
            </a:extLst>
          </p:cNvPr>
          <p:cNvSpPr/>
          <p:nvPr/>
        </p:nvSpPr>
        <p:spPr>
          <a:xfrm>
            <a:off x="0" y="2509453"/>
            <a:ext cx="5383034" cy="639100"/>
          </a:xfrm>
          <a:prstGeom prst="rect">
            <a:avLst/>
          </a:prstGeom>
          <a:gradFill flip="none" rotWithShape="1">
            <a:gsLst>
              <a:gs pos="0">
                <a:schemeClr val="accent1">
                  <a:lumMod val="60000"/>
                  <a:lumOff val="40000"/>
                </a:schemeClr>
              </a:gs>
              <a:gs pos="100000">
                <a:schemeClr val="tx2">
                  <a:lumMod val="75000"/>
                  <a:lumOff val="2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800" b="1" dirty="0">
                <a:latin typeface="Calibri" panose="020F0502020204030204" pitchFamily="34" charset="0"/>
                <a:ea typeface="Calibri" panose="020F0502020204030204" pitchFamily="34" charset="0"/>
                <a:cs typeface="Calibri" panose="020F0502020204030204" pitchFamily="34" charset="0"/>
              </a:rPr>
              <a:t>Organisation</a:t>
            </a:r>
          </a:p>
        </p:txBody>
      </p:sp>
      <p:sp>
        <p:nvSpPr>
          <p:cNvPr id="7" name="Rechteck 6">
            <a:extLst>
              <a:ext uri="{FF2B5EF4-FFF2-40B4-BE49-F238E27FC236}">
                <a16:creationId xmlns:a16="http://schemas.microsoft.com/office/drawing/2014/main" id="{BE3E89CE-107E-02C8-685F-F801FB1840C2}"/>
              </a:ext>
            </a:extLst>
          </p:cNvPr>
          <p:cNvSpPr/>
          <p:nvPr/>
        </p:nvSpPr>
        <p:spPr>
          <a:xfrm>
            <a:off x="6808966" y="2509452"/>
            <a:ext cx="5383034" cy="639100"/>
          </a:xfrm>
          <a:prstGeom prst="rect">
            <a:avLst/>
          </a:prstGeom>
          <a:gradFill flip="none" rotWithShape="1">
            <a:gsLst>
              <a:gs pos="0">
                <a:schemeClr val="accent1">
                  <a:lumMod val="60000"/>
                  <a:lumOff val="40000"/>
                </a:schemeClr>
              </a:gs>
              <a:gs pos="100000">
                <a:schemeClr val="tx2">
                  <a:lumMod val="75000"/>
                  <a:lumOff val="2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800" b="1" dirty="0">
                <a:latin typeface="Calibri" panose="020F0502020204030204" pitchFamily="34" charset="0"/>
                <a:ea typeface="Calibri" panose="020F0502020204030204" pitchFamily="34" charset="0"/>
                <a:cs typeface="Calibri" panose="020F0502020204030204" pitchFamily="34" charset="0"/>
              </a:rPr>
              <a:t>Daten &amp; Analyse</a:t>
            </a:r>
          </a:p>
        </p:txBody>
      </p:sp>
      <p:pic>
        <p:nvPicPr>
          <p:cNvPr id="8" name="Grafik 7">
            <a:extLst>
              <a:ext uri="{FF2B5EF4-FFF2-40B4-BE49-F238E27FC236}">
                <a16:creationId xmlns:a16="http://schemas.microsoft.com/office/drawing/2014/main" id="{1534E822-4DF4-C8B8-7B8F-8A82689EA98F}"/>
              </a:ext>
            </a:extLst>
          </p:cNvPr>
          <p:cNvPicPr>
            <a:picLocks noChangeAspect="1"/>
          </p:cNvPicPr>
          <p:nvPr/>
        </p:nvPicPr>
        <p:blipFill>
          <a:blip r:embed="rId3"/>
          <a:stretch>
            <a:fillRect/>
          </a:stretch>
        </p:blipFill>
        <p:spPr>
          <a:xfrm>
            <a:off x="5646292" y="2642751"/>
            <a:ext cx="915317" cy="730699"/>
          </a:xfrm>
          <a:prstGeom prst="rect">
            <a:avLst/>
          </a:prstGeom>
        </p:spPr>
      </p:pic>
      <p:pic>
        <p:nvPicPr>
          <p:cNvPr id="10" name="Grafik 9">
            <a:extLst>
              <a:ext uri="{FF2B5EF4-FFF2-40B4-BE49-F238E27FC236}">
                <a16:creationId xmlns:a16="http://schemas.microsoft.com/office/drawing/2014/main" id="{AC8312CB-75B3-BF45-77F1-6B025D8CDB64}"/>
              </a:ext>
            </a:extLst>
          </p:cNvPr>
          <p:cNvPicPr>
            <a:picLocks noChangeAspect="1"/>
          </p:cNvPicPr>
          <p:nvPr/>
        </p:nvPicPr>
        <p:blipFill>
          <a:blip r:embed="rId4"/>
          <a:stretch>
            <a:fillRect/>
          </a:stretch>
        </p:blipFill>
        <p:spPr>
          <a:xfrm>
            <a:off x="5672410" y="3680909"/>
            <a:ext cx="1012878" cy="784266"/>
          </a:xfrm>
          <a:prstGeom prst="rect">
            <a:avLst/>
          </a:prstGeom>
        </p:spPr>
      </p:pic>
      <p:pic>
        <p:nvPicPr>
          <p:cNvPr id="12" name="Grafik 11">
            <a:extLst>
              <a:ext uri="{FF2B5EF4-FFF2-40B4-BE49-F238E27FC236}">
                <a16:creationId xmlns:a16="http://schemas.microsoft.com/office/drawing/2014/main" id="{ACF9348F-34D7-F4F3-2ACF-B0F907BD2483}"/>
              </a:ext>
            </a:extLst>
          </p:cNvPr>
          <p:cNvPicPr>
            <a:picLocks noChangeAspect="1"/>
          </p:cNvPicPr>
          <p:nvPr/>
        </p:nvPicPr>
        <p:blipFill>
          <a:blip r:embed="rId5"/>
          <a:stretch>
            <a:fillRect/>
          </a:stretch>
        </p:blipFill>
        <p:spPr>
          <a:xfrm>
            <a:off x="5736138" y="4682777"/>
            <a:ext cx="831038" cy="730842"/>
          </a:xfrm>
          <a:prstGeom prst="rect">
            <a:avLst/>
          </a:prstGeom>
        </p:spPr>
      </p:pic>
    </p:spTree>
    <p:extLst>
      <p:ext uri="{BB962C8B-B14F-4D97-AF65-F5344CB8AC3E}">
        <p14:creationId xmlns:p14="http://schemas.microsoft.com/office/powerpoint/2010/main" val="15984629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C2B062A-950F-B664-441B-3221EE87B8A1}"/>
              </a:ext>
            </a:extLst>
          </p:cNvPr>
          <p:cNvSpPr>
            <a:spLocks noGrp="1"/>
          </p:cNvSpPr>
          <p:nvPr>
            <p:ph type="title"/>
          </p:nvPr>
        </p:nvSpPr>
        <p:spPr/>
        <p:txBody>
          <a:bodyPr>
            <a:normAutofit/>
          </a:bodyPr>
          <a:lstStyle/>
          <a:p>
            <a:r>
              <a:rPr lang="de-DE" sz="3600" dirty="0"/>
              <a:t>AUS ROHDATEN WERDEN KUNDENPROFILE</a:t>
            </a:r>
          </a:p>
        </p:txBody>
      </p:sp>
      <p:sp>
        <p:nvSpPr>
          <p:cNvPr id="4" name="Textfeld 3">
            <a:extLst>
              <a:ext uri="{FF2B5EF4-FFF2-40B4-BE49-F238E27FC236}">
                <a16:creationId xmlns:a16="http://schemas.microsoft.com/office/drawing/2014/main" id="{CBC6A1B2-62CC-2685-355A-0D758D2ED634}"/>
              </a:ext>
            </a:extLst>
          </p:cNvPr>
          <p:cNvSpPr txBox="1"/>
          <p:nvPr/>
        </p:nvSpPr>
        <p:spPr>
          <a:xfrm>
            <a:off x="0" y="2005265"/>
            <a:ext cx="12192000" cy="1042735"/>
          </a:xfrm>
          <a:prstGeom prst="rect">
            <a:avLst/>
          </a:prstGeom>
          <a:gradFill>
            <a:gsLst>
              <a:gs pos="100000">
                <a:srgbClr val="FF0000"/>
              </a:gs>
              <a:gs pos="65000">
                <a:schemeClr val="accent5">
                  <a:lumMod val="75000"/>
                </a:schemeClr>
              </a:gs>
              <a:gs pos="38000">
                <a:schemeClr val="tx2">
                  <a:lumMod val="75000"/>
                  <a:lumOff val="25000"/>
                </a:schemeClr>
              </a:gs>
              <a:gs pos="0">
                <a:schemeClr val="accent1">
                  <a:lumMod val="60000"/>
                  <a:lumOff val="4000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tIns="0" rtlCol="0" anchor="ctr"/>
          <a:lstStyle>
            <a:defPPr>
              <a:defRPr lang="de-DE"/>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nSpc>
                <a:spcPct val="150000"/>
              </a:lnSpc>
            </a:pPr>
            <a:r>
              <a:rPr lang="de-DE" sz="2400" dirty="0"/>
              <a:t>Clustering                                       Segmentierung                                  Profilbildung</a:t>
            </a:r>
            <a:endParaRPr lang="de-DE" sz="2400" dirty="0">
              <a:latin typeface="Calibri" panose="020F0502020204030204" pitchFamily="34" charset="0"/>
              <a:ea typeface="Calibri" panose="020F0502020204030204" pitchFamily="34" charset="0"/>
              <a:cs typeface="Calibri" panose="020F0502020204030204" pitchFamily="34" charset="0"/>
            </a:endParaRPr>
          </a:p>
        </p:txBody>
      </p:sp>
      <p:sp>
        <p:nvSpPr>
          <p:cNvPr id="5" name="Pfeil: nach rechts 4">
            <a:extLst>
              <a:ext uri="{FF2B5EF4-FFF2-40B4-BE49-F238E27FC236}">
                <a16:creationId xmlns:a16="http://schemas.microsoft.com/office/drawing/2014/main" id="{EE0E35AC-D6D9-0391-45CF-65CBCB6BD281}"/>
              </a:ext>
            </a:extLst>
          </p:cNvPr>
          <p:cNvSpPr/>
          <p:nvPr/>
        </p:nvSpPr>
        <p:spPr>
          <a:xfrm>
            <a:off x="3562124" y="2394810"/>
            <a:ext cx="745925" cy="367244"/>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 name="Pfeil: nach rechts 5">
            <a:extLst>
              <a:ext uri="{FF2B5EF4-FFF2-40B4-BE49-F238E27FC236}">
                <a16:creationId xmlns:a16="http://schemas.microsoft.com/office/drawing/2014/main" id="{09C83EE9-270E-FC75-4FB1-7FBEF579D133}"/>
              </a:ext>
            </a:extLst>
          </p:cNvPr>
          <p:cNvSpPr/>
          <p:nvPr/>
        </p:nvSpPr>
        <p:spPr>
          <a:xfrm>
            <a:off x="7881176" y="2394810"/>
            <a:ext cx="745925" cy="367244"/>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feld 6">
            <a:extLst>
              <a:ext uri="{FF2B5EF4-FFF2-40B4-BE49-F238E27FC236}">
                <a16:creationId xmlns:a16="http://schemas.microsoft.com/office/drawing/2014/main" id="{FA1E3360-A08D-8A99-20D0-F3F9E7FC2F5E}"/>
              </a:ext>
            </a:extLst>
          </p:cNvPr>
          <p:cNvSpPr txBox="1"/>
          <p:nvPr/>
        </p:nvSpPr>
        <p:spPr>
          <a:xfrm>
            <a:off x="758604" y="3249177"/>
            <a:ext cx="2473909" cy="1354217"/>
          </a:xfrm>
          <a:prstGeom prst="rect">
            <a:avLst/>
          </a:prstGeom>
          <a:noFill/>
        </p:spPr>
        <p:txBody>
          <a:bodyPr wrap="square" rtlCol="0">
            <a:spAutoFit/>
          </a:bodyPr>
          <a:lstStyle/>
          <a:p>
            <a:pPr marL="285750" indent="-285750">
              <a:spcAft>
                <a:spcPts val="1200"/>
              </a:spcAft>
              <a:buFont typeface="Wingdings" panose="05000000000000000000" pitchFamily="2" charset="2"/>
              <a:buChar char="Ø"/>
            </a:pPr>
            <a:r>
              <a:rPr lang="de-DE" dirty="0">
                <a:latin typeface="Calibri" panose="020F0502020204030204" pitchFamily="34" charset="0"/>
                <a:ea typeface="Calibri" panose="020F0502020204030204" pitchFamily="34" charset="0"/>
                <a:cs typeface="Calibri" panose="020F0502020204030204" pitchFamily="34" charset="0"/>
              </a:rPr>
              <a:t>Clustering mit </a:t>
            </a:r>
            <a:br>
              <a:rPr lang="de-DE" dirty="0">
                <a:latin typeface="Calibri" panose="020F0502020204030204" pitchFamily="34" charset="0"/>
                <a:ea typeface="Calibri" panose="020F0502020204030204" pitchFamily="34" charset="0"/>
                <a:cs typeface="Calibri" panose="020F0502020204030204" pitchFamily="34" charset="0"/>
              </a:rPr>
            </a:br>
            <a:r>
              <a:rPr lang="de-DE" dirty="0">
                <a:latin typeface="Calibri" panose="020F0502020204030204" pitchFamily="34" charset="0"/>
                <a:ea typeface="Calibri" panose="020F0502020204030204" pitchFamily="34" charset="0"/>
                <a:cs typeface="Calibri" panose="020F0502020204030204" pitchFamily="34" charset="0"/>
              </a:rPr>
              <a:t>K-</a:t>
            </a:r>
            <a:r>
              <a:rPr lang="de-DE" dirty="0" err="1">
                <a:latin typeface="Calibri" panose="020F0502020204030204" pitchFamily="34" charset="0"/>
                <a:ea typeface="Calibri" panose="020F0502020204030204" pitchFamily="34" charset="0"/>
                <a:cs typeface="Calibri" panose="020F0502020204030204" pitchFamily="34" charset="0"/>
              </a:rPr>
              <a:t>Means</a:t>
            </a:r>
            <a:r>
              <a:rPr lang="de-DE" dirty="0">
                <a:latin typeface="Calibri" panose="020F0502020204030204" pitchFamily="34" charset="0"/>
                <a:ea typeface="Calibri" panose="020F0502020204030204" pitchFamily="34" charset="0"/>
                <a:cs typeface="Calibri" panose="020F0502020204030204" pitchFamily="34" charset="0"/>
              </a:rPr>
              <a:t> &amp; DBSCAN</a:t>
            </a:r>
          </a:p>
          <a:p>
            <a:pPr marL="285750" indent="-285750">
              <a:buFont typeface="Wingdings" panose="05000000000000000000" pitchFamily="2" charset="2"/>
              <a:buChar char="Ø"/>
            </a:pPr>
            <a:r>
              <a:rPr lang="de-DE" dirty="0">
                <a:latin typeface="Calibri" panose="020F0502020204030204" pitchFamily="34" charset="0"/>
                <a:ea typeface="Calibri" panose="020F0502020204030204" pitchFamily="34" charset="0"/>
                <a:cs typeface="Calibri" panose="020F0502020204030204" pitchFamily="34" charset="0"/>
              </a:rPr>
              <a:t>Gruppen ähnlicher Kunden identifiziert</a:t>
            </a:r>
          </a:p>
        </p:txBody>
      </p:sp>
      <p:sp>
        <p:nvSpPr>
          <p:cNvPr id="8" name="Textfeld 7">
            <a:extLst>
              <a:ext uri="{FF2B5EF4-FFF2-40B4-BE49-F238E27FC236}">
                <a16:creationId xmlns:a16="http://schemas.microsoft.com/office/drawing/2014/main" id="{942C98DF-426C-B93D-1FF3-BDAD7B1AAB62}"/>
              </a:ext>
            </a:extLst>
          </p:cNvPr>
          <p:cNvSpPr txBox="1"/>
          <p:nvPr/>
        </p:nvSpPr>
        <p:spPr>
          <a:xfrm>
            <a:off x="4873659" y="3249177"/>
            <a:ext cx="2658358" cy="646331"/>
          </a:xfrm>
          <a:prstGeom prst="rect">
            <a:avLst/>
          </a:prstGeom>
          <a:noFill/>
        </p:spPr>
        <p:txBody>
          <a:bodyPr wrap="square" rtlCol="0">
            <a:spAutoFit/>
          </a:bodyPr>
          <a:lstStyle/>
          <a:p>
            <a:pPr marL="285750" indent="-285750">
              <a:spcAft>
                <a:spcPts val="1200"/>
              </a:spcAft>
              <a:buFont typeface="Wingdings" panose="05000000000000000000" pitchFamily="2" charset="2"/>
              <a:buChar char="Ø"/>
            </a:pPr>
            <a:r>
              <a:rPr lang="de-DE" dirty="0">
                <a:latin typeface="Calibri" panose="020F0502020204030204" pitchFamily="34" charset="0"/>
                <a:ea typeface="Calibri" panose="020F0502020204030204" pitchFamily="34" charset="0"/>
                <a:cs typeface="Calibri" panose="020F0502020204030204" pitchFamily="34" charset="0"/>
              </a:rPr>
              <a:t>Segmente interpretiert &amp; benannt</a:t>
            </a:r>
          </a:p>
        </p:txBody>
      </p:sp>
      <p:sp>
        <p:nvSpPr>
          <p:cNvPr id="9" name="Textfeld 8">
            <a:extLst>
              <a:ext uri="{FF2B5EF4-FFF2-40B4-BE49-F238E27FC236}">
                <a16:creationId xmlns:a16="http://schemas.microsoft.com/office/drawing/2014/main" id="{864F3C56-A47B-1BA3-E652-8F4659846380}"/>
              </a:ext>
            </a:extLst>
          </p:cNvPr>
          <p:cNvSpPr txBox="1"/>
          <p:nvPr/>
        </p:nvSpPr>
        <p:spPr>
          <a:xfrm>
            <a:off x="9166874" y="3249176"/>
            <a:ext cx="2473909" cy="1277273"/>
          </a:xfrm>
          <a:prstGeom prst="rect">
            <a:avLst/>
          </a:prstGeom>
          <a:noFill/>
        </p:spPr>
        <p:txBody>
          <a:bodyPr wrap="square" rtlCol="0">
            <a:spAutoFit/>
          </a:bodyPr>
          <a:lstStyle/>
          <a:p>
            <a:pPr marL="285750" indent="-285750">
              <a:spcAft>
                <a:spcPts val="600"/>
              </a:spcAft>
              <a:buFont typeface="Wingdings" panose="05000000000000000000" pitchFamily="2" charset="2"/>
              <a:buChar char="Ø"/>
            </a:pPr>
            <a:r>
              <a:rPr lang="de-DE" dirty="0">
                <a:latin typeface="Calibri" panose="020F0502020204030204" pitchFamily="34" charset="0"/>
                <a:ea typeface="Calibri" panose="020F0502020204030204" pitchFamily="34" charset="0"/>
                <a:cs typeface="Calibri" panose="020F0502020204030204" pitchFamily="34" charset="0"/>
              </a:rPr>
              <a:t>Profile erstellt:</a:t>
            </a:r>
          </a:p>
          <a:p>
            <a:pPr marL="742950" lvl="1" indent="-285750">
              <a:buFont typeface="Wingdings" panose="05000000000000000000" pitchFamily="2" charset="2"/>
              <a:buChar char="à"/>
            </a:pPr>
            <a:r>
              <a:rPr lang="de-DE" dirty="0">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Kennzahlen</a:t>
            </a:r>
          </a:p>
          <a:p>
            <a:pPr marL="742950" lvl="1" indent="-285750">
              <a:buFont typeface="Wingdings" panose="05000000000000000000" pitchFamily="2" charset="2"/>
              <a:buChar char="à"/>
            </a:pPr>
            <a:r>
              <a:rPr lang="de-DE" dirty="0">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Verhalten</a:t>
            </a:r>
          </a:p>
          <a:p>
            <a:pPr marL="742950" lvl="1" indent="-285750">
              <a:buFont typeface="Wingdings" panose="05000000000000000000" pitchFamily="2" charset="2"/>
              <a:buChar char="à"/>
            </a:pPr>
            <a:r>
              <a:rPr lang="de-DE" dirty="0">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Visualisierungen</a:t>
            </a:r>
            <a:endParaRPr lang="de-DE" dirty="0">
              <a:latin typeface="Calibri" panose="020F0502020204030204" pitchFamily="34" charset="0"/>
              <a:ea typeface="Calibri" panose="020F0502020204030204" pitchFamily="34" charset="0"/>
              <a:cs typeface="Calibri" panose="020F0502020204030204" pitchFamily="34" charset="0"/>
            </a:endParaRPr>
          </a:p>
        </p:txBody>
      </p:sp>
      <p:pic>
        <p:nvPicPr>
          <p:cNvPr id="10" name="Grafik 9" descr="Ein Bild, das Kinderkunst, Grafiken, Kunst, Design enthält.&#10;&#10;KI-generierte Inhalte können fehlerhaft sein.">
            <a:extLst>
              <a:ext uri="{FF2B5EF4-FFF2-40B4-BE49-F238E27FC236}">
                <a16:creationId xmlns:a16="http://schemas.microsoft.com/office/drawing/2014/main" id="{C2327BD0-EEE1-1780-B926-4D1FD0525D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9237" y="4804571"/>
            <a:ext cx="2194737" cy="1463158"/>
          </a:xfrm>
          <a:prstGeom prst="rect">
            <a:avLst/>
          </a:prstGeom>
        </p:spPr>
      </p:pic>
      <p:pic>
        <p:nvPicPr>
          <p:cNvPr id="11" name="Grafik 10">
            <a:extLst>
              <a:ext uri="{FF2B5EF4-FFF2-40B4-BE49-F238E27FC236}">
                <a16:creationId xmlns:a16="http://schemas.microsoft.com/office/drawing/2014/main" id="{309193E6-CC87-4293-93CA-F81A465BB4F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390707" y="4694110"/>
            <a:ext cx="1573619" cy="1573619"/>
          </a:xfrm>
          <a:prstGeom prst="rect">
            <a:avLst/>
          </a:prstGeom>
        </p:spPr>
      </p:pic>
      <p:pic>
        <p:nvPicPr>
          <p:cNvPr id="12" name="Grafik 11">
            <a:extLst>
              <a:ext uri="{FF2B5EF4-FFF2-40B4-BE49-F238E27FC236}">
                <a16:creationId xmlns:a16="http://schemas.microsoft.com/office/drawing/2014/main" id="{5E4F41CC-100E-092E-33A4-273D2FF5BFA7}"/>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306459" y="4804571"/>
            <a:ext cx="2194737" cy="1463158"/>
          </a:xfrm>
          <a:prstGeom prst="rect">
            <a:avLst/>
          </a:prstGeom>
        </p:spPr>
      </p:pic>
      <p:sp>
        <p:nvSpPr>
          <p:cNvPr id="13" name="Textfeld 12">
            <a:extLst>
              <a:ext uri="{FF2B5EF4-FFF2-40B4-BE49-F238E27FC236}">
                <a16:creationId xmlns:a16="http://schemas.microsoft.com/office/drawing/2014/main" id="{12A14E1C-A639-4FB2-7919-E38F047E2667}"/>
              </a:ext>
            </a:extLst>
          </p:cNvPr>
          <p:cNvSpPr txBox="1"/>
          <p:nvPr/>
        </p:nvSpPr>
        <p:spPr>
          <a:xfrm>
            <a:off x="262453" y="6492875"/>
            <a:ext cx="2062716" cy="215444"/>
          </a:xfrm>
          <a:prstGeom prst="rect">
            <a:avLst/>
          </a:prstGeom>
          <a:noFill/>
        </p:spPr>
        <p:txBody>
          <a:bodyPr wrap="square" rtlCol="0">
            <a:spAutoFit/>
          </a:bodyPr>
          <a:lstStyle/>
          <a:p>
            <a:r>
              <a:rPr lang="de-DE" sz="800" b="0" i="0" dirty="0">
                <a:solidFill>
                  <a:schemeClr val="bg2">
                    <a:lumMod val="50000"/>
                  </a:schemeClr>
                </a:solidFill>
                <a:effectLst/>
                <a:latin typeface="Calibri" panose="020F0502020204030204" pitchFamily="34" charset="0"/>
                <a:ea typeface="Calibri" panose="020F0502020204030204" pitchFamily="34" charset="0"/>
                <a:cs typeface="Calibri" panose="020F0502020204030204" pitchFamily="34" charset="0"/>
              </a:rPr>
              <a:t>Bild von </a:t>
            </a:r>
            <a:r>
              <a:rPr lang="de-DE" sz="800" b="0" i="0" dirty="0" err="1">
                <a:solidFill>
                  <a:schemeClr val="bg2">
                    <a:lumMod val="50000"/>
                  </a:schemeClr>
                </a:solidFill>
                <a:effectLst/>
                <a:latin typeface="Calibri" panose="020F0502020204030204" pitchFamily="34" charset="0"/>
                <a:ea typeface="Calibri" panose="020F0502020204030204" pitchFamily="34" charset="0"/>
                <a:cs typeface="Calibri" panose="020F0502020204030204" pitchFamily="34" charset="0"/>
              </a:rPr>
              <a:t>vectorjuice</a:t>
            </a:r>
            <a:r>
              <a:rPr lang="de-DE" sz="800" b="0" i="0" dirty="0">
                <a:solidFill>
                  <a:schemeClr val="bg2">
                    <a:lumMod val="50000"/>
                  </a:schemeClr>
                </a:solidFill>
                <a:effectLst/>
                <a:latin typeface="Calibri" panose="020F0502020204030204" pitchFamily="34" charset="0"/>
                <a:ea typeface="Calibri" panose="020F0502020204030204" pitchFamily="34" charset="0"/>
                <a:cs typeface="Calibri" panose="020F0502020204030204" pitchFamily="34" charset="0"/>
              </a:rPr>
              <a:t> auf </a:t>
            </a:r>
            <a:r>
              <a:rPr lang="de-DE" sz="800" b="0" i="0" dirty="0" err="1">
                <a:solidFill>
                  <a:schemeClr val="bg2">
                    <a:lumMod val="50000"/>
                  </a:schemeClr>
                </a:solidFill>
                <a:effectLst/>
                <a:latin typeface="Calibri" panose="020F0502020204030204" pitchFamily="34" charset="0"/>
                <a:ea typeface="Calibri" panose="020F0502020204030204" pitchFamily="34" charset="0"/>
                <a:cs typeface="Calibri" panose="020F0502020204030204" pitchFamily="34" charset="0"/>
              </a:rPr>
              <a:t>Freepik</a:t>
            </a:r>
            <a:endParaRPr lang="de-DE" sz="800" dirty="0">
              <a:solidFill>
                <a:schemeClr val="bg2">
                  <a:lumMod val="50000"/>
                </a:schemeClr>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9358166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C6318EC-1EF3-DAB7-9DC4-91662525307F}"/>
              </a:ext>
            </a:extLst>
          </p:cNvPr>
          <p:cNvSpPr>
            <a:spLocks noGrp="1"/>
          </p:cNvSpPr>
          <p:nvPr>
            <p:ph type="title"/>
          </p:nvPr>
        </p:nvSpPr>
        <p:spPr/>
        <p:txBody>
          <a:bodyPr/>
          <a:lstStyle/>
          <a:p>
            <a:r>
              <a:rPr lang="de-DE" sz="3600" dirty="0"/>
              <a:t>DIE RICHTIGEN KUNDEN ERKENNEN</a:t>
            </a:r>
            <a:endParaRPr lang="de-DE" dirty="0"/>
          </a:p>
        </p:txBody>
      </p:sp>
      <p:graphicFrame>
        <p:nvGraphicFramePr>
          <p:cNvPr id="4" name="Inhaltsplatzhalter 3">
            <a:extLst>
              <a:ext uri="{FF2B5EF4-FFF2-40B4-BE49-F238E27FC236}">
                <a16:creationId xmlns:a16="http://schemas.microsoft.com/office/drawing/2014/main" id="{7795CAEF-02EF-0991-4F27-35943AF92E63}"/>
              </a:ext>
            </a:extLst>
          </p:cNvPr>
          <p:cNvGraphicFramePr>
            <a:graphicFrameLocks noGrp="1"/>
          </p:cNvGraphicFramePr>
          <p:nvPr>
            <p:ph idx="1"/>
            <p:extLst>
              <p:ext uri="{D42A27DB-BD31-4B8C-83A1-F6EECF244321}">
                <p14:modId xmlns:p14="http://schemas.microsoft.com/office/powerpoint/2010/main" val="1210519132"/>
              </p:ext>
            </p:extLst>
          </p:nvPr>
        </p:nvGraphicFramePr>
        <p:xfrm>
          <a:off x="838200" y="2655187"/>
          <a:ext cx="10515597" cy="1483360"/>
        </p:xfrm>
        <a:graphic>
          <a:graphicData uri="http://schemas.openxmlformats.org/drawingml/2006/table">
            <a:tbl>
              <a:tblPr firstRow="1" bandRow="1">
                <a:tableStyleId>{5C22544A-7EE6-4342-B048-85BDC9FD1C3A}</a:tableStyleId>
              </a:tblPr>
              <a:tblGrid>
                <a:gridCol w="2668571">
                  <a:extLst>
                    <a:ext uri="{9D8B030D-6E8A-4147-A177-3AD203B41FA5}">
                      <a16:colId xmlns:a16="http://schemas.microsoft.com/office/drawing/2014/main" val="3022395414"/>
                    </a:ext>
                  </a:extLst>
                </a:gridCol>
                <a:gridCol w="5184742">
                  <a:extLst>
                    <a:ext uri="{9D8B030D-6E8A-4147-A177-3AD203B41FA5}">
                      <a16:colId xmlns:a16="http://schemas.microsoft.com/office/drawing/2014/main" val="2822519243"/>
                    </a:ext>
                  </a:extLst>
                </a:gridCol>
                <a:gridCol w="2662284">
                  <a:extLst>
                    <a:ext uri="{9D8B030D-6E8A-4147-A177-3AD203B41FA5}">
                      <a16:colId xmlns:a16="http://schemas.microsoft.com/office/drawing/2014/main" val="1599101031"/>
                    </a:ext>
                  </a:extLst>
                </a:gridCol>
              </a:tblGrid>
              <a:tr h="370840">
                <a:tc>
                  <a:txBody>
                    <a:bodyPr/>
                    <a:lstStyle/>
                    <a:p>
                      <a:r>
                        <a:rPr lang="de-DE" dirty="0"/>
                        <a:t>Kundentyp</a:t>
                      </a:r>
                    </a:p>
                  </a:txBody>
                  <a:tcPr/>
                </a:tc>
                <a:tc>
                  <a:txBody>
                    <a:bodyPr/>
                    <a:lstStyle/>
                    <a:p>
                      <a:r>
                        <a:rPr lang="de-DE" dirty="0"/>
                        <a:t>Beschreibung</a:t>
                      </a:r>
                    </a:p>
                  </a:txBody>
                  <a:tcPr/>
                </a:tc>
                <a:tc>
                  <a:txBody>
                    <a:bodyPr/>
                    <a:lstStyle/>
                    <a:p>
                      <a:r>
                        <a:rPr lang="de-DE" dirty="0"/>
                        <a:t>Von 100 kaufen</a:t>
                      </a:r>
                    </a:p>
                  </a:txBody>
                  <a:tcPr/>
                </a:tc>
                <a:extLst>
                  <a:ext uri="{0D108BD9-81ED-4DB2-BD59-A6C34878D82A}">
                    <a16:rowId xmlns:a16="http://schemas.microsoft.com/office/drawing/2014/main" val="1915934875"/>
                  </a:ext>
                </a:extLst>
              </a:tr>
              <a:tr h="370840">
                <a:tc>
                  <a:txBody>
                    <a:bodyPr/>
                    <a:lstStyle/>
                    <a:p>
                      <a:r>
                        <a:rPr lang="de-DE" dirty="0"/>
                        <a:t>Champions (0,7%)</a:t>
                      </a:r>
                    </a:p>
                  </a:txBody>
                  <a:tcPr/>
                </a:tc>
                <a:tc>
                  <a:txBody>
                    <a:bodyPr/>
                    <a:lstStyle/>
                    <a:p>
                      <a:r>
                        <a:rPr lang="de-DE" dirty="0"/>
                        <a:t>sehr aktiv, haben bereits gekauft</a:t>
                      </a:r>
                    </a:p>
                  </a:txBody>
                  <a:tcPr/>
                </a:tc>
                <a:tc>
                  <a:txBody>
                    <a:bodyPr/>
                    <a:lstStyle/>
                    <a:p>
                      <a:r>
                        <a:rPr lang="de-DE" dirty="0"/>
                        <a:t>11 Personen</a:t>
                      </a:r>
                    </a:p>
                  </a:txBody>
                  <a:tcPr/>
                </a:tc>
                <a:extLst>
                  <a:ext uri="{0D108BD9-81ED-4DB2-BD59-A6C34878D82A}">
                    <a16:rowId xmlns:a16="http://schemas.microsoft.com/office/drawing/2014/main" val="3148067746"/>
                  </a:ext>
                </a:extLst>
              </a:tr>
              <a:tr h="370840">
                <a:tc>
                  <a:txBody>
                    <a:bodyPr/>
                    <a:lstStyle/>
                    <a:p>
                      <a:r>
                        <a:rPr lang="de-DE" dirty="0"/>
                        <a:t>Loyal </a:t>
                      </a:r>
                      <a:r>
                        <a:rPr lang="de-DE" dirty="0" err="1"/>
                        <a:t>Buyers</a:t>
                      </a:r>
                      <a:r>
                        <a:rPr lang="de-DE" dirty="0"/>
                        <a:t> (5,1%)</a:t>
                      </a:r>
                    </a:p>
                  </a:txBody>
                  <a:tcPr/>
                </a:tc>
                <a:tc>
                  <a:txBody>
                    <a:bodyPr/>
                    <a:lstStyle/>
                    <a:p>
                      <a:r>
                        <a:rPr lang="de-DE" dirty="0"/>
                        <a:t>regelmäßig aktiv, aber noch kein Kauf</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4 Personen</a:t>
                      </a:r>
                    </a:p>
                  </a:txBody>
                  <a:tcPr/>
                </a:tc>
                <a:extLst>
                  <a:ext uri="{0D108BD9-81ED-4DB2-BD59-A6C34878D82A}">
                    <a16:rowId xmlns:a16="http://schemas.microsoft.com/office/drawing/2014/main" val="946702251"/>
                  </a:ext>
                </a:extLst>
              </a:tr>
              <a:tr h="370840">
                <a:tc>
                  <a:txBody>
                    <a:bodyPr/>
                    <a:lstStyle/>
                    <a:p>
                      <a:r>
                        <a:rPr lang="de-DE" dirty="0"/>
                        <a:t>Passive (94,2%)</a:t>
                      </a:r>
                    </a:p>
                  </a:txBody>
                  <a:tcPr/>
                </a:tc>
                <a:tc>
                  <a:txBody>
                    <a:bodyPr/>
                    <a:lstStyle/>
                    <a:p>
                      <a:r>
                        <a:rPr lang="de-DE" dirty="0"/>
                        <a:t>kaum aktiv, einmal geklickt, nie wiedergekommen</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0,1 Personen</a:t>
                      </a:r>
                    </a:p>
                  </a:txBody>
                  <a:tcPr/>
                </a:tc>
                <a:extLst>
                  <a:ext uri="{0D108BD9-81ED-4DB2-BD59-A6C34878D82A}">
                    <a16:rowId xmlns:a16="http://schemas.microsoft.com/office/drawing/2014/main" val="3905741525"/>
                  </a:ext>
                </a:extLst>
              </a:tr>
            </a:tbl>
          </a:graphicData>
        </a:graphic>
      </p:graphicFrame>
      <p:sp>
        <p:nvSpPr>
          <p:cNvPr id="5" name="Textfeld 4">
            <a:extLst>
              <a:ext uri="{FF2B5EF4-FFF2-40B4-BE49-F238E27FC236}">
                <a16:creationId xmlns:a16="http://schemas.microsoft.com/office/drawing/2014/main" id="{507D9A12-5C3F-662F-4A75-D163F5DD4345}"/>
              </a:ext>
            </a:extLst>
          </p:cNvPr>
          <p:cNvSpPr txBox="1"/>
          <p:nvPr/>
        </p:nvSpPr>
        <p:spPr>
          <a:xfrm>
            <a:off x="0" y="4723138"/>
            <a:ext cx="12192000" cy="705898"/>
          </a:xfrm>
          <a:prstGeom prst="rect">
            <a:avLst/>
          </a:prstGeom>
          <a:gradFill>
            <a:gsLst>
              <a:gs pos="100000">
                <a:schemeClr val="tx2">
                  <a:lumMod val="75000"/>
                  <a:lumOff val="25000"/>
                </a:schemeClr>
              </a:gs>
              <a:gs pos="0">
                <a:schemeClr val="accent1">
                  <a:lumMod val="60000"/>
                  <a:lumOff val="4000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de-DE"/>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de-DE" sz="2400" b="1" dirty="0">
                <a:latin typeface="Calibri" panose="020F0502020204030204" pitchFamily="34" charset="0"/>
                <a:ea typeface="Calibri" panose="020F0502020204030204" pitchFamily="34" charset="0"/>
                <a:cs typeface="Calibri" panose="020F0502020204030204" pitchFamily="34" charset="0"/>
              </a:rPr>
              <a:t>Champions</a:t>
            </a:r>
            <a:r>
              <a:rPr lang="de-DE" dirty="0">
                <a:latin typeface="Calibri" panose="020F0502020204030204" pitchFamily="34" charset="0"/>
                <a:ea typeface="Calibri" panose="020F0502020204030204" pitchFamily="34" charset="0"/>
                <a:cs typeface="Calibri" panose="020F0502020204030204" pitchFamily="34" charset="0"/>
              </a:rPr>
              <a:t> kaufen </a:t>
            </a:r>
            <a:r>
              <a:rPr lang="de-DE" sz="2400" b="1" dirty="0">
                <a:latin typeface="Calibri" panose="020F0502020204030204" pitchFamily="34" charset="0"/>
                <a:ea typeface="Calibri" panose="020F0502020204030204" pitchFamily="34" charset="0"/>
                <a:cs typeface="Calibri" panose="020F0502020204030204" pitchFamily="34" charset="0"/>
              </a:rPr>
              <a:t>75-mal häufiger </a:t>
            </a:r>
            <a:r>
              <a:rPr lang="de-DE" dirty="0">
                <a:latin typeface="Calibri" panose="020F0502020204030204" pitchFamily="34" charset="0"/>
                <a:ea typeface="Calibri" panose="020F0502020204030204" pitchFamily="34" charset="0"/>
                <a:cs typeface="Calibri" panose="020F0502020204030204" pitchFamily="34" charset="0"/>
              </a:rPr>
              <a:t>als passive Nutzer — obwohl sie nur </a:t>
            </a:r>
            <a:r>
              <a:rPr lang="de-DE" sz="2400" b="1" dirty="0">
                <a:latin typeface="Calibri" panose="020F0502020204030204" pitchFamily="34" charset="0"/>
                <a:ea typeface="Calibri" panose="020F0502020204030204" pitchFamily="34" charset="0"/>
                <a:cs typeface="Calibri" panose="020F0502020204030204" pitchFamily="34" charset="0"/>
              </a:rPr>
              <a:t>0,7% </a:t>
            </a:r>
            <a:r>
              <a:rPr lang="de-DE" dirty="0">
                <a:latin typeface="Calibri" panose="020F0502020204030204" pitchFamily="34" charset="0"/>
                <a:ea typeface="Calibri" panose="020F0502020204030204" pitchFamily="34" charset="0"/>
                <a:cs typeface="Calibri" panose="020F0502020204030204" pitchFamily="34" charset="0"/>
              </a:rPr>
              <a:t>aller Besucher sind</a:t>
            </a:r>
          </a:p>
        </p:txBody>
      </p:sp>
      <p:sp>
        <p:nvSpPr>
          <p:cNvPr id="6" name="Textfeld 5">
            <a:extLst>
              <a:ext uri="{FF2B5EF4-FFF2-40B4-BE49-F238E27FC236}">
                <a16:creationId xmlns:a16="http://schemas.microsoft.com/office/drawing/2014/main" id="{DF15814B-7B33-3647-5BB1-B5AD7C1E3F9F}"/>
              </a:ext>
            </a:extLst>
          </p:cNvPr>
          <p:cNvSpPr txBox="1"/>
          <p:nvPr/>
        </p:nvSpPr>
        <p:spPr>
          <a:xfrm>
            <a:off x="782426" y="2139885"/>
            <a:ext cx="4232634" cy="369332"/>
          </a:xfrm>
          <a:prstGeom prst="rect">
            <a:avLst/>
          </a:prstGeom>
          <a:noFill/>
        </p:spPr>
        <p:txBody>
          <a:bodyPr wrap="square" rtlCol="0">
            <a:spAutoFit/>
          </a:bodyPr>
          <a:lstStyle/>
          <a:p>
            <a:r>
              <a:rPr lang="de-DE" dirty="0"/>
              <a:t>Online-Shop (GA4): Drei Kundentypen</a:t>
            </a:r>
          </a:p>
        </p:txBody>
      </p:sp>
    </p:spTree>
    <p:extLst>
      <p:ext uri="{BB962C8B-B14F-4D97-AF65-F5344CB8AC3E}">
        <p14:creationId xmlns:p14="http://schemas.microsoft.com/office/powerpoint/2010/main" val="7752020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C6318EC-1EF3-DAB7-9DC4-91662525307F}"/>
              </a:ext>
            </a:extLst>
          </p:cNvPr>
          <p:cNvSpPr>
            <a:spLocks noGrp="1"/>
          </p:cNvSpPr>
          <p:nvPr>
            <p:ph type="title"/>
          </p:nvPr>
        </p:nvSpPr>
        <p:spPr/>
        <p:txBody>
          <a:bodyPr/>
          <a:lstStyle/>
          <a:p>
            <a:r>
              <a:rPr lang="de-DE" sz="3600" dirty="0"/>
              <a:t>DIE RICHTIGE ZIELGRUPPE ANSPRECHEN</a:t>
            </a:r>
            <a:br>
              <a:rPr lang="de-DE" dirty="0"/>
            </a:br>
            <a:r>
              <a:rPr lang="de-DE" sz="2800" dirty="0"/>
              <a:t>2,4-MAL EFFEKTIVER MIT DEMSELBEN AUFWAND</a:t>
            </a:r>
            <a:endParaRPr lang="de-DE" dirty="0"/>
          </a:p>
        </p:txBody>
      </p:sp>
      <p:graphicFrame>
        <p:nvGraphicFramePr>
          <p:cNvPr id="4" name="Inhaltsplatzhalter 3">
            <a:extLst>
              <a:ext uri="{FF2B5EF4-FFF2-40B4-BE49-F238E27FC236}">
                <a16:creationId xmlns:a16="http://schemas.microsoft.com/office/drawing/2014/main" id="{7795CAEF-02EF-0991-4F27-35943AF92E63}"/>
              </a:ext>
            </a:extLst>
          </p:cNvPr>
          <p:cNvGraphicFramePr>
            <a:graphicFrameLocks noGrp="1"/>
          </p:cNvGraphicFramePr>
          <p:nvPr>
            <p:ph idx="1"/>
            <p:extLst>
              <p:ext uri="{D42A27DB-BD31-4B8C-83A1-F6EECF244321}">
                <p14:modId xmlns:p14="http://schemas.microsoft.com/office/powerpoint/2010/main" val="3088798913"/>
              </p:ext>
            </p:extLst>
          </p:nvPr>
        </p:nvGraphicFramePr>
        <p:xfrm>
          <a:off x="838200" y="2655187"/>
          <a:ext cx="10515597" cy="1112520"/>
        </p:xfrm>
        <a:graphic>
          <a:graphicData uri="http://schemas.openxmlformats.org/drawingml/2006/table">
            <a:tbl>
              <a:tblPr firstRow="1" bandRow="1">
                <a:tableStyleId>{5C22544A-7EE6-4342-B048-85BDC9FD1C3A}</a:tableStyleId>
              </a:tblPr>
              <a:tblGrid>
                <a:gridCol w="2659144">
                  <a:extLst>
                    <a:ext uri="{9D8B030D-6E8A-4147-A177-3AD203B41FA5}">
                      <a16:colId xmlns:a16="http://schemas.microsoft.com/office/drawing/2014/main" val="3022395414"/>
                    </a:ext>
                  </a:extLst>
                </a:gridCol>
                <a:gridCol w="5203596">
                  <a:extLst>
                    <a:ext uri="{9D8B030D-6E8A-4147-A177-3AD203B41FA5}">
                      <a16:colId xmlns:a16="http://schemas.microsoft.com/office/drawing/2014/main" val="2822519243"/>
                    </a:ext>
                  </a:extLst>
                </a:gridCol>
                <a:gridCol w="2652857">
                  <a:extLst>
                    <a:ext uri="{9D8B030D-6E8A-4147-A177-3AD203B41FA5}">
                      <a16:colId xmlns:a16="http://schemas.microsoft.com/office/drawing/2014/main" val="1599101031"/>
                    </a:ext>
                  </a:extLst>
                </a:gridCol>
              </a:tblGrid>
              <a:tr h="370840">
                <a:tc>
                  <a:txBody>
                    <a:bodyPr/>
                    <a:lstStyle/>
                    <a:p>
                      <a:r>
                        <a:rPr lang="de-DE" dirty="0"/>
                        <a:t>Kundentyp</a:t>
                      </a:r>
                    </a:p>
                  </a:txBody>
                  <a:tcPr/>
                </a:tc>
                <a:tc>
                  <a:txBody>
                    <a:bodyPr/>
                    <a:lstStyle/>
                    <a:p>
                      <a:r>
                        <a:rPr lang="de-DE" dirty="0"/>
                        <a:t>Beschreibung</a:t>
                      </a:r>
                    </a:p>
                  </a:txBody>
                  <a:tcPr/>
                </a:tc>
                <a:tc>
                  <a:txBody>
                    <a:bodyPr/>
                    <a:lstStyle/>
                    <a:p>
                      <a:r>
                        <a:rPr lang="de-DE" dirty="0"/>
                        <a:t>Von 100 kaufen</a:t>
                      </a:r>
                    </a:p>
                  </a:txBody>
                  <a:tcPr/>
                </a:tc>
                <a:extLst>
                  <a:ext uri="{0D108BD9-81ED-4DB2-BD59-A6C34878D82A}">
                    <a16:rowId xmlns:a16="http://schemas.microsoft.com/office/drawing/2014/main" val="1915934875"/>
                  </a:ext>
                </a:extLst>
              </a:tr>
              <a:tr h="370840">
                <a:tc>
                  <a:txBody>
                    <a:bodyPr/>
                    <a:lstStyle/>
                    <a:p>
                      <a:r>
                        <a:rPr lang="de-DE" dirty="0" err="1"/>
                        <a:t>Experienced</a:t>
                      </a:r>
                      <a:r>
                        <a:rPr lang="de-DE" dirty="0"/>
                        <a:t> (7,5%)</a:t>
                      </a:r>
                    </a:p>
                  </a:txBody>
                  <a:tcPr/>
                </a:tc>
                <a:tc>
                  <a:txBody>
                    <a:bodyPr/>
                    <a:lstStyle/>
                    <a:p>
                      <a:r>
                        <a:rPr lang="de-DE" dirty="0"/>
                        <a:t>hatten früher positiven Kontakt, finanziell stabiler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26 Personen</a:t>
                      </a:r>
                    </a:p>
                  </a:txBody>
                  <a:tcPr/>
                </a:tc>
                <a:extLst>
                  <a:ext uri="{0D108BD9-81ED-4DB2-BD59-A6C34878D82A}">
                    <a16:rowId xmlns:a16="http://schemas.microsoft.com/office/drawing/2014/main" val="3148067746"/>
                  </a:ext>
                </a:extLst>
              </a:tr>
              <a:tr h="370840">
                <a:tc>
                  <a:txBody>
                    <a:bodyPr/>
                    <a:lstStyle/>
                    <a:p>
                      <a:r>
                        <a:rPr lang="de-DE" dirty="0" err="1"/>
                        <a:t>Mass</a:t>
                      </a:r>
                      <a:r>
                        <a:rPr lang="de-DE" dirty="0"/>
                        <a:t> Market (92,5%)</a:t>
                      </a:r>
                    </a:p>
                  </a:txBody>
                  <a:tcPr/>
                </a:tc>
                <a:tc>
                  <a:txBody>
                    <a:bodyPr/>
                    <a:lstStyle/>
                    <a:p>
                      <a:r>
                        <a:rPr lang="de-DE" dirty="0"/>
                        <a:t>kein Vorwissen, zufälliger Kontakt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11 Personen</a:t>
                      </a:r>
                    </a:p>
                  </a:txBody>
                  <a:tcPr/>
                </a:tc>
                <a:extLst>
                  <a:ext uri="{0D108BD9-81ED-4DB2-BD59-A6C34878D82A}">
                    <a16:rowId xmlns:a16="http://schemas.microsoft.com/office/drawing/2014/main" val="946702251"/>
                  </a:ext>
                </a:extLst>
              </a:tr>
            </a:tbl>
          </a:graphicData>
        </a:graphic>
      </p:graphicFrame>
      <p:sp>
        <p:nvSpPr>
          <p:cNvPr id="5" name="Textfeld 4">
            <a:extLst>
              <a:ext uri="{FF2B5EF4-FFF2-40B4-BE49-F238E27FC236}">
                <a16:creationId xmlns:a16="http://schemas.microsoft.com/office/drawing/2014/main" id="{507D9A12-5C3F-662F-4A75-D163F5DD4345}"/>
              </a:ext>
            </a:extLst>
          </p:cNvPr>
          <p:cNvSpPr txBox="1"/>
          <p:nvPr/>
        </p:nvSpPr>
        <p:spPr>
          <a:xfrm>
            <a:off x="0" y="4723138"/>
            <a:ext cx="12192000" cy="705898"/>
          </a:xfrm>
          <a:prstGeom prst="rect">
            <a:avLst/>
          </a:prstGeom>
          <a:gradFill>
            <a:gsLst>
              <a:gs pos="100000">
                <a:schemeClr val="tx2">
                  <a:lumMod val="75000"/>
                  <a:lumOff val="25000"/>
                </a:schemeClr>
              </a:gs>
              <a:gs pos="0">
                <a:schemeClr val="accent1">
                  <a:lumMod val="60000"/>
                  <a:lumOff val="4000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de-DE"/>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de-DE" sz="2400" b="1" dirty="0">
                <a:latin typeface="Calibri" panose="020F0502020204030204" pitchFamily="34" charset="0"/>
                <a:ea typeface="Calibri" panose="020F0502020204030204" pitchFamily="34" charset="0"/>
                <a:cs typeface="Calibri" panose="020F0502020204030204" pitchFamily="34" charset="0"/>
              </a:rPr>
              <a:t>2,4-mal höhere </a:t>
            </a:r>
            <a:r>
              <a:rPr lang="de-DE" dirty="0">
                <a:latin typeface="Calibri" panose="020F0502020204030204" pitchFamily="34" charset="0"/>
                <a:ea typeface="Calibri" panose="020F0502020204030204" pitchFamily="34" charset="0"/>
                <a:cs typeface="Calibri" panose="020F0502020204030204" pitchFamily="34" charset="0"/>
              </a:rPr>
              <a:t>Erfolgsrate bei </a:t>
            </a:r>
            <a:r>
              <a:rPr lang="de-DE" sz="2400" b="1" dirty="0">
                <a:latin typeface="Calibri" panose="020F0502020204030204" pitchFamily="34" charset="0"/>
                <a:ea typeface="Calibri" panose="020F0502020204030204" pitchFamily="34" charset="0"/>
                <a:cs typeface="Calibri" panose="020F0502020204030204" pitchFamily="34" charset="0"/>
              </a:rPr>
              <a:t>gezielter </a:t>
            </a:r>
            <a:r>
              <a:rPr lang="de-DE" dirty="0">
                <a:latin typeface="Calibri" panose="020F0502020204030204" pitchFamily="34" charset="0"/>
                <a:ea typeface="Calibri" panose="020F0502020204030204" pitchFamily="34" charset="0"/>
                <a:cs typeface="Calibri" panose="020F0502020204030204" pitchFamily="34" charset="0"/>
              </a:rPr>
              <a:t>Ansprache</a:t>
            </a:r>
          </a:p>
        </p:txBody>
      </p:sp>
      <p:sp>
        <p:nvSpPr>
          <p:cNvPr id="6" name="Textfeld 5">
            <a:extLst>
              <a:ext uri="{FF2B5EF4-FFF2-40B4-BE49-F238E27FC236}">
                <a16:creationId xmlns:a16="http://schemas.microsoft.com/office/drawing/2014/main" id="{DF15814B-7B33-3647-5BB1-B5AD7C1E3F9F}"/>
              </a:ext>
            </a:extLst>
          </p:cNvPr>
          <p:cNvSpPr txBox="1"/>
          <p:nvPr/>
        </p:nvSpPr>
        <p:spPr>
          <a:xfrm>
            <a:off x="782426" y="2139885"/>
            <a:ext cx="4232634" cy="369332"/>
          </a:xfrm>
          <a:prstGeom prst="rect">
            <a:avLst/>
          </a:prstGeom>
          <a:noFill/>
        </p:spPr>
        <p:txBody>
          <a:bodyPr wrap="square" rtlCol="0">
            <a:spAutoFit/>
          </a:bodyPr>
          <a:lstStyle/>
          <a:p>
            <a:r>
              <a:rPr lang="de-DE" dirty="0"/>
              <a:t>Bank-Kampagne: Zwei Kundentypen</a:t>
            </a:r>
          </a:p>
        </p:txBody>
      </p:sp>
    </p:spTree>
    <p:extLst>
      <p:ext uri="{BB962C8B-B14F-4D97-AF65-F5344CB8AC3E}">
        <p14:creationId xmlns:p14="http://schemas.microsoft.com/office/powerpoint/2010/main" val="28902087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FEEFE3B-8D31-F6C8-780A-CCF4CA6F3CD0}"/>
              </a:ext>
            </a:extLst>
          </p:cNvPr>
          <p:cNvSpPr>
            <a:spLocks noGrp="1"/>
          </p:cNvSpPr>
          <p:nvPr>
            <p:ph type="title"/>
          </p:nvPr>
        </p:nvSpPr>
        <p:spPr/>
        <p:txBody>
          <a:bodyPr>
            <a:normAutofit/>
          </a:bodyPr>
          <a:lstStyle/>
          <a:p>
            <a:r>
              <a:rPr lang="de-DE" sz="3600" dirty="0"/>
              <a:t>VON SEGMENTEN ZUR ENTSCHEIDUNG</a:t>
            </a:r>
          </a:p>
        </p:txBody>
      </p:sp>
      <p:sp>
        <p:nvSpPr>
          <p:cNvPr id="4" name="Textfeld 3">
            <a:extLst>
              <a:ext uri="{FF2B5EF4-FFF2-40B4-BE49-F238E27FC236}">
                <a16:creationId xmlns:a16="http://schemas.microsoft.com/office/drawing/2014/main" id="{31EDEFD6-9187-DD6F-D7C5-BB87E343A753}"/>
              </a:ext>
            </a:extLst>
          </p:cNvPr>
          <p:cNvSpPr txBox="1"/>
          <p:nvPr/>
        </p:nvSpPr>
        <p:spPr>
          <a:xfrm>
            <a:off x="1772239" y="1989056"/>
            <a:ext cx="8672660" cy="2708434"/>
          </a:xfrm>
          <a:prstGeom prst="rect">
            <a:avLst/>
          </a:prstGeom>
          <a:noFill/>
        </p:spPr>
        <p:txBody>
          <a:bodyPr wrap="square" rtlCol="0">
            <a:spAutoFit/>
          </a:bodyPr>
          <a:lstStyle/>
          <a:p>
            <a:pPr marL="285750" indent="-285750">
              <a:lnSpc>
                <a:spcPct val="150000"/>
              </a:lnSpc>
              <a:spcAft>
                <a:spcPts val="1200"/>
              </a:spcAft>
              <a:buFont typeface="Wingdings" panose="05000000000000000000" pitchFamily="2" charset="2"/>
              <a:buChar char="Ø"/>
            </a:pPr>
            <a:r>
              <a:rPr lang="de-DE" sz="2000" dirty="0">
                <a:latin typeface="Calibri" panose="020F0502020204030204" pitchFamily="34" charset="0"/>
                <a:ea typeface="Calibri" panose="020F0502020204030204" pitchFamily="34" charset="0"/>
                <a:cs typeface="Calibri" panose="020F0502020204030204" pitchFamily="34" charset="0"/>
              </a:rPr>
              <a:t>Segmentierung zeigt, wo Value entsteht (wer reagiert stark / wer nicht)</a:t>
            </a:r>
          </a:p>
          <a:p>
            <a:pPr marL="285750" indent="-285750">
              <a:lnSpc>
                <a:spcPct val="150000"/>
              </a:lnSpc>
              <a:spcAft>
                <a:spcPts val="1200"/>
              </a:spcAft>
              <a:buFont typeface="Wingdings" panose="05000000000000000000" pitchFamily="2" charset="2"/>
              <a:buChar char="Ø"/>
            </a:pPr>
            <a:r>
              <a:rPr lang="de-DE" sz="2000" dirty="0">
                <a:latin typeface="Calibri" panose="020F0502020204030204" pitchFamily="34" charset="0"/>
                <a:ea typeface="Calibri" panose="020F0502020204030204" pitchFamily="34" charset="0"/>
                <a:cs typeface="Calibri" panose="020F0502020204030204" pitchFamily="34" charset="0"/>
              </a:rPr>
              <a:t>nächste Frage: Wie weit darf Personalisierung gehen?</a:t>
            </a:r>
          </a:p>
          <a:p>
            <a:pPr marL="285750" indent="-285750">
              <a:lnSpc>
                <a:spcPct val="150000"/>
              </a:lnSpc>
              <a:buFont typeface="Wingdings" panose="05000000000000000000" pitchFamily="2" charset="2"/>
              <a:buChar char="Ø"/>
            </a:pPr>
            <a:r>
              <a:rPr lang="de-DE" sz="2000" dirty="0">
                <a:latin typeface="Calibri" panose="020F0502020204030204" pitchFamily="34" charset="0"/>
                <a:ea typeface="Calibri" panose="020F0502020204030204" pitchFamily="34" charset="0"/>
                <a:cs typeface="Calibri" panose="020F0502020204030204" pitchFamily="34" charset="0"/>
              </a:rPr>
              <a:t>Grundlage für den Risk Score:</a:t>
            </a:r>
          </a:p>
          <a:p>
            <a:pPr lvl="1"/>
            <a:r>
              <a:rPr lang="de-DE" sz="2000" dirty="0">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Daten</a:t>
            </a:r>
          </a:p>
          <a:p>
            <a:pPr lvl="1"/>
            <a:r>
              <a:rPr lang="de-DE" sz="2000" dirty="0">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Granularität</a:t>
            </a:r>
          </a:p>
          <a:p>
            <a:pPr lvl="1"/>
            <a:r>
              <a:rPr lang="de-DE" sz="2000" dirty="0">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Automatisierung</a:t>
            </a:r>
            <a:endParaRPr lang="de-DE" sz="2000" dirty="0">
              <a:latin typeface="Calibri" panose="020F0502020204030204" pitchFamily="34" charset="0"/>
              <a:ea typeface="Calibri" panose="020F0502020204030204" pitchFamily="34" charset="0"/>
              <a:cs typeface="Calibri" panose="020F0502020204030204" pitchFamily="34" charset="0"/>
            </a:endParaRPr>
          </a:p>
        </p:txBody>
      </p:sp>
      <p:sp>
        <p:nvSpPr>
          <p:cNvPr id="5" name="Textfeld 4">
            <a:extLst>
              <a:ext uri="{FF2B5EF4-FFF2-40B4-BE49-F238E27FC236}">
                <a16:creationId xmlns:a16="http://schemas.microsoft.com/office/drawing/2014/main" id="{CF44F1EB-9B99-5084-D0CD-D8DCFBBB9305}"/>
              </a:ext>
            </a:extLst>
          </p:cNvPr>
          <p:cNvSpPr txBox="1"/>
          <p:nvPr/>
        </p:nvSpPr>
        <p:spPr>
          <a:xfrm>
            <a:off x="0" y="5213332"/>
            <a:ext cx="12191999" cy="998932"/>
          </a:xfrm>
          <a:prstGeom prst="rect">
            <a:avLst/>
          </a:prstGeom>
          <a:gradFill>
            <a:gsLst>
              <a:gs pos="100000">
                <a:schemeClr val="tx2">
                  <a:lumMod val="75000"/>
                  <a:lumOff val="25000"/>
                </a:schemeClr>
              </a:gs>
              <a:gs pos="0">
                <a:schemeClr val="accent1">
                  <a:lumMod val="60000"/>
                  <a:lumOff val="4000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de-DE"/>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de-DE" sz="2000" dirty="0">
                <a:latin typeface="Calibri" panose="020F0502020204030204" pitchFamily="34" charset="0"/>
                <a:ea typeface="Calibri" panose="020F0502020204030204" pitchFamily="34" charset="0"/>
                <a:cs typeface="Calibri" panose="020F0502020204030204" pitchFamily="34" charset="0"/>
              </a:rPr>
              <a:t>Eine kleine, klar definierbare Gruppe reagiert viel stärker. </a:t>
            </a:r>
            <a:br>
              <a:rPr lang="de-DE" sz="2000" dirty="0">
                <a:latin typeface="Calibri" panose="020F0502020204030204" pitchFamily="34" charset="0"/>
                <a:ea typeface="Calibri" panose="020F0502020204030204" pitchFamily="34" charset="0"/>
                <a:cs typeface="Calibri" panose="020F0502020204030204" pitchFamily="34" charset="0"/>
              </a:rPr>
            </a:br>
            <a:r>
              <a:rPr lang="de-DE" sz="2000" dirty="0">
                <a:latin typeface="Calibri" panose="020F0502020204030204" pitchFamily="34" charset="0"/>
                <a:ea typeface="Calibri" panose="020F0502020204030204" pitchFamily="34" charset="0"/>
                <a:cs typeface="Calibri" panose="020F0502020204030204" pitchFamily="34" charset="0"/>
              </a:rPr>
              <a:t>Das ist die Grundlage für gezielte Ansprache — bevor wir überhaupt über 1:1 Personalisierung sprechen.</a:t>
            </a:r>
            <a:endParaRPr lang="de-DE" sz="1600" dirty="0">
              <a:latin typeface="Calibri" panose="020F0502020204030204" pitchFamily="34" charset="0"/>
              <a:ea typeface="Calibri" panose="020F0502020204030204" pitchFamily="34" charset="0"/>
              <a:cs typeface="Calibri" panose="020F0502020204030204" pitchFamily="34" charset="0"/>
            </a:endParaRPr>
          </a:p>
        </p:txBody>
      </p:sp>
      <p:pic>
        <p:nvPicPr>
          <p:cNvPr id="3" name="Grafik 2" descr="Ein Bild, das Clipart, Grafiken, Cartoon, Darstellung enthält.&#10;&#10;KI-generierte Inhalte können fehlerhaft sein.">
            <a:extLst>
              <a:ext uri="{FF2B5EF4-FFF2-40B4-BE49-F238E27FC236}">
                <a16:creationId xmlns:a16="http://schemas.microsoft.com/office/drawing/2014/main" id="{616B4AC8-553A-AD84-2BAA-E8A09C6AFE1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99717" y="2473620"/>
            <a:ext cx="2393303" cy="2393303"/>
          </a:xfrm>
          <a:prstGeom prst="rect">
            <a:avLst/>
          </a:prstGeom>
        </p:spPr>
      </p:pic>
      <p:sp>
        <p:nvSpPr>
          <p:cNvPr id="6" name="Textfeld 5">
            <a:extLst>
              <a:ext uri="{FF2B5EF4-FFF2-40B4-BE49-F238E27FC236}">
                <a16:creationId xmlns:a16="http://schemas.microsoft.com/office/drawing/2014/main" id="{FCFCE989-5122-DEEA-1784-80137EA85C76}"/>
              </a:ext>
            </a:extLst>
          </p:cNvPr>
          <p:cNvSpPr txBox="1"/>
          <p:nvPr/>
        </p:nvSpPr>
        <p:spPr>
          <a:xfrm>
            <a:off x="262453" y="6492875"/>
            <a:ext cx="2062716" cy="215444"/>
          </a:xfrm>
          <a:prstGeom prst="rect">
            <a:avLst/>
          </a:prstGeom>
          <a:noFill/>
        </p:spPr>
        <p:txBody>
          <a:bodyPr wrap="square" rtlCol="0">
            <a:spAutoFit/>
          </a:bodyPr>
          <a:lstStyle/>
          <a:p>
            <a:r>
              <a:rPr lang="de-DE" sz="800" b="0" i="0" dirty="0">
                <a:solidFill>
                  <a:schemeClr val="bg2">
                    <a:lumMod val="50000"/>
                  </a:schemeClr>
                </a:solidFill>
                <a:effectLst/>
                <a:latin typeface="Calibri" panose="020F0502020204030204" pitchFamily="34" charset="0"/>
                <a:ea typeface="Calibri" panose="020F0502020204030204" pitchFamily="34" charset="0"/>
                <a:cs typeface="Calibri" panose="020F0502020204030204" pitchFamily="34" charset="0"/>
              </a:rPr>
              <a:t>Bild von </a:t>
            </a:r>
            <a:r>
              <a:rPr lang="de-DE" sz="800" b="0" i="0" dirty="0" err="1">
                <a:solidFill>
                  <a:schemeClr val="bg2">
                    <a:lumMod val="50000"/>
                  </a:schemeClr>
                </a:solidFill>
                <a:effectLst/>
                <a:latin typeface="Calibri" panose="020F0502020204030204" pitchFamily="34" charset="0"/>
                <a:ea typeface="Calibri" panose="020F0502020204030204" pitchFamily="34" charset="0"/>
                <a:cs typeface="Calibri" panose="020F0502020204030204" pitchFamily="34" charset="0"/>
              </a:rPr>
              <a:t>vectorjuice</a:t>
            </a:r>
            <a:r>
              <a:rPr lang="de-DE" sz="800" b="0" i="0" dirty="0">
                <a:solidFill>
                  <a:schemeClr val="bg2">
                    <a:lumMod val="50000"/>
                  </a:schemeClr>
                </a:solidFill>
                <a:effectLst/>
                <a:latin typeface="Calibri" panose="020F0502020204030204" pitchFamily="34" charset="0"/>
                <a:ea typeface="Calibri" panose="020F0502020204030204" pitchFamily="34" charset="0"/>
                <a:cs typeface="Calibri" panose="020F0502020204030204" pitchFamily="34" charset="0"/>
              </a:rPr>
              <a:t> auf </a:t>
            </a:r>
            <a:r>
              <a:rPr lang="de-DE" sz="800" b="0" i="0" dirty="0" err="1">
                <a:solidFill>
                  <a:schemeClr val="bg2">
                    <a:lumMod val="50000"/>
                  </a:schemeClr>
                </a:solidFill>
                <a:effectLst/>
                <a:latin typeface="Calibri" panose="020F0502020204030204" pitchFamily="34" charset="0"/>
                <a:ea typeface="Calibri" panose="020F0502020204030204" pitchFamily="34" charset="0"/>
                <a:cs typeface="Calibri" panose="020F0502020204030204" pitchFamily="34" charset="0"/>
              </a:rPr>
              <a:t>Freepik</a:t>
            </a:r>
            <a:endParaRPr lang="de-DE" sz="800" dirty="0">
              <a:solidFill>
                <a:schemeClr val="bg2">
                  <a:lumMod val="50000"/>
                </a:schemeClr>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3534094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87D0218-5C96-F4F3-50CD-D8670FEF14FE}"/>
              </a:ext>
            </a:extLst>
          </p:cNvPr>
          <p:cNvSpPr>
            <a:spLocks noGrp="1"/>
          </p:cNvSpPr>
          <p:nvPr>
            <p:ph type="title"/>
          </p:nvPr>
        </p:nvSpPr>
        <p:spPr/>
        <p:txBody>
          <a:bodyPr/>
          <a:lstStyle/>
          <a:p>
            <a:r>
              <a:rPr lang="de-DE" sz="3600" dirty="0"/>
              <a:t>VOM PROFILING ZUR VORHERSAGE</a:t>
            </a:r>
            <a:br>
              <a:rPr lang="de-DE" dirty="0"/>
            </a:br>
            <a:r>
              <a:rPr lang="de-DE" sz="2800" dirty="0"/>
              <a:t>WER REAGIERT AUF DIE KAMPAGNE?</a:t>
            </a:r>
            <a:endParaRPr lang="de-DE" dirty="0"/>
          </a:p>
        </p:txBody>
      </p:sp>
      <p:sp>
        <p:nvSpPr>
          <p:cNvPr id="4" name="Rechteck 3">
            <a:extLst>
              <a:ext uri="{FF2B5EF4-FFF2-40B4-BE49-F238E27FC236}">
                <a16:creationId xmlns:a16="http://schemas.microsoft.com/office/drawing/2014/main" id="{6B4352BA-3455-6E6C-9BB3-EB654AE79006}"/>
              </a:ext>
            </a:extLst>
          </p:cNvPr>
          <p:cNvSpPr/>
          <p:nvPr/>
        </p:nvSpPr>
        <p:spPr>
          <a:xfrm>
            <a:off x="0" y="2506941"/>
            <a:ext cx="5383034" cy="2988886"/>
          </a:xfrm>
          <a:prstGeom prst="rect">
            <a:avLst/>
          </a:prstGeom>
          <a:gradFill flip="none" rotWithShape="1">
            <a:gsLst>
              <a:gs pos="0">
                <a:schemeClr val="accent1">
                  <a:lumMod val="60000"/>
                  <a:lumOff val="40000"/>
                </a:schemeClr>
              </a:gs>
              <a:gs pos="100000">
                <a:schemeClr val="tx2">
                  <a:lumMod val="75000"/>
                  <a:lumOff val="2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lIns="612000" rtlCol="0" anchor="ctr"/>
          <a:lstStyle/>
          <a:p>
            <a:pPr>
              <a:spcAft>
                <a:spcPts val="1200"/>
              </a:spcAft>
            </a:pPr>
            <a:r>
              <a:rPr lang="de-DE" dirty="0">
                <a:latin typeface="Calibri" panose="020F0502020204030204" pitchFamily="34" charset="0"/>
                <a:ea typeface="Calibri" panose="020F0502020204030204" pitchFamily="34" charset="0"/>
                <a:cs typeface="Calibri" panose="020F0502020204030204" pitchFamily="34" charset="0"/>
              </a:rPr>
              <a:t>Bank Marketing Daten</a:t>
            </a:r>
          </a:p>
          <a:p>
            <a:pPr marL="285750" indent="-285750">
              <a:spcAft>
                <a:spcPts val="1200"/>
              </a:spcAft>
              <a:buFont typeface="Wingdings" panose="05000000000000000000" pitchFamily="2" charset="2"/>
              <a:buChar char="Ø"/>
            </a:pPr>
            <a:r>
              <a:rPr lang="de-DE" dirty="0">
                <a:latin typeface="Calibri" panose="020F0502020204030204" pitchFamily="34" charset="0"/>
                <a:ea typeface="Calibri" panose="020F0502020204030204" pitchFamily="34" charset="0"/>
                <a:cs typeface="Calibri" panose="020F0502020204030204" pitchFamily="34" charset="0"/>
              </a:rPr>
              <a:t>Features definieren</a:t>
            </a:r>
          </a:p>
          <a:p>
            <a:pPr marL="285750" indent="-285750">
              <a:spcAft>
                <a:spcPts val="1200"/>
              </a:spcAft>
              <a:buFont typeface="Wingdings" panose="05000000000000000000" pitchFamily="2" charset="2"/>
              <a:buChar char="Ø"/>
            </a:pPr>
            <a:r>
              <a:rPr lang="de-DE" dirty="0">
                <a:latin typeface="Calibri" panose="020F0502020204030204" pitchFamily="34" charset="0"/>
                <a:ea typeface="Calibri" panose="020F0502020204030204" pitchFamily="34" charset="0"/>
                <a:cs typeface="Calibri" panose="020F0502020204030204" pitchFamily="34" charset="0"/>
              </a:rPr>
              <a:t>Training/Test Split</a:t>
            </a:r>
          </a:p>
          <a:p>
            <a:pPr marL="285750" indent="-285750">
              <a:spcAft>
                <a:spcPts val="1200"/>
              </a:spcAft>
              <a:buFont typeface="Wingdings" panose="05000000000000000000" pitchFamily="2" charset="2"/>
              <a:buChar char="Ø"/>
            </a:pPr>
            <a:r>
              <a:rPr lang="de-DE" dirty="0" err="1">
                <a:latin typeface="Calibri" panose="020F0502020204030204" pitchFamily="34" charset="0"/>
                <a:ea typeface="Calibri" panose="020F0502020204030204" pitchFamily="34" charset="0"/>
                <a:cs typeface="Calibri" panose="020F0502020204030204" pitchFamily="34" charset="0"/>
              </a:rPr>
              <a:t>Logistic</a:t>
            </a:r>
            <a:r>
              <a:rPr lang="de-DE" dirty="0">
                <a:latin typeface="Calibri" panose="020F0502020204030204" pitchFamily="34" charset="0"/>
                <a:ea typeface="Calibri" panose="020F0502020204030204" pitchFamily="34" charset="0"/>
                <a:cs typeface="Calibri" panose="020F0502020204030204" pitchFamily="34" charset="0"/>
              </a:rPr>
              <a:t> Regression</a:t>
            </a:r>
          </a:p>
          <a:p>
            <a:pPr marL="285750" indent="-285750">
              <a:spcAft>
                <a:spcPts val="1200"/>
              </a:spcAft>
              <a:buFont typeface="Wingdings" panose="05000000000000000000" pitchFamily="2" charset="2"/>
              <a:buChar char="Ø"/>
            </a:pPr>
            <a:r>
              <a:rPr lang="de-DE" dirty="0">
                <a:latin typeface="Calibri" panose="020F0502020204030204" pitchFamily="34" charset="0"/>
                <a:ea typeface="Calibri" panose="020F0502020204030204" pitchFamily="34" charset="0"/>
                <a:cs typeface="Calibri" panose="020F0502020204030204" pitchFamily="34" charset="0"/>
              </a:rPr>
              <a:t>Reaktionswahrscheinlichkeit vorhersagen</a:t>
            </a:r>
          </a:p>
        </p:txBody>
      </p:sp>
      <p:sp>
        <p:nvSpPr>
          <p:cNvPr id="5" name="Rechteck 4">
            <a:extLst>
              <a:ext uri="{FF2B5EF4-FFF2-40B4-BE49-F238E27FC236}">
                <a16:creationId xmlns:a16="http://schemas.microsoft.com/office/drawing/2014/main" id="{1866C336-809A-F195-10D4-E995112A17DA}"/>
              </a:ext>
            </a:extLst>
          </p:cNvPr>
          <p:cNvSpPr/>
          <p:nvPr/>
        </p:nvSpPr>
        <p:spPr>
          <a:xfrm>
            <a:off x="6808966" y="2506940"/>
            <a:ext cx="5383034" cy="2988887"/>
          </a:xfrm>
          <a:prstGeom prst="rect">
            <a:avLst/>
          </a:prstGeom>
          <a:gradFill flip="none" rotWithShape="1">
            <a:gsLst>
              <a:gs pos="0">
                <a:schemeClr val="accent1">
                  <a:lumMod val="60000"/>
                  <a:lumOff val="40000"/>
                </a:schemeClr>
              </a:gs>
              <a:gs pos="100000">
                <a:schemeClr val="tx2">
                  <a:lumMod val="75000"/>
                  <a:lumOff val="2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lIns="612000" rtlCol="0" anchor="ctr"/>
          <a:lstStyle/>
          <a:p>
            <a:pPr>
              <a:lnSpc>
                <a:spcPct val="150000"/>
              </a:lnSpc>
            </a:pPr>
            <a:r>
              <a:rPr lang="de-DE" dirty="0"/>
              <a:t>Modell: </a:t>
            </a:r>
            <a:r>
              <a:rPr lang="de-DE" dirty="0" err="1"/>
              <a:t>Logistic</a:t>
            </a:r>
            <a:r>
              <a:rPr lang="de-DE" dirty="0"/>
              <a:t> Regression</a:t>
            </a:r>
            <a:br>
              <a:rPr lang="de-DE" dirty="0"/>
            </a:br>
            <a:r>
              <a:rPr lang="de-DE" dirty="0"/>
              <a:t>Datensatz: Bank Marketing</a:t>
            </a:r>
            <a:br>
              <a:rPr lang="de-DE" dirty="0"/>
            </a:br>
            <a:r>
              <a:rPr lang="de-DE" dirty="0"/>
              <a:t>Zielvariable: y = </a:t>
            </a:r>
            <a:r>
              <a:rPr lang="de-DE" dirty="0" err="1"/>
              <a:t>yes</a:t>
            </a:r>
            <a:r>
              <a:rPr lang="de-DE" dirty="0"/>
              <a:t> / </a:t>
            </a:r>
            <a:r>
              <a:rPr lang="de-DE" dirty="0" err="1"/>
              <a:t>no</a:t>
            </a:r>
            <a:br>
              <a:rPr lang="de-DE" dirty="0"/>
            </a:br>
            <a:r>
              <a:rPr lang="de-DE" dirty="0"/>
              <a:t>Features: 20 (10 numerisch, 10 kategorial)</a:t>
            </a:r>
            <a:br>
              <a:rPr lang="de-DE" dirty="0"/>
            </a:br>
            <a:r>
              <a:rPr lang="de-DE" dirty="0"/>
              <a:t>Vorverarbeitung:</a:t>
            </a:r>
          </a:p>
          <a:p>
            <a:pPr marL="285750" indent="-285750">
              <a:buFont typeface="Wingdings" panose="05000000000000000000" pitchFamily="2" charset="2"/>
              <a:buChar char="Ø"/>
            </a:pPr>
            <a:r>
              <a:rPr lang="de-DE" dirty="0" err="1"/>
              <a:t>StandardScaler</a:t>
            </a:r>
            <a:endParaRPr lang="de-DE" dirty="0"/>
          </a:p>
          <a:p>
            <a:pPr marL="285750" indent="-285750">
              <a:buFont typeface="Wingdings" panose="05000000000000000000" pitchFamily="2" charset="2"/>
              <a:buChar char="Ø"/>
            </a:pPr>
            <a:r>
              <a:rPr lang="de-DE" dirty="0" err="1"/>
              <a:t>One</a:t>
            </a:r>
            <a:r>
              <a:rPr lang="de-DE" dirty="0"/>
              <a:t>-Hot-Encoding</a:t>
            </a:r>
            <a:endParaRPr lang="de-DE" dirty="0">
              <a:latin typeface="Calibri" panose="020F0502020204030204" pitchFamily="34" charset="0"/>
              <a:ea typeface="Calibri" panose="020F0502020204030204" pitchFamily="34" charset="0"/>
              <a:cs typeface="Calibri" panose="020F0502020204030204" pitchFamily="34" charset="0"/>
            </a:endParaRPr>
          </a:p>
        </p:txBody>
      </p:sp>
      <p:sp>
        <p:nvSpPr>
          <p:cNvPr id="6" name="Rechteck 5">
            <a:extLst>
              <a:ext uri="{FF2B5EF4-FFF2-40B4-BE49-F238E27FC236}">
                <a16:creationId xmlns:a16="http://schemas.microsoft.com/office/drawing/2014/main" id="{992376B7-7CDA-14CB-C4F1-9BF0F4313B8A}"/>
              </a:ext>
            </a:extLst>
          </p:cNvPr>
          <p:cNvSpPr/>
          <p:nvPr/>
        </p:nvSpPr>
        <p:spPr>
          <a:xfrm>
            <a:off x="0" y="2008292"/>
            <a:ext cx="5383034" cy="639100"/>
          </a:xfrm>
          <a:prstGeom prst="rect">
            <a:avLst/>
          </a:prstGeom>
          <a:gradFill flip="none" rotWithShape="1">
            <a:gsLst>
              <a:gs pos="0">
                <a:schemeClr val="accent1">
                  <a:lumMod val="60000"/>
                  <a:lumOff val="40000"/>
                </a:schemeClr>
              </a:gs>
              <a:gs pos="100000">
                <a:schemeClr val="tx2">
                  <a:lumMod val="75000"/>
                  <a:lumOff val="2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800" b="1" dirty="0">
                <a:latin typeface="Calibri" panose="020F0502020204030204" pitchFamily="34" charset="0"/>
                <a:ea typeface="Calibri" panose="020F0502020204030204" pitchFamily="34" charset="0"/>
                <a:cs typeface="Calibri" panose="020F0502020204030204" pitchFamily="34" charset="0"/>
              </a:rPr>
              <a:t>Prozess-Flow</a:t>
            </a:r>
          </a:p>
        </p:txBody>
      </p:sp>
      <p:sp>
        <p:nvSpPr>
          <p:cNvPr id="7" name="Rechteck 6">
            <a:extLst>
              <a:ext uri="{FF2B5EF4-FFF2-40B4-BE49-F238E27FC236}">
                <a16:creationId xmlns:a16="http://schemas.microsoft.com/office/drawing/2014/main" id="{66F4D1C8-6D1E-72B0-3687-19AE86CEEAEF}"/>
              </a:ext>
            </a:extLst>
          </p:cNvPr>
          <p:cNvSpPr/>
          <p:nvPr/>
        </p:nvSpPr>
        <p:spPr>
          <a:xfrm>
            <a:off x="6808966" y="2008291"/>
            <a:ext cx="5383034" cy="639100"/>
          </a:xfrm>
          <a:prstGeom prst="rect">
            <a:avLst/>
          </a:prstGeom>
          <a:gradFill flip="none" rotWithShape="1">
            <a:gsLst>
              <a:gs pos="0">
                <a:schemeClr val="accent1">
                  <a:lumMod val="60000"/>
                  <a:lumOff val="40000"/>
                </a:schemeClr>
              </a:gs>
              <a:gs pos="100000">
                <a:schemeClr val="tx2">
                  <a:lumMod val="75000"/>
                  <a:lumOff val="2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800" b="1" dirty="0">
                <a:latin typeface="Calibri" panose="020F0502020204030204" pitchFamily="34" charset="0"/>
                <a:ea typeface="Calibri" panose="020F0502020204030204" pitchFamily="34" charset="0"/>
                <a:cs typeface="Calibri" panose="020F0502020204030204" pitchFamily="34" charset="0"/>
              </a:rPr>
              <a:t>Modell-Info</a:t>
            </a:r>
          </a:p>
        </p:txBody>
      </p:sp>
      <p:sp>
        <p:nvSpPr>
          <p:cNvPr id="8" name="Textfeld 7">
            <a:extLst>
              <a:ext uri="{FF2B5EF4-FFF2-40B4-BE49-F238E27FC236}">
                <a16:creationId xmlns:a16="http://schemas.microsoft.com/office/drawing/2014/main" id="{FDBE1469-D9D0-1FC9-7ACA-C7768DA21B32}"/>
              </a:ext>
            </a:extLst>
          </p:cNvPr>
          <p:cNvSpPr txBox="1"/>
          <p:nvPr/>
        </p:nvSpPr>
        <p:spPr>
          <a:xfrm>
            <a:off x="638756" y="5667434"/>
            <a:ext cx="10914489" cy="639100"/>
          </a:xfrm>
          <a:prstGeom prst="rect">
            <a:avLst/>
          </a:prstGeom>
          <a:no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de-DE"/>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de-DE" dirty="0">
                <a:solidFill>
                  <a:schemeClr val="tx1"/>
                </a:solidFill>
                <a:latin typeface="Calibri" panose="020F0502020204030204" pitchFamily="34" charset="0"/>
                <a:ea typeface="Calibri" panose="020F0502020204030204" pitchFamily="34" charset="0"/>
                <a:cs typeface="Calibri" panose="020F0502020204030204" pitchFamily="34" charset="0"/>
              </a:rPr>
              <a:t>Ziel: vorhersagen, welche Kunden mit höherer Wahrscheinlichkeit positiv reagieren</a:t>
            </a:r>
            <a:endParaRPr lang="de-DE" sz="1400"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p:pic>
        <p:nvPicPr>
          <p:cNvPr id="10" name="Grafik 9">
            <a:extLst>
              <a:ext uri="{FF2B5EF4-FFF2-40B4-BE49-F238E27FC236}">
                <a16:creationId xmlns:a16="http://schemas.microsoft.com/office/drawing/2014/main" id="{F34DA6B1-35C3-ED20-13ED-DF15FD3DAAC9}"/>
              </a:ext>
            </a:extLst>
          </p:cNvPr>
          <p:cNvPicPr>
            <a:picLocks noChangeAspect="1"/>
          </p:cNvPicPr>
          <p:nvPr/>
        </p:nvPicPr>
        <p:blipFill>
          <a:blip r:embed="rId3"/>
          <a:stretch>
            <a:fillRect/>
          </a:stretch>
        </p:blipFill>
        <p:spPr>
          <a:xfrm>
            <a:off x="5657346" y="2997108"/>
            <a:ext cx="877307" cy="877307"/>
          </a:xfrm>
          <a:prstGeom prst="rect">
            <a:avLst/>
          </a:prstGeom>
        </p:spPr>
      </p:pic>
      <p:sp>
        <p:nvSpPr>
          <p:cNvPr id="3" name="Textfeld 2">
            <a:extLst>
              <a:ext uri="{FF2B5EF4-FFF2-40B4-BE49-F238E27FC236}">
                <a16:creationId xmlns:a16="http://schemas.microsoft.com/office/drawing/2014/main" id="{E7051A0A-6B84-812F-D986-FA0600370F5D}"/>
              </a:ext>
            </a:extLst>
          </p:cNvPr>
          <p:cNvSpPr txBox="1"/>
          <p:nvPr/>
        </p:nvSpPr>
        <p:spPr>
          <a:xfrm>
            <a:off x="262453" y="6492875"/>
            <a:ext cx="2062716" cy="215444"/>
          </a:xfrm>
          <a:prstGeom prst="rect">
            <a:avLst/>
          </a:prstGeom>
          <a:noFill/>
        </p:spPr>
        <p:txBody>
          <a:bodyPr wrap="square" rtlCol="0">
            <a:spAutoFit/>
          </a:bodyPr>
          <a:lstStyle/>
          <a:p>
            <a:r>
              <a:rPr lang="de-DE" sz="800" b="0" i="0" dirty="0">
                <a:solidFill>
                  <a:schemeClr val="bg2">
                    <a:lumMod val="50000"/>
                  </a:schemeClr>
                </a:solidFill>
                <a:effectLst/>
                <a:latin typeface="Calibri" panose="020F0502020204030204" pitchFamily="34" charset="0"/>
                <a:ea typeface="Calibri" panose="020F0502020204030204" pitchFamily="34" charset="0"/>
                <a:cs typeface="Calibri" panose="020F0502020204030204" pitchFamily="34" charset="0"/>
              </a:rPr>
              <a:t>Bild von </a:t>
            </a:r>
            <a:r>
              <a:rPr lang="de-DE" sz="800" b="0" i="0" dirty="0" err="1">
                <a:solidFill>
                  <a:schemeClr val="bg2">
                    <a:lumMod val="50000"/>
                  </a:schemeClr>
                </a:solidFill>
                <a:effectLst/>
                <a:latin typeface="Calibri" panose="020F0502020204030204" pitchFamily="34" charset="0"/>
                <a:ea typeface="Calibri" panose="020F0502020204030204" pitchFamily="34" charset="0"/>
                <a:cs typeface="Calibri" panose="020F0502020204030204" pitchFamily="34" charset="0"/>
              </a:rPr>
              <a:t>Freepik</a:t>
            </a:r>
            <a:endParaRPr lang="de-DE" sz="800" dirty="0">
              <a:solidFill>
                <a:schemeClr val="bg2">
                  <a:lumMod val="50000"/>
                </a:schemeClr>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586079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A6A65A8-1BF1-89FC-5D2B-678A63F4673A}"/>
              </a:ext>
            </a:extLst>
          </p:cNvPr>
          <p:cNvSpPr>
            <a:spLocks noGrp="1"/>
          </p:cNvSpPr>
          <p:nvPr>
            <p:ph type="title"/>
          </p:nvPr>
        </p:nvSpPr>
        <p:spPr/>
        <p:txBody>
          <a:bodyPr>
            <a:normAutofit/>
          </a:bodyPr>
          <a:lstStyle/>
          <a:p>
            <a:r>
              <a:rPr lang="de-DE" sz="3600" dirty="0"/>
              <a:t>DAS MODELL TRIFFT SEHR ZUVERLÄSSIG…</a:t>
            </a:r>
            <a:br>
              <a:rPr lang="de-DE" sz="3600" dirty="0"/>
            </a:br>
            <a:r>
              <a:rPr lang="de-DE" sz="2800" dirty="0"/>
              <a:t>ABER NICHT PERFEKT</a:t>
            </a:r>
            <a:endParaRPr lang="de-DE" sz="3600" dirty="0"/>
          </a:p>
        </p:txBody>
      </p:sp>
      <p:sp>
        <p:nvSpPr>
          <p:cNvPr id="4" name="Rechteck 3">
            <a:extLst>
              <a:ext uri="{FF2B5EF4-FFF2-40B4-BE49-F238E27FC236}">
                <a16:creationId xmlns:a16="http://schemas.microsoft.com/office/drawing/2014/main" id="{10B38202-8490-0E33-BBBA-0948DB465C2D}"/>
              </a:ext>
            </a:extLst>
          </p:cNvPr>
          <p:cNvSpPr/>
          <p:nvPr/>
        </p:nvSpPr>
        <p:spPr>
          <a:xfrm>
            <a:off x="2105320" y="1997893"/>
            <a:ext cx="3836710" cy="1325563"/>
          </a:xfrm>
          <a:prstGeom prst="rect">
            <a:avLst/>
          </a:prstGeom>
          <a:gradFill flip="none" rotWithShape="1">
            <a:gsLst>
              <a:gs pos="100000">
                <a:schemeClr val="tx2">
                  <a:lumMod val="75000"/>
                  <a:lumOff val="25000"/>
                </a:schemeClr>
              </a:gs>
              <a:gs pos="0">
                <a:schemeClr val="accent1">
                  <a:lumMod val="60000"/>
                  <a:lumOff val="4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lIns="216000" rtlCol="0" anchor="ctr"/>
          <a:lstStyle/>
          <a:p>
            <a:pPr algn="ctr">
              <a:spcAft>
                <a:spcPts val="1200"/>
              </a:spcAft>
            </a:pPr>
            <a:r>
              <a:rPr lang="de-DE" sz="2800" b="1" dirty="0" err="1">
                <a:latin typeface="Calibri" panose="020F0502020204030204" pitchFamily="34" charset="0"/>
                <a:ea typeface="Calibri" panose="020F0502020204030204" pitchFamily="34" charset="0"/>
                <a:cs typeface="Calibri" panose="020F0502020204030204" pitchFamily="34" charset="0"/>
              </a:rPr>
              <a:t>Accuracy</a:t>
            </a:r>
            <a:endParaRPr lang="de-DE" sz="2000" dirty="0">
              <a:latin typeface="Calibri" panose="020F0502020204030204" pitchFamily="34" charset="0"/>
              <a:ea typeface="Calibri" panose="020F0502020204030204" pitchFamily="34" charset="0"/>
              <a:cs typeface="Calibri" panose="020F0502020204030204" pitchFamily="34" charset="0"/>
            </a:endParaRPr>
          </a:p>
          <a:p>
            <a:pPr algn="ctr">
              <a:spcAft>
                <a:spcPts val="1200"/>
              </a:spcAft>
            </a:pPr>
            <a:r>
              <a:rPr lang="de-DE" dirty="0">
                <a:latin typeface="Calibri" panose="020F0502020204030204" pitchFamily="34" charset="0"/>
                <a:ea typeface="Calibri" panose="020F0502020204030204" pitchFamily="34" charset="0"/>
                <a:cs typeface="Calibri" panose="020F0502020204030204" pitchFamily="34" charset="0"/>
              </a:rPr>
              <a:t>86.5%</a:t>
            </a:r>
          </a:p>
        </p:txBody>
      </p:sp>
      <p:sp>
        <p:nvSpPr>
          <p:cNvPr id="5" name="Rechteck 4">
            <a:extLst>
              <a:ext uri="{FF2B5EF4-FFF2-40B4-BE49-F238E27FC236}">
                <a16:creationId xmlns:a16="http://schemas.microsoft.com/office/drawing/2014/main" id="{B6EDF400-4A80-F946-B4B5-E6CE53B09F05}"/>
              </a:ext>
            </a:extLst>
          </p:cNvPr>
          <p:cNvSpPr/>
          <p:nvPr/>
        </p:nvSpPr>
        <p:spPr>
          <a:xfrm>
            <a:off x="6249971" y="1997893"/>
            <a:ext cx="3836709" cy="1325563"/>
          </a:xfrm>
          <a:prstGeom prst="rect">
            <a:avLst/>
          </a:prstGeom>
          <a:gradFill flip="none" rotWithShape="1">
            <a:gsLst>
              <a:gs pos="100000">
                <a:schemeClr val="tx2">
                  <a:lumMod val="75000"/>
                  <a:lumOff val="25000"/>
                </a:schemeClr>
              </a:gs>
              <a:gs pos="0">
                <a:schemeClr val="accent1">
                  <a:lumMod val="60000"/>
                  <a:lumOff val="4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lIns="216000" rtlCol="0" anchor="ctr"/>
          <a:lstStyle/>
          <a:p>
            <a:pPr algn="ctr">
              <a:spcAft>
                <a:spcPts val="1200"/>
              </a:spcAft>
            </a:pPr>
            <a:r>
              <a:rPr lang="de-DE" sz="2800" b="1" dirty="0">
                <a:latin typeface="Calibri" panose="020F0502020204030204" pitchFamily="34" charset="0"/>
                <a:ea typeface="Calibri" panose="020F0502020204030204" pitchFamily="34" charset="0"/>
                <a:cs typeface="Calibri" panose="020F0502020204030204" pitchFamily="34" charset="0"/>
              </a:rPr>
              <a:t>Precision</a:t>
            </a:r>
          </a:p>
          <a:p>
            <a:pPr algn="ctr">
              <a:spcAft>
                <a:spcPts val="1200"/>
              </a:spcAft>
            </a:pPr>
            <a:r>
              <a:rPr lang="de-DE" dirty="0">
                <a:latin typeface="Calibri" panose="020F0502020204030204" pitchFamily="34" charset="0"/>
                <a:ea typeface="Calibri" panose="020F0502020204030204" pitchFamily="34" charset="0"/>
                <a:cs typeface="Calibri" panose="020F0502020204030204" pitchFamily="34" charset="0"/>
              </a:rPr>
              <a:t>45.0%</a:t>
            </a:r>
          </a:p>
        </p:txBody>
      </p:sp>
      <p:sp>
        <p:nvSpPr>
          <p:cNvPr id="6" name="Rechteck 5">
            <a:extLst>
              <a:ext uri="{FF2B5EF4-FFF2-40B4-BE49-F238E27FC236}">
                <a16:creationId xmlns:a16="http://schemas.microsoft.com/office/drawing/2014/main" id="{BB105652-20ED-6449-4B05-0D1632FA0029}"/>
              </a:ext>
            </a:extLst>
          </p:cNvPr>
          <p:cNvSpPr/>
          <p:nvPr/>
        </p:nvSpPr>
        <p:spPr>
          <a:xfrm>
            <a:off x="2105320" y="3530058"/>
            <a:ext cx="3836710" cy="1325563"/>
          </a:xfrm>
          <a:prstGeom prst="rect">
            <a:avLst/>
          </a:prstGeom>
          <a:gradFill flip="none" rotWithShape="1">
            <a:gsLst>
              <a:gs pos="100000">
                <a:schemeClr val="tx2">
                  <a:lumMod val="75000"/>
                  <a:lumOff val="25000"/>
                </a:schemeClr>
              </a:gs>
              <a:gs pos="0">
                <a:schemeClr val="accent1">
                  <a:lumMod val="60000"/>
                  <a:lumOff val="4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lIns="216000" rtlCol="0" anchor="ctr"/>
          <a:lstStyle/>
          <a:p>
            <a:pPr algn="ctr">
              <a:spcAft>
                <a:spcPts val="1200"/>
              </a:spcAft>
            </a:pPr>
            <a:r>
              <a:rPr lang="de-DE" sz="2800" b="1" dirty="0">
                <a:latin typeface="Calibri" panose="020F0502020204030204" pitchFamily="34" charset="0"/>
                <a:ea typeface="Calibri" panose="020F0502020204030204" pitchFamily="34" charset="0"/>
                <a:cs typeface="Calibri" panose="020F0502020204030204" pitchFamily="34" charset="0"/>
              </a:rPr>
              <a:t>Recall</a:t>
            </a:r>
          </a:p>
          <a:p>
            <a:pPr algn="ctr">
              <a:spcAft>
                <a:spcPts val="1200"/>
              </a:spcAft>
            </a:pPr>
            <a:r>
              <a:rPr lang="de-DE" b="1" dirty="0">
                <a:latin typeface="Calibri" panose="020F0502020204030204" pitchFamily="34" charset="0"/>
                <a:ea typeface="Calibri" panose="020F0502020204030204" pitchFamily="34" charset="0"/>
                <a:cs typeface="Calibri" panose="020F0502020204030204" pitchFamily="34" charset="0"/>
              </a:rPr>
              <a:t>90.9%</a:t>
            </a:r>
          </a:p>
        </p:txBody>
      </p:sp>
      <p:sp>
        <p:nvSpPr>
          <p:cNvPr id="7" name="Rechteck 6">
            <a:extLst>
              <a:ext uri="{FF2B5EF4-FFF2-40B4-BE49-F238E27FC236}">
                <a16:creationId xmlns:a16="http://schemas.microsoft.com/office/drawing/2014/main" id="{FB750F52-51B5-2C47-CCAC-702BA7D03213}"/>
              </a:ext>
            </a:extLst>
          </p:cNvPr>
          <p:cNvSpPr/>
          <p:nvPr/>
        </p:nvSpPr>
        <p:spPr>
          <a:xfrm>
            <a:off x="6249971" y="3530058"/>
            <a:ext cx="3836709" cy="1325563"/>
          </a:xfrm>
          <a:prstGeom prst="rect">
            <a:avLst/>
          </a:prstGeom>
          <a:gradFill flip="none" rotWithShape="1">
            <a:gsLst>
              <a:gs pos="100000">
                <a:schemeClr val="tx2">
                  <a:lumMod val="75000"/>
                  <a:lumOff val="25000"/>
                </a:schemeClr>
              </a:gs>
              <a:gs pos="0">
                <a:schemeClr val="accent1">
                  <a:lumMod val="60000"/>
                  <a:lumOff val="4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lIns="216000" rtlCol="0" anchor="ctr"/>
          <a:lstStyle/>
          <a:p>
            <a:pPr algn="ctr">
              <a:spcAft>
                <a:spcPts val="1200"/>
              </a:spcAft>
            </a:pPr>
            <a:r>
              <a:rPr lang="de-DE" sz="2800" b="1" dirty="0">
                <a:latin typeface="Calibri" panose="020F0502020204030204" pitchFamily="34" charset="0"/>
                <a:ea typeface="Calibri" panose="020F0502020204030204" pitchFamily="34" charset="0"/>
                <a:cs typeface="Calibri" panose="020F0502020204030204" pitchFamily="34" charset="0"/>
              </a:rPr>
              <a:t>AUC</a:t>
            </a:r>
          </a:p>
          <a:p>
            <a:pPr algn="ctr">
              <a:spcAft>
                <a:spcPts val="1200"/>
              </a:spcAft>
            </a:pPr>
            <a:r>
              <a:rPr lang="de-DE" b="1" dirty="0">
                <a:latin typeface="Calibri" panose="020F0502020204030204" pitchFamily="34" charset="0"/>
                <a:ea typeface="Calibri" panose="020F0502020204030204" pitchFamily="34" charset="0"/>
                <a:cs typeface="Calibri" panose="020F0502020204030204" pitchFamily="34" charset="0"/>
              </a:rPr>
              <a:t>94.3%</a:t>
            </a:r>
          </a:p>
        </p:txBody>
      </p:sp>
      <p:sp>
        <p:nvSpPr>
          <p:cNvPr id="8" name="Textfeld 7">
            <a:extLst>
              <a:ext uri="{FF2B5EF4-FFF2-40B4-BE49-F238E27FC236}">
                <a16:creationId xmlns:a16="http://schemas.microsoft.com/office/drawing/2014/main" id="{11510E63-F1E8-BBB0-C4D9-426D8CFFCE98}"/>
              </a:ext>
            </a:extLst>
          </p:cNvPr>
          <p:cNvSpPr txBox="1"/>
          <p:nvPr/>
        </p:nvSpPr>
        <p:spPr>
          <a:xfrm>
            <a:off x="2097982" y="5151712"/>
            <a:ext cx="7988698" cy="956724"/>
          </a:xfrm>
          <a:prstGeom prst="rect">
            <a:avLst/>
          </a:prstGeom>
          <a:solidFill>
            <a:schemeClr val="bg1"/>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lIns="144000" rtlCol="0" anchor="ctr"/>
          <a:lstStyle>
            <a:defPPr>
              <a:defRPr lang="de-DE"/>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de-DE" sz="2000" b="1" dirty="0">
                <a:solidFill>
                  <a:schemeClr val="tx1"/>
                </a:solidFill>
                <a:latin typeface="Calibri" panose="020F0502020204030204" pitchFamily="34" charset="0"/>
                <a:ea typeface="Calibri" panose="020F0502020204030204" pitchFamily="34" charset="0"/>
                <a:cs typeface="Calibri" panose="020F0502020204030204" pitchFamily="34" charset="0"/>
              </a:rPr>
              <a:t>Das Modell hat eine sehr hohe Trennschärfe (AUC = 0.9431)</a:t>
            </a:r>
          </a:p>
        </p:txBody>
      </p:sp>
      <p:sp>
        <p:nvSpPr>
          <p:cNvPr id="9" name="Ellipse 8">
            <a:extLst>
              <a:ext uri="{FF2B5EF4-FFF2-40B4-BE49-F238E27FC236}">
                <a16:creationId xmlns:a16="http://schemas.microsoft.com/office/drawing/2014/main" id="{4DA67C2E-85E6-268D-3D8E-2476924E5736}"/>
              </a:ext>
            </a:extLst>
          </p:cNvPr>
          <p:cNvSpPr/>
          <p:nvPr/>
        </p:nvSpPr>
        <p:spPr>
          <a:xfrm>
            <a:off x="9922827" y="4971712"/>
            <a:ext cx="324110" cy="36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3200" dirty="0">
                <a:solidFill>
                  <a:schemeClr val="bg1"/>
                </a:solidFill>
                <a:latin typeface="Blackadder ITC" panose="020F0502020204030204" pitchFamily="82" charset="0"/>
              </a:rPr>
              <a:t>i</a:t>
            </a:r>
          </a:p>
        </p:txBody>
      </p:sp>
      <p:sp>
        <p:nvSpPr>
          <p:cNvPr id="10" name="Sprechblase: rechteckig 9">
            <a:extLst>
              <a:ext uri="{FF2B5EF4-FFF2-40B4-BE49-F238E27FC236}">
                <a16:creationId xmlns:a16="http://schemas.microsoft.com/office/drawing/2014/main" id="{F51C9AFD-0A97-4ADB-E5A4-E70951AED276}"/>
              </a:ext>
            </a:extLst>
          </p:cNvPr>
          <p:cNvSpPr/>
          <p:nvPr/>
        </p:nvSpPr>
        <p:spPr>
          <a:xfrm>
            <a:off x="10190375" y="1997893"/>
            <a:ext cx="1474509" cy="1121978"/>
          </a:xfrm>
          <a:prstGeom prst="wedgeRectCallout">
            <a:avLst>
              <a:gd name="adj1" fmla="val -73888"/>
              <a:gd name="adj2" fmla="val -66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400" dirty="0">
                <a:solidFill>
                  <a:schemeClr val="tx1"/>
                </a:solidFill>
                <a:latin typeface="Calibri" panose="020F0502020204030204" pitchFamily="34" charset="0"/>
                <a:ea typeface="Calibri" panose="020F0502020204030204" pitchFamily="34" charset="0"/>
                <a:cs typeface="Calibri" panose="020F0502020204030204" pitchFamily="34" charset="0"/>
              </a:rPr>
              <a:t>… produziert aber auch einige Fehlkontakte.</a:t>
            </a:r>
            <a:endParaRPr lang="de-DE" sz="1400" dirty="0"/>
          </a:p>
        </p:txBody>
      </p:sp>
      <p:sp>
        <p:nvSpPr>
          <p:cNvPr id="11" name="Sprechblase: rechteckig 10">
            <a:extLst>
              <a:ext uri="{FF2B5EF4-FFF2-40B4-BE49-F238E27FC236}">
                <a16:creationId xmlns:a16="http://schemas.microsoft.com/office/drawing/2014/main" id="{3FE381B2-0046-0401-6B86-C7027BD29AA2}"/>
              </a:ext>
            </a:extLst>
          </p:cNvPr>
          <p:cNvSpPr/>
          <p:nvPr/>
        </p:nvSpPr>
        <p:spPr>
          <a:xfrm>
            <a:off x="476840" y="3733643"/>
            <a:ext cx="1474509" cy="1121978"/>
          </a:xfrm>
          <a:prstGeom prst="wedgeRectCallout">
            <a:avLst>
              <a:gd name="adj1" fmla="val 77630"/>
              <a:gd name="adj2" fmla="val -39316"/>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400" dirty="0">
                <a:solidFill>
                  <a:schemeClr val="tx1"/>
                </a:solidFill>
                <a:latin typeface="Calibri" panose="020F0502020204030204" pitchFamily="34" charset="0"/>
                <a:ea typeface="Calibri" panose="020F0502020204030204" pitchFamily="34" charset="0"/>
                <a:cs typeface="Calibri" panose="020F0502020204030204" pitchFamily="34" charset="0"/>
              </a:rPr>
              <a:t>Das Modell erkennt positive Reaktionen </a:t>
            </a:r>
            <a:br>
              <a:rPr lang="de-DE" sz="1400" dirty="0">
                <a:solidFill>
                  <a:schemeClr val="tx1"/>
                </a:solidFill>
                <a:latin typeface="Calibri" panose="020F0502020204030204" pitchFamily="34" charset="0"/>
                <a:ea typeface="Calibri" panose="020F0502020204030204" pitchFamily="34" charset="0"/>
                <a:cs typeface="Calibri" panose="020F0502020204030204" pitchFamily="34" charset="0"/>
              </a:rPr>
            </a:br>
            <a:r>
              <a:rPr lang="de-DE" sz="1400" dirty="0">
                <a:solidFill>
                  <a:schemeClr val="tx1"/>
                </a:solidFill>
                <a:latin typeface="Calibri" panose="020F0502020204030204" pitchFamily="34" charset="0"/>
                <a:ea typeface="Calibri" panose="020F0502020204030204" pitchFamily="34" charset="0"/>
                <a:cs typeface="Calibri" panose="020F0502020204030204" pitchFamily="34" charset="0"/>
              </a:rPr>
              <a:t>sehr gut, …</a:t>
            </a:r>
            <a:endParaRPr lang="de-DE" sz="1400" dirty="0"/>
          </a:p>
        </p:txBody>
      </p:sp>
    </p:spTree>
    <p:extLst>
      <p:ext uri="{BB962C8B-B14F-4D97-AF65-F5344CB8AC3E}">
        <p14:creationId xmlns:p14="http://schemas.microsoft.com/office/powerpoint/2010/main" val="17471124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BD5675A-8DEF-D977-08F4-7C93BD72523F}"/>
              </a:ext>
            </a:extLst>
          </p:cNvPr>
          <p:cNvSpPr>
            <a:spLocks noGrp="1"/>
          </p:cNvSpPr>
          <p:nvPr>
            <p:ph type="title"/>
          </p:nvPr>
        </p:nvSpPr>
        <p:spPr/>
        <p:txBody>
          <a:bodyPr>
            <a:normAutofit/>
          </a:bodyPr>
          <a:lstStyle/>
          <a:p>
            <a:r>
              <a:rPr lang="de-DE" sz="3600" dirty="0"/>
              <a:t>WELCHE FAKTOREN BEEINFLUSSEN DIE </a:t>
            </a:r>
            <a:br>
              <a:rPr lang="de-DE" sz="3600" dirty="0"/>
            </a:br>
            <a:r>
              <a:rPr lang="de-DE" sz="3600" dirty="0"/>
              <a:t>REAKTION AM STÄRKSTEN?</a:t>
            </a:r>
          </a:p>
        </p:txBody>
      </p:sp>
      <p:graphicFrame>
        <p:nvGraphicFramePr>
          <p:cNvPr id="6" name="Inhaltsplatzhalter 5">
            <a:extLst>
              <a:ext uri="{FF2B5EF4-FFF2-40B4-BE49-F238E27FC236}">
                <a16:creationId xmlns:a16="http://schemas.microsoft.com/office/drawing/2014/main" id="{8189501E-3C26-BB17-1862-F20BDA957DB9}"/>
              </a:ext>
            </a:extLst>
          </p:cNvPr>
          <p:cNvGraphicFramePr>
            <a:graphicFrameLocks noGrp="1"/>
          </p:cNvGraphicFramePr>
          <p:nvPr>
            <p:ph idx="1"/>
            <p:extLst>
              <p:ext uri="{D42A27DB-BD31-4B8C-83A1-F6EECF244321}">
                <p14:modId xmlns:p14="http://schemas.microsoft.com/office/powerpoint/2010/main" val="3901704639"/>
              </p:ext>
            </p:extLst>
          </p:nvPr>
        </p:nvGraphicFramePr>
        <p:xfrm>
          <a:off x="838200" y="1825625"/>
          <a:ext cx="10515600" cy="4351338"/>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feld 6">
            <a:extLst>
              <a:ext uri="{FF2B5EF4-FFF2-40B4-BE49-F238E27FC236}">
                <a16:creationId xmlns:a16="http://schemas.microsoft.com/office/drawing/2014/main" id="{7ACD08CF-C75E-AC46-57EA-D22547DD0EAD}"/>
              </a:ext>
            </a:extLst>
          </p:cNvPr>
          <p:cNvSpPr txBox="1"/>
          <p:nvPr/>
        </p:nvSpPr>
        <p:spPr>
          <a:xfrm>
            <a:off x="4468305" y="2067701"/>
            <a:ext cx="1008668" cy="261610"/>
          </a:xfrm>
          <a:prstGeom prst="rect">
            <a:avLst/>
          </a:prstGeom>
          <a:noFill/>
        </p:spPr>
        <p:txBody>
          <a:bodyPr wrap="square" rtlCol="0">
            <a:spAutoFit/>
          </a:bodyPr>
          <a:lstStyle/>
          <a:p>
            <a:r>
              <a:rPr lang="de-DE" sz="1100" dirty="0">
                <a:latin typeface="Calibri Light" panose="020F0302020204030204" pitchFamily="34" charset="0"/>
                <a:ea typeface="Calibri Light" panose="020F0302020204030204" pitchFamily="34" charset="0"/>
                <a:cs typeface="Calibri Light" panose="020F0302020204030204" pitchFamily="34" charset="0"/>
              </a:rPr>
              <a:t>(positiv)</a:t>
            </a:r>
          </a:p>
        </p:txBody>
      </p:sp>
      <p:sp>
        <p:nvSpPr>
          <p:cNvPr id="8" name="Textfeld 7">
            <a:extLst>
              <a:ext uri="{FF2B5EF4-FFF2-40B4-BE49-F238E27FC236}">
                <a16:creationId xmlns:a16="http://schemas.microsoft.com/office/drawing/2014/main" id="{D7C6F455-E46D-660D-E2B7-83DE7992C31C}"/>
              </a:ext>
            </a:extLst>
          </p:cNvPr>
          <p:cNvSpPr txBox="1"/>
          <p:nvPr/>
        </p:nvSpPr>
        <p:spPr>
          <a:xfrm>
            <a:off x="4670980" y="2543106"/>
            <a:ext cx="1008668" cy="261610"/>
          </a:xfrm>
          <a:prstGeom prst="rect">
            <a:avLst/>
          </a:prstGeom>
          <a:noFill/>
        </p:spPr>
        <p:txBody>
          <a:bodyPr wrap="square" rtlCol="0">
            <a:spAutoFit/>
          </a:bodyPr>
          <a:lstStyle/>
          <a:p>
            <a:r>
              <a:rPr lang="de-DE" sz="1100" dirty="0">
                <a:latin typeface="Calibri Light" panose="020F0302020204030204" pitchFamily="34" charset="0"/>
                <a:ea typeface="Calibri Light" panose="020F0302020204030204" pitchFamily="34" charset="0"/>
                <a:cs typeface="Calibri Light" panose="020F0302020204030204" pitchFamily="34" charset="0"/>
              </a:rPr>
              <a:t>(negativ)</a:t>
            </a:r>
          </a:p>
        </p:txBody>
      </p:sp>
      <p:sp>
        <p:nvSpPr>
          <p:cNvPr id="9" name="Textfeld 8">
            <a:extLst>
              <a:ext uri="{FF2B5EF4-FFF2-40B4-BE49-F238E27FC236}">
                <a16:creationId xmlns:a16="http://schemas.microsoft.com/office/drawing/2014/main" id="{82FE67D9-7BF3-5B08-1C2C-889200E5E246}"/>
              </a:ext>
            </a:extLst>
          </p:cNvPr>
          <p:cNvSpPr txBox="1"/>
          <p:nvPr/>
        </p:nvSpPr>
        <p:spPr>
          <a:xfrm>
            <a:off x="10849466" y="5432580"/>
            <a:ext cx="1008668" cy="261610"/>
          </a:xfrm>
          <a:prstGeom prst="rect">
            <a:avLst/>
          </a:prstGeom>
          <a:noFill/>
        </p:spPr>
        <p:txBody>
          <a:bodyPr wrap="square" rtlCol="0">
            <a:spAutoFit/>
          </a:bodyPr>
          <a:lstStyle/>
          <a:p>
            <a:r>
              <a:rPr lang="de-DE" sz="1100" dirty="0">
                <a:latin typeface="Calibri Light" panose="020F0302020204030204" pitchFamily="34" charset="0"/>
                <a:ea typeface="Calibri Light" panose="020F0302020204030204" pitchFamily="34" charset="0"/>
                <a:cs typeface="Calibri Light" panose="020F0302020204030204" pitchFamily="34" charset="0"/>
              </a:rPr>
              <a:t>(negativ)</a:t>
            </a:r>
          </a:p>
        </p:txBody>
      </p:sp>
      <p:sp>
        <p:nvSpPr>
          <p:cNvPr id="10" name="Textfeld 9">
            <a:extLst>
              <a:ext uri="{FF2B5EF4-FFF2-40B4-BE49-F238E27FC236}">
                <a16:creationId xmlns:a16="http://schemas.microsoft.com/office/drawing/2014/main" id="{6849E6C6-077C-13C1-A311-06176FCDF458}"/>
              </a:ext>
            </a:extLst>
          </p:cNvPr>
          <p:cNvSpPr txBox="1"/>
          <p:nvPr/>
        </p:nvSpPr>
        <p:spPr>
          <a:xfrm>
            <a:off x="11101633" y="6050290"/>
            <a:ext cx="1008668" cy="261610"/>
          </a:xfrm>
          <a:prstGeom prst="rect">
            <a:avLst/>
          </a:prstGeom>
          <a:noFill/>
        </p:spPr>
        <p:txBody>
          <a:bodyPr wrap="square" rtlCol="0">
            <a:spAutoFit/>
          </a:bodyPr>
          <a:lstStyle/>
          <a:p>
            <a:r>
              <a:rPr lang="de-DE" sz="1100" b="1" dirty="0">
                <a:latin typeface="Calibri" panose="020F0502020204030204" pitchFamily="34" charset="0"/>
                <a:ea typeface="Calibri" panose="020F0502020204030204" pitchFamily="34" charset="0"/>
                <a:cs typeface="Calibri" panose="020F0502020204030204" pitchFamily="34" charset="0"/>
              </a:rPr>
              <a:t>Koeffizient</a:t>
            </a:r>
          </a:p>
        </p:txBody>
      </p:sp>
      <p:sp>
        <p:nvSpPr>
          <p:cNvPr id="11" name="Textfeld 10">
            <a:extLst>
              <a:ext uri="{FF2B5EF4-FFF2-40B4-BE49-F238E27FC236}">
                <a16:creationId xmlns:a16="http://schemas.microsoft.com/office/drawing/2014/main" id="{E9772579-C905-A7F1-CAF8-1C59AAD50A5F}"/>
              </a:ext>
            </a:extLst>
          </p:cNvPr>
          <p:cNvSpPr txBox="1"/>
          <p:nvPr/>
        </p:nvSpPr>
        <p:spPr>
          <a:xfrm>
            <a:off x="6464430" y="2207933"/>
            <a:ext cx="4476945" cy="1316576"/>
          </a:xfrm>
          <a:prstGeom prst="rect">
            <a:avLst/>
          </a:prstGeom>
          <a:solidFill>
            <a:schemeClr val="bg1"/>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lIns="144000" rtlCol="0" anchor="ctr"/>
          <a:lstStyle>
            <a:defPPr>
              <a:defRPr lang="de-DE"/>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de-DE" b="1" dirty="0">
                <a:solidFill>
                  <a:schemeClr val="tx1"/>
                </a:solidFill>
                <a:latin typeface="Calibri" panose="020F0502020204030204" pitchFamily="34" charset="0"/>
                <a:ea typeface="Calibri" panose="020F0502020204030204" pitchFamily="34" charset="0"/>
                <a:cs typeface="Calibri" panose="020F0502020204030204" pitchFamily="34" charset="0"/>
              </a:rPr>
              <a:t>Nicht alle Kundenmerkmale sind gleich wichtig – einige Faktoren treiben die Reaktionswahrscheinlichkeit </a:t>
            </a:r>
            <a:br>
              <a:rPr lang="de-DE" b="1" dirty="0">
                <a:solidFill>
                  <a:schemeClr val="tx1"/>
                </a:solidFill>
                <a:latin typeface="Calibri" panose="020F0502020204030204" pitchFamily="34" charset="0"/>
                <a:ea typeface="Calibri" panose="020F0502020204030204" pitchFamily="34" charset="0"/>
                <a:cs typeface="Calibri" panose="020F0502020204030204" pitchFamily="34" charset="0"/>
              </a:rPr>
            </a:br>
            <a:r>
              <a:rPr lang="de-DE" b="1" dirty="0">
                <a:solidFill>
                  <a:schemeClr val="tx1"/>
                </a:solidFill>
                <a:latin typeface="Calibri" panose="020F0502020204030204" pitchFamily="34" charset="0"/>
                <a:ea typeface="Calibri" panose="020F0502020204030204" pitchFamily="34" charset="0"/>
                <a:cs typeface="Calibri" panose="020F0502020204030204" pitchFamily="34" charset="0"/>
              </a:rPr>
              <a:t>deutlich stärker</a:t>
            </a:r>
          </a:p>
        </p:txBody>
      </p:sp>
      <p:sp>
        <p:nvSpPr>
          <p:cNvPr id="12" name="Ellipse 11">
            <a:extLst>
              <a:ext uri="{FF2B5EF4-FFF2-40B4-BE49-F238E27FC236}">
                <a16:creationId xmlns:a16="http://schemas.microsoft.com/office/drawing/2014/main" id="{C1C1E7AA-60A3-989A-A65E-13D146C3AC16}"/>
              </a:ext>
            </a:extLst>
          </p:cNvPr>
          <p:cNvSpPr/>
          <p:nvPr/>
        </p:nvSpPr>
        <p:spPr>
          <a:xfrm>
            <a:off x="10777523" y="2027933"/>
            <a:ext cx="324110" cy="36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3200" dirty="0">
                <a:solidFill>
                  <a:schemeClr val="bg1"/>
                </a:solidFill>
                <a:latin typeface="Blackadder ITC" panose="020F0502020204030204" pitchFamily="82" charset="0"/>
              </a:rPr>
              <a:t>i</a:t>
            </a:r>
          </a:p>
        </p:txBody>
      </p:sp>
      <p:sp>
        <p:nvSpPr>
          <p:cNvPr id="3" name="Rechteck 2">
            <a:extLst>
              <a:ext uri="{FF2B5EF4-FFF2-40B4-BE49-F238E27FC236}">
                <a16:creationId xmlns:a16="http://schemas.microsoft.com/office/drawing/2014/main" id="{7C3C5943-7BA9-457F-2DD2-5D874AF0175D}"/>
              </a:ext>
            </a:extLst>
          </p:cNvPr>
          <p:cNvSpPr/>
          <p:nvPr/>
        </p:nvSpPr>
        <p:spPr>
          <a:xfrm>
            <a:off x="8795208" y="4191693"/>
            <a:ext cx="2146167" cy="1134231"/>
          </a:xfrm>
          <a:prstGeom prst="rect">
            <a:avLst/>
          </a:prstGeom>
          <a:solidFill>
            <a:schemeClr val="bg1"/>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tIns="108000" rtlCol="0" anchor="t" anchorCtr="0"/>
          <a:lstStyle/>
          <a:p>
            <a:r>
              <a:rPr lang="de-DE" sz="1200" dirty="0">
                <a:solidFill>
                  <a:schemeClr val="tx1"/>
                </a:solidFill>
              </a:rPr>
              <a:t>Balkenlänge = Einflussstärke</a:t>
            </a:r>
          </a:p>
          <a:p>
            <a:endParaRPr lang="de-DE" sz="1200" dirty="0">
              <a:solidFill>
                <a:schemeClr val="tx1"/>
              </a:solidFill>
            </a:endParaRPr>
          </a:p>
          <a:p>
            <a:r>
              <a:rPr lang="de-DE" sz="1200" dirty="0">
                <a:solidFill>
                  <a:schemeClr val="tx1"/>
                </a:solidFill>
              </a:rPr>
              <a:t>                       positiver Einfluss</a:t>
            </a:r>
          </a:p>
          <a:p>
            <a:endParaRPr lang="de-DE" sz="1200" dirty="0">
              <a:solidFill>
                <a:schemeClr val="tx1"/>
              </a:solidFill>
            </a:endParaRPr>
          </a:p>
          <a:p>
            <a:r>
              <a:rPr lang="de-DE" sz="1200" dirty="0">
                <a:solidFill>
                  <a:schemeClr val="tx1"/>
                </a:solidFill>
              </a:rPr>
              <a:t>                        negativer Einfluss</a:t>
            </a:r>
          </a:p>
        </p:txBody>
      </p:sp>
      <p:sp>
        <p:nvSpPr>
          <p:cNvPr id="4" name="Rechteck 3">
            <a:extLst>
              <a:ext uri="{FF2B5EF4-FFF2-40B4-BE49-F238E27FC236}">
                <a16:creationId xmlns:a16="http://schemas.microsoft.com/office/drawing/2014/main" id="{8CF2F14E-88F3-543E-D5EE-D36C2577E45A}"/>
              </a:ext>
            </a:extLst>
          </p:cNvPr>
          <p:cNvSpPr/>
          <p:nvPr/>
        </p:nvSpPr>
        <p:spPr>
          <a:xfrm>
            <a:off x="8908328" y="4694548"/>
            <a:ext cx="631596" cy="165491"/>
          </a:xfrm>
          <a:prstGeom prst="rect">
            <a:avLst/>
          </a:prstGeom>
          <a:gradFill>
            <a:gsLst>
              <a:gs pos="100000">
                <a:schemeClr val="tx2">
                  <a:lumMod val="75000"/>
                  <a:lumOff val="25000"/>
                </a:schemeClr>
              </a:gs>
              <a:gs pos="0">
                <a:schemeClr val="tx2">
                  <a:lumMod val="50000"/>
                  <a:lumOff val="5000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 name="Rechteck 4">
            <a:extLst>
              <a:ext uri="{FF2B5EF4-FFF2-40B4-BE49-F238E27FC236}">
                <a16:creationId xmlns:a16="http://schemas.microsoft.com/office/drawing/2014/main" id="{221E47C3-A595-7705-122B-B80B6F5DE8A3}"/>
              </a:ext>
            </a:extLst>
          </p:cNvPr>
          <p:cNvSpPr/>
          <p:nvPr/>
        </p:nvSpPr>
        <p:spPr>
          <a:xfrm>
            <a:off x="8908328" y="5044912"/>
            <a:ext cx="631596" cy="165491"/>
          </a:xfrm>
          <a:prstGeom prst="rect">
            <a:avLst/>
          </a:prstGeom>
          <a:gradFill>
            <a:gsLst>
              <a:gs pos="100000">
                <a:srgbClr val="FF0000"/>
              </a:gs>
              <a:gs pos="0">
                <a:schemeClr val="accent5">
                  <a:lumMod val="7500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Textfeld 12">
            <a:extLst>
              <a:ext uri="{FF2B5EF4-FFF2-40B4-BE49-F238E27FC236}">
                <a16:creationId xmlns:a16="http://schemas.microsoft.com/office/drawing/2014/main" id="{326D5675-A53F-9840-CEF3-FFF3A8EBC56C}"/>
              </a:ext>
            </a:extLst>
          </p:cNvPr>
          <p:cNvSpPr txBox="1"/>
          <p:nvPr/>
        </p:nvSpPr>
        <p:spPr>
          <a:xfrm>
            <a:off x="5291969" y="3502563"/>
            <a:ext cx="1008668" cy="261610"/>
          </a:xfrm>
          <a:prstGeom prst="rect">
            <a:avLst/>
          </a:prstGeom>
          <a:noFill/>
        </p:spPr>
        <p:txBody>
          <a:bodyPr wrap="square" rtlCol="0">
            <a:spAutoFit/>
          </a:bodyPr>
          <a:lstStyle/>
          <a:p>
            <a:r>
              <a:rPr lang="de-DE" sz="1100" dirty="0">
                <a:latin typeface="Calibri Light" panose="020F0302020204030204" pitchFamily="34" charset="0"/>
                <a:ea typeface="Calibri Light" panose="020F0302020204030204" pitchFamily="34" charset="0"/>
                <a:cs typeface="Calibri Light" panose="020F0302020204030204" pitchFamily="34" charset="0"/>
              </a:rPr>
              <a:t>(positiv)</a:t>
            </a:r>
          </a:p>
        </p:txBody>
      </p:sp>
      <p:sp>
        <p:nvSpPr>
          <p:cNvPr id="14" name="Textfeld 13">
            <a:extLst>
              <a:ext uri="{FF2B5EF4-FFF2-40B4-BE49-F238E27FC236}">
                <a16:creationId xmlns:a16="http://schemas.microsoft.com/office/drawing/2014/main" id="{213E6C79-2835-F474-C935-7E2C4837D6D3}"/>
              </a:ext>
            </a:extLst>
          </p:cNvPr>
          <p:cNvSpPr txBox="1"/>
          <p:nvPr/>
        </p:nvSpPr>
        <p:spPr>
          <a:xfrm>
            <a:off x="5745634" y="3998454"/>
            <a:ext cx="1008668" cy="261610"/>
          </a:xfrm>
          <a:prstGeom prst="rect">
            <a:avLst/>
          </a:prstGeom>
          <a:noFill/>
        </p:spPr>
        <p:txBody>
          <a:bodyPr wrap="square" rtlCol="0">
            <a:spAutoFit/>
          </a:bodyPr>
          <a:lstStyle/>
          <a:p>
            <a:r>
              <a:rPr lang="de-DE" sz="1100" dirty="0">
                <a:latin typeface="Calibri Light" panose="020F0302020204030204" pitchFamily="34" charset="0"/>
                <a:ea typeface="Calibri Light" panose="020F0302020204030204" pitchFamily="34" charset="0"/>
                <a:cs typeface="Calibri Light" panose="020F0302020204030204" pitchFamily="34" charset="0"/>
              </a:rPr>
              <a:t>(positiv)</a:t>
            </a:r>
          </a:p>
        </p:txBody>
      </p:sp>
      <p:sp>
        <p:nvSpPr>
          <p:cNvPr id="15" name="Textfeld 14">
            <a:extLst>
              <a:ext uri="{FF2B5EF4-FFF2-40B4-BE49-F238E27FC236}">
                <a16:creationId xmlns:a16="http://schemas.microsoft.com/office/drawing/2014/main" id="{0723DB04-0266-C7DD-1182-BB9392703FF9}"/>
              </a:ext>
            </a:extLst>
          </p:cNvPr>
          <p:cNvSpPr txBox="1"/>
          <p:nvPr/>
        </p:nvSpPr>
        <p:spPr>
          <a:xfrm>
            <a:off x="6955408" y="4948793"/>
            <a:ext cx="1008668" cy="261610"/>
          </a:xfrm>
          <a:prstGeom prst="rect">
            <a:avLst/>
          </a:prstGeom>
          <a:noFill/>
        </p:spPr>
        <p:txBody>
          <a:bodyPr wrap="square" rtlCol="0">
            <a:spAutoFit/>
          </a:bodyPr>
          <a:lstStyle/>
          <a:p>
            <a:r>
              <a:rPr lang="de-DE" sz="1100" dirty="0">
                <a:latin typeface="Calibri Light" panose="020F0302020204030204" pitchFamily="34" charset="0"/>
                <a:ea typeface="Calibri Light" panose="020F0302020204030204" pitchFamily="34" charset="0"/>
                <a:cs typeface="Calibri Light" panose="020F0302020204030204" pitchFamily="34" charset="0"/>
              </a:rPr>
              <a:t>(positiv)</a:t>
            </a:r>
          </a:p>
        </p:txBody>
      </p:sp>
    </p:spTree>
    <p:extLst>
      <p:ext uri="{BB962C8B-B14F-4D97-AF65-F5344CB8AC3E}">
        <p14:creationId xmlns:p14="http://schemas.microsoft.com/office/powerpoint/2010/main" val="4454715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Grafik 8" descr="Ein Bild, das Cartoon, Darstellung, Clipart enthält.&#10;&#10;KI-generierte Inhalte können fehlerhaft sein.">
            <a:extLst>
              <a:ext uri="{FF2B5EF4-FFF2-40B4-BE49-F238E27FC236}">
                <a16:creationId xmlns:a16="http://schemas.microsoft.com/office/drawing/2014/main" id="{93C6F76A-1668-D42F-36B7-CF2C0C0443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8718" y="1751019"/>
            <a:ext cx="3264195" cy="3264195"/>
          </a:xfrm>
          <a:prstGeom prst="rect">
            <a:avLst/>
          </a:prstGeom>
        </p:spPr>
      </p:pic>
      <p:sp>
        <p:nvSpPr>
          <p:cNvPr id="2" name="Titel 1">
            <a:extLst>
              <a:ext uri="{FF2B5EF4-FFF2-40B4-BE49-F238E27FC236}">
                <a16:creationId xmlns:a16="http://schemas.microsoft.com/office/drawing/2014/main" id="{08773C78-0BFC-BA3B-15DE-E67C5589BAE8}"/>
              </a:ext>
            </a:extLst>
          </p:cNvPr>
          <p:cNvSpPr>
            <a:spLocks noGrp="1"/>
          </p:cNvSpPr>
          <p:nvPr>
            <p:ph type="title"/>
          </p:nvPr>
        </p:nvSpPr>
        <p:spPr/>
        <p:txBody>
          <a:bodyPr>
            <a:normAutofit/>
          </a:bodyPr>
          <a:lstStyle/>
          <a:p>
            <a:r>
              <a:rPr lang="de-DE" sz="3600" dirty="0"/>
              <a:t>AUCH EMPFEHLUNGEN WERDEN RELEVANTER </a:t>
            </a:r>
          </a:p>
        </p:txBody>
      </p:sp>
      <p:sp>
        <p:nvSpPr>
          <p:cNvPr id="8" name="Textfeld 7">
            <a:extLst>
              <a:ext uri="{FF2B5EF4-FFF2-40B4-BE49-F238E27FC236}">
                <a16:creationId xmlns:a16="http://schemas.microsoft.com/office/drawing/2014/main" id="{9164A99D-05A3-5AEF-D6E6-49B8DFC7421B}"/>
              </a:ext>
            </a:extLst>
          </p:cNvPr>
          <p:cNvSpPr txBox="1"/>
          <p:nvPr/>
        </p:nvSpPr>
        <p:spPr>
          <a:xfrm>
            <a:off x="0" y="5213332"/>
            <a:ext cx="12192000" cy="1093200"/>
          </a:xfrm>
          <a:prstGeom prst="rect">
            <a:avLst/>
          </a:prstGeom>
          <a:gradFill>
            <a:gsLst>
              <a:gs pos="0">
                <a:schemeClr val="accent1">
                  <a:lumMod val="60000"/>
                  <a:lumOff val="40000"/>
                </a:schemeClr>
              </a:gs>
              <a:gs pos="100000">
                <a:schemeClr val="accent1">
                  <a:lumMod val="7500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de-DE"/>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de-DE" sz="2400" dirty="0">
                <a:latin typeface="Calibri" panose="020F0502020204030204" pitchFamily="34" charset="0"/>
                <a:ea typeface="Calibri" panose="020F0502020204030204" pitchFamily="34" charset="0"/>
                <a:cs typeface="Calibri" panose="020F0502020204030204" pitchFamily="34" charset="0"/>
              </a:rPr>
              <a:t>Segmentbasierte Empfehlungen sind deutlich relevanter als eine reine Popularitätslogik </a:t>
            </a:r>
          </a:p>
        </p:txBody>
      </p:sp>
      <p:grpSp>
        <p:nvGrpSpPr>
          <p:cNvPr id="11" name="Gruppieren 10">
            <a:extLst>
              <a:ext uri="{FF2B5EF4-FFF2-40B4-BE49-F238E27FC236}">
                <a16:creationId xmlns:a16="http://schemas.microsoft.com/office/drawing/2014/main" id="{3DA4547A-999C-F12E-D8E3-643EE05A3364}"/>
              </a:ext>
            </a:extLst>
          </p:cNvPr>
          <p:cNvGrpSpPr/>
          <p:nvPr/>
        </p:nvGrpSpPr>
        <p:grpSpPr>
          <a:xfrm>
            <a:off x="4635795" y="1690688"/>
            <a:ext cx="6150098" cy="3126409"/>
            <a:chOff x="4635795" y="1690688"/>
            <a:chExt cx="6150098" cy="3126409"/>
          </a:xfrm>
        </p:grpSpPr>
        <p:graphicFrame>
          <p:nvGraphicFramePr>
            <p:cNvPr id="4" name="Diagramm 3">
              <a:extLst>
                <a:ext uri="{FF2B5EF4-FFF2-40B4-BE49-F238E27FC236}">
                  <a16:creationId xmlns:a16="http://schemas.microsoft.com/office/drawing/2014/main" id="{D1317186-DEAB-0157-DDA7-5CA60913F8F4}"/>
                </a:ext>
              </a:extLst>
            </p:cNvPr>
            <p:cNvGraphicFramePr/>
            <p:nvPr>
              <p:extLst>
                <p:ext uri="{D42A27DB-BD31-4B8C-83A1-F6EECF244321}">
                  <p14:modId xmlns:p14="http://schemas.microsoft.com/office/powerpoint/2010/main" val="1168662649"/>
                </p:ext>
              </p:extLst>
            </p:nvPr>
          </p:nvGraphicFramePr>
          <p:xfrm>
            <a:off x="4635795" y="1690688"/>
            <a:ext cx="5328337" cy="3126409"/>
          </p:xfrm>
          <a:graphic>
            <a:graphicData uri="http://schemas.openxmlformats.org/drawingml/2006/chart">
              <c:chart xmlns:c="http://schemas.openxmlformats.org/drawingml/2006/chart" xmlns:r="http://schemas.openxmlformats.org/officeDocument/2006/relationships" r:id="rId4"/>
            </a:graphicData>
          </a:graphic>
        </p:graphicFrame>
        <p:sp>
          <p:nvSpPr>
            <p:cNvPr id="5" name="Sprechblase: rechteckig 4">
              <a:extLst>
                <a:ext uri="{FF2B5EF4-FFF2-40B4-BE49-F238E27FC236}">
                  <a16:creationId xmlns:a16="http://schemas.microsoft.com/office/drawing/2014/main" id="{1C05BA46-307E-78CD-5799-71A8813EE784}"/>
                </a:ext>
              </a:extLst>
            </p:cNvPr>
            <p:cNvSpPr/>
            <p:nvPr/>
          </p:nvSpPr>
          <p:spPr>
            <a:xfrm>
              <a:off x="9311384" y="2702947"/>
              <a:ext cx="1474509" cy="445605"/>
            </a:xfrm>
            <a:prstGeom prst="wedgeRectCallout">
              <a:avLst>
                <a:gd name="adj1" fmla="val -73888"/>
                <a:gd name="adj2" fmla="val -66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400" dirty="0">
                  <a:solidFill>
                    <a:schemeClr val="tx1"/>
                  </a:solidFill>
                  <a:latin typeface="Calibri" panose="020F0502020204030204" pitchFamily="34" charset="0"/>
                  <a:ea typeface="Calibri" panose="020F0502020204030204" pitchFamily="34" charset="0"/>
                  <a:cs typeface="Calibri" panose="020F0502020204030204" pitchFamily="34" charset="0"/>
                </a:rPr>
                <a:t>Lift: +3066,7%</a:t>
              </a:r>
              <a:endParaRPr lang="de-DE" sz="1400" dirty="0"/>
            </a:p>
          </p:txBody>
        </p:sp>
        <p:sp>
          <p:nvSpPr>
            <p:cNvPr id="3" name="Rechteck 2">
              <a:extLst>
                <a:ext uri="{FF2B5EF4-FFF2-40B4-BE49-F238E27FC236}">
                  <a16:creationId xmlns:a16="http://schemas.microsoft.com/office/drawing/2014/main" id="{330CAADE-67C4-C8DC-E91F-EDA930A557F2}"/>
                </a:ext>
              </a:extLst>
            </p:cNvPr>
            <p:cNvSpPr/>
            <p:nvPr/>
          </p:nvSpPr>
          <p:spPr>
            <a:xfrm>
              <a:off x="6368903" y="4042719"/>
              <a:ext cx="138223" cy="1382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 name="Rechteck 5">
              <a:extLst>
                <a:ext uri="{FF2B5EF4-FFF2-40B4-BE49-F238E27FC236}">
                  <a16:creationId xmlns:a16="http://schemas.microsoft.com/office/drawing/2014/main" id="{57AFC513-3714-CAA0-FAA4-4E247EC90A4E}"/>
                </a:ext>
              </a:extLst>
            </p:cNvPr>
            <p:cNvSpPr/>
            <p:nvPr/>
          </p:nvSpPr>
          <p:spPr>
            <a:xfrm>
              <a:off x="8890589" y="2345055"/>
              <a:ext cx="138223" cy="1382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sp>
        <p:nvSpPr>
          <p:cNvPr id="10" name="Textfeld 9">
            <a:extLst>
              <a:ext uri="{FF2B5EF4-FFF2-40B4-BE49-F238E27FC236}">
                <a16:creationId xmlns:a16="http://schemas.microsoft.com/office/drawing/2014/main" id="{C0996C2E-C547-4F81-985D-E0D4F67484DC}"/>
              </a:ext>
            </a:extLst>
          </p:cNvPr>
          <p:cNvSpPr txBox="1"/>
          <p:nvPr/>
        </p:nvSpPr>
        <p:spPr>
          <a:xfrm>
            <a:off x="262453" y="6492875"/>
            <a:ext cx="2062716" cy="215444"/>
          </a:xfrm>
          <a:prstGeom prst="rect">
            <a:avLst/>
          </a:prstGeom>
          <a:noFill/>
        </p:spPr>
        <p:txBody>
          <a:bodyPr wrap="square" rtlCol="0">
            <a:spAutoFit/>
          </a:bodyPr>
          <a:lstStyle/>
          <a:p>
            <a:r>
              <a:rPr lang="de-DE" sz="800" b="0" i="0" dirty="0">
                <a:solidFill>
                  <a:schemeClr val="bg2">
                    <a:lumMod val="50000"/>
                  </a:schemeClr>
                </a:solidFill>
                <a:effectLst/>
                <a:latin typeface="Calibri" panose="020F0502020204030204" pitchFamily="34" charset="0"/>
                <a:ea typeface="Calibri" panose="020F0502020204030204" pitchFamily="34" charset="0"/>
                <a:cs typeface="Calibri" panose="020F0502020204030204" pitchFamily="34" charset="0"/>
              </a:rPr>
              <a:t>Bild von </a:t>
            </a:r>
            <a:r>
              <a:rPr lang="de-DE" sz="800" b="0" i="0" dirty="0" err="1">
                <a:solidFill>
                  <a:schemeClr val="bg2">
                    <a:lumMod val="50000"/>
                  </a:schemeClr>
                </a:solidFill>
                <a:effectLst/>
                <a:latin typeface="Calibri" panose="020F0502020204030204" pitchFamily="34" charset="0"/>
                <a:ea typeface="Calibri" panose="020F0502020204030204" pitchFamily="34" charset="0"/>
                <a:cs typeface="Calibri" panose="020F0502020204030204" pitchFamily="34" charset="0"/>
              </a:rPr>
              <a:t>vectorjuice</a:t>
            </a:r>
            <a:r>
              <a:rPr lang="de-DE" sz="800" b="0" i="0" dirty="0">
                <a:solidFill>
                  <a:schemeClr val="bg2">
                    <a:lumMod val="50000"/>
                  </a:schemeClr>
                </a:solidFill>
                <a:effectLst/>
                <a:latin typeface="Calibri" panose="020F0502020204030204" pitchFamily="34" charset="0"/>
                <a:ea typeface="Calibri" panose="020F0502020204030204" pitchFamily="34" charset="0"/>
                <a:cs typeface="Calibri" panose="020F0502020204030204" pitchFamily="34" charset="0"/>
              </a:rPr>
              <a:t> auf </a:t>
            </a:r>
            <a:r>
              <a:rPr lang="de-DE" sz="800" b="0" i="0" dirty="0" err="1">
                <a:solidFill>
                  <a:schemeClr val="bg2">
                    <a:lumMod val="50000"/>
                  </a:schemeClr>
                </a:solidFill>
                <a:effectLst/>
                <a:latin typeface="Calibri" panose="020F0502020204030204" pitchFamily="34" charset="0"/>
                <a:ea typeface="Calibri" panose="020F0502020204030204" pitchFamily="34" charset="0"/>
                <a:cs typeface="Calibri" panose="020F0502020204030204" pitchFamily="34" charset="0"/>
              </a:rPr>
              <a:t>Freepik</a:t>
            </a:r>
            <a:endParaRPr lang="de-DE" sz="800" dirty="0">
              <a:solidFill>
                <a:schemeClr val="bg2">
                  <a:lumMod val="50000"/>
                </a:schemeClr>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1116296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rafik 3" descr="Ein Bild, das Electric Blue (Farbe), Design enthält.&#10;&#10;KI-generierte Inhalte können fehlerhaft sein.">
            <a:extLst>
              <a:ext uri="{FF2B5EF4-FFF2-40B4-BE49-F238E27FC236}">
                <a16:creationId xmlns:a16="http://schemas.microsoft.com/office/drawing/2014/main" id="{7CABD835-7E6D-8A66-3153-1FB548585F7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84239" y="3620654"/>
            <a:ext cx="2256269" cy="2256269"/>
          </a:xfrm>
          <a:prstGeom prst="rect">
            <a:avLst/>
          </a:prstGeom>
        </p:spPr>
      </p:pic>
      <p:sp>
        <p:nvSpPr>
          <p:cNvPr id="2" name="Titel 1">
            <a:extLst>
              <a:ext uri="{FF2B5EF4-FFF2-40B4-BE49-F238E27FC236}">
                <a16:creationId xmlns:a16="http://schemas.microsoft.com/office/drawing/2014/main" id="{66D727E9-B307-547D-857A-90662E7CD485}"/>
              </a:ext>
            </a:extLst>
          </p:cNvPr>
          <p:cNvSpPr>
            <a:spLocks noGrp="1"/>
          </p:cNvSpPr>
          <p:nvPr>
            <p:ph type="title"/>
          </p:nvPr>
        </p:nvSpPr>
        <p:spPr/>
        <p:txBody>
          <a:bodyPr>
            <a:noAutofit/>
          </a:bodyPr>
          <a:lstStyle/>
          <a:p>
            <a:r>
              <a:rPr lang="de-DE" sz="3600" dirty="0">
                <a:latin typeface="Calibri" panose="020F0502020204030204" pitchFamily="34" charset="0"/>
                <a:ea typeface="Calibri" panose="020F0502020204030204" pitchFamily="34" charset="0"/>
                <a:cs typeface="Calibri" panose="020F0502020204030204" pitchFamily="34" charset="0"/>
              </a:rPr>
              <a:t>MEHR PERSONALISIERUNG = MEHR PERFORMANCE…</a:t>
            </a:r>
            <a:br>
              <a:rPr lang="de-DE" sz="3600" dirty="0">
                <a:latin typeface="Calibri" panose="020F0502020204030204" pitchFamily="34" charset="0"/>
                <a:ea typeface="Calibri" panose="020F0502020204030204" pitchFamily="34" charset="0"/>
                <a:cs typeface="Calibri" panose="020F0502020204030204" pitchFamily="34" charset="0"/>
              </a:rPr>
            </a:br>
            <a:r>
              <a:rPr lang="de-DE" sz="3600" dirty="0">
                <a:latin typeface="Calibri" panose="020F0502020204030204" pitchFamily="34" charset="0"/>
                <a:ea typeface="Calibri" panose="020F0502020204030204" pitchFamily="34" charset="0"/>
                <a:cs typeface="Calibri" panose="020F0502020204030204" pitchFamily="34" charset="0"/>
              </a:rPr>
              <a:t>ABER WAS KOSTET DAS?</a:t>
            </a:r>
          </a:p>
        </p:txBody>
      </p:sp>
      <p:sp>
        <p:nvSpPr>
          <p:cNvPr id="6" name="Textplatzhalter 5">
            <a:extLst>
              <a:ext uri="{FF2B5EF4-FFF2-40B4-BE49-F238E27FC236}">
                <a16:creationId xmlns:a16="http://schemas.microsoft.com/office/drawing/2014/main" id="{BA6364C9-D53A-5C95-A22D-CFDED051A8DC}"/>
              </a:ext>
            </a:extLst>
          </p:cNvPr>
          <p:cNvSpPr>
            <a:spLocks noGrp="1"/>
          </p:cNvSpPr>
          <p:nvPr>
            <p:ph type="body" idx="1"/>
          </p:nvPr>
        </p:nvSpPr>
        <p:spPr>
          <a:xfrm>
            <a:off x="839788" y="1441019"/>
            <a:ext cx="5157787" cy="823912"/>
          </a:xfrm>
        </p:spPr>
        <p:txBody>
          <a:bodyPr>
            <a:normAutofit/>
          </a:bodyPr>
          <a:lstStyle/>
          <a:p>
            <a:r>
              <a:rPr lang="de-DE" dirty="0">
                <a:latin typeface="Calibri" panose="020F0502020204030204" pitchFamily="34" charset="0"/>
                <a:ea typeface="Calibri" panose="020F0502020204030204" pitchFamily="34" charset="0"/>
                <a:cs typeface="Calibri" panose="020F0502020204030204" pitchFamily="34" charset="0"/>
              </a:rPr>
              <a:t>Personalisierung (Kontext)</a:t>
            </a:r>
          </a:p>
        </p:txBody>
      </p:sp>
      <p:sp>
        <p:nvSpPr>
          <p:cNvPr id="7" name="Inhaltsplatzhalter 6">
            <a:extLst>
              <a:ext uri="{FF2B5EF4-FFF2-40B4-BE49-F238E27FC236}">
                <a16:creationId xmlns:a16="http://schemas.microsoft.com/office/drawing/2014/main" id="{AE633E54-EBDB-38C5-7E4C-911305E2DA80}"/>
              </a:ext>
            </a:extLst>
          </p:cNvPr>
          <p:cNvSpPr>
            <a:spLocks noGrp="1"/>
          </p:cNvSpPr>
          <p:nvPr>
            <p:ph sz="half" idx="2"/>
          </p:nvPr>
        </p:nvSpPr>
        <p:spPr>
          <a:xfrm>
            <a:off x="839788" y="2264931"/>
            <a:ext cx="5157787" cy="3794118"/>
          </a:xfrm>
        </p:spPr>
        <p:txBody>
          <a:bodyPr>
            <a:normAutofit lnSpcReduction="10000"/>
          </a:bodyPr>
          <a:lstStyle/>
          <a:p>
            <a:pPr marL="0" indent="0">
              <a:buNone/>
            </a:pPr>
            <a:r>
              <a:rPr lang="de-DE" sz="1800" b="1" dirty="0">
                <a:latin typeface="Calibri Light" panose="020F0302020204030204" pitchFamily="34" charset="0"/>
                <a:ea typeface="Calibri Light" panose="020F0302020204030204" pitchFamily="34" charset="0"/>
                <a:cs typeface="Calibri Light" panose="020F0302020204030204" pitchFamily="34" charset="0"/>
              </a:rPr>
              <a:t>Steigende Personalisierung bedeutet:</a:t>
            </a:r>
            <a:endParaRPr lang="de-DE" sz="1800" dirty="0">
              <a:latin typeface="Calibri Light" panose="020F0302020204030204" pitchFamily="34" charset="0"/>
              <a:ea typeface="Calibri Light" panose="020F0302020204030204" pitchFamily="34" charset="0"/>
              <a:cs typeface="Calibri Light" panose="020F0302020204030204" pitchFamily="34" charset="0"/>
            </a:endParaRPr>
          </a:p>
          <a:p>
            <a:pPr>
              <a:buFont typeface="Symbol" panose="05050102010706020507" pitchFamily="18" charset="2"/>
              <a:buChar char="-"/>
            </a:pPr>
            <a:r>
              <a:rPr lang="de-DE" sz="1600" dirty="0">
                <a:latin typeface="Calibri" panose="020F0502020204030204" pitchFamily="34" charset="0"/>
                <a:ea typeface="Calibri" panose="020F0502020204030204" pitchFamily="34" charset="0"/>
                <a:cs typeface="Calibri" panose="020F0502020204030204" pitchFamily="34" charset="0"/>
              </a:rPr>
              <a:t>mehr Daten pro Nutzer </a:t>
            </a:r>
          </a:p>
          <a:p>
            <a:pPr>
              <a:buFont typeface="Symbol" panose="05050102010706020507" pitchFamily="18" charset="2"/>
              <a:buChar char="-"/>
            </a:pPr>
            <a:r>
              <a:rPr lang="de-DE" sz="1600" dirty="0">
                <a:latin typeface="Calibri" panose="020F0502020204030204" pitchFamily="34" charset="0"/>
                <a:ea typeface="Calibri" panose="020F0502020204030204" pitchFamily="34" charset="0"/>
                <a:cs typeface="Calibri" panose="020F0502020204030204" pitchFamily="34" charset="0"/>
              </a:rPr>
              <a:t>detailliertere Profile </a:t>
            </a:r>
          </a:p>
          <a:p>
            <a:pPr>
              <a:buFont typeface="Symbol" panose="05050102010706020507" pitchFamily="18" charset="2"/>
              <a:buChar char="-"/>
            </a:pPr>
            <a:r>
              <a:rPr lang="de-DE" sz="1600" dirty="0">
                <a:latin typeface="Calibri" panose="020F0502020204030204" pitchFamily="34" charset="0"/>
                <a:ea typeface="Calibri" panose="020F0502020204030204" pitchFamily="34" charset="0"/>
                <a:cs typeface="Calibri" panose="020F0502020204030204" pitchFamily="34" charset="0"/>
              </a:rPr>
              <a:t>automatisierte Entscheidungen</a:t>
            </a:r>
          </a:p>
          <a:p>
            <a:endParaRPr lang="de-DE" dirty="0"/>
          </a:p>
        </p:txBody>
      </p:sp>
      <p:sp>
        <p:nvSpPr>
          <p:cNvPr id="8" name="Textplatzhalter 7">
            <a:extLst>
              <a:ext uri="{FF2B5EF4-FFF2-40B4-BE49-F238E27FC236}">
                <a16:creationId xmlns:a16="http://schemas.microsoft.com/office/drawing/2014/main" id="{6DB1EAD4-41FB-4ECA-7BF4-DE274DF538A8}"/>
              </a:ext>
            </a:extLst>
          </p:cNvPr>
          <p:cNvSpPr>
            <a:spLocks noGrp="1"/>
          </p:cNvSpPr>
          <p:nvPr>
            <p:ph type="body" sz="quarter" idx="3"/>
          </p:nvPr>
        </p:nvSpPr>
        <p:spPr>
          <a:xfrm>
            <a:off x="6172200" y="1441019"/>
            <a:ext cx="5183188" cy="823912"/>
          </a:xfrm>
        </p:spPr>
        <p:txBody>
          <a:bodyPr vert="horz" lIns="91440" tIns="45720" rIns="91440" bIns="45720" rtlCol="0" anchor="b">
            <a:normAutofit/>
          </a:bodyPr>
          <a:lstStyle/>
          <a:p>
            <a:r>
              <a:rPr lang="de-DE" dirty="0">
                <a:latin typeface="Calibri" panose="020F0502020204030204" pitchFamily="34" charset="0"/>
                <a:ea typeface="Calibri" panose="020F0502020204030204" pitchFamily="34" charset="0"/>
                <a:cs typeface="Calibri" panose="020F0502020204030204" pitchFamily="34" charset="0"/>
              </a:rPr>
              <a:t>Rechtlicher Rahmen</a:t>
            </a:r>
          </a:p>
        </p:txBody>
      </p:sp>
      <p:sp>
        <p:nvSpPr>
          <p:cNvPr id="9" name="Inhaltsplatzhalter 8">
            <a:extLst>
              <a:ext uri="{FF2B5EF4-FFF2-40B4-BE49-F238E27FC236}">
                <a16:creationId xmlns:a16="http://schemas.microsoft.com/office/drawing/2014/main" id="{CDD385F8-6254-E6FF-6C0B-0729C3457FE0}"/>
              </a:ext>
            </a:extLst>
          </p:cNvPr>
          <p:cNvSpPr>
            <a:spLocks noGrp="1"/>
          </p:cNvSpPr>
          <p:nvPr>
            <p:ph sz="quarter" idx="4"/>
          </p:nvPr>
        </p:nvSpPr>
        <p:spPr>
          <a:xfrm>
            <a:off x="6172200" y="2264931"/>
            <a:ext cx="5183188" cy="3794119"/>
          </a:xfrm>
        </p:spPr>
        <p:txBody>
          <a:bodyPr>
            <a:normAutofit lnSpcReduction="10000"/>
          </a:bodyPr>
          <a:lstStyle/>
          <a:p>
            <a:pPr marL="0" indent="0">
              <a:buNone/>
            </a:pPr>
            <a:r>
              <a:rPr lang="de-DE" sz="1800" b="1" dirty="0">
                <a:latin typeface="Calibri Light" panose="020F0302020204030204" pitchFamily="34" charset="0"/>
                <a:ea typeface="Calibri Light" panose="020F0302020204030204" pitchFamily="34" charset="0"/>
                <a:cs typeface="Calibri Light" panose="020F0302020204030204" pitchFamily="34" charset="0"/>
              </a:rPr>
              <a:t>DSGVO (Art. 22)</a:t>
            </a:r>
          </a:p>
          <a:p>
            <a:pPr>
              <a:buFont typeface="Symbol" panose="05050102010706020507" pitchFamily="18" charset="2"/>
              <a:buChar char="-"/>
            </a:pPr>
            <a:r>
              <a:rPr lang="de-DE" sz="1600" dirty="0">
                <a:latin typeface="Calibri" panose="020F0502020204030204" pitchFamily="34" charset="0"/>
                <a:ea typeface="Calibri" panose="020F0502020204030204" pitchFamily="34" charset="0"/>
                <a:cs typeface="Calibri" panose="020F0502020204030204" pitchFamily="34" charset="0"/>
              </a:rPr>
              <a:t>automatisierte Entscheidungen auf Einzelebene kritisch</a:t>
            </a:r>
          </a:p>
          <a:p>
            <a:pPr>
              <a:spcAft>
                <a:spcPts val="1200"/>
              </a:spcAft>
              <a:buFont typeface="Symbol" panose="05050102010706020507" pitchFamily="18" charset="2"/>
              <a:buChar char="-"/>
            </a:pPr>
            <a:r>
              <a:rPr lang="de-DE" sz="1600" dirty="0">
                <a:latin typeface="Calibri" panose="020F0502020204030204" pitchFamily="34" charset="0"/>
                <a:ea typeface="Calibri" panose="020F0502020204030204" pitchFamily="34" charset="0"/>
                <a:cs typeface="Calibri" panose="020F0502020204030204" pitchFamily="34" charset="0"/>
              </a:rPr>
              <a:t>insbesondere bei fehlender menschlicher Kontrolle</a:t>
            </a:r>
          </a:p>
          <a:p>
            <a:pPr marL="0" indent="0">
              <a:buNone/>
            </a:pPr>
            <a:r>
              <a:rPr lang="de-DE" sz="1800" b="1" dirty="0">
                <a:latin typeface="Calibri Light" panose="020F0302020204030204" pitchFamily="34" charset="0"/>
                <a:ea typeface="Calibri Light" panose="020F0302020204030204" pitchFamily="34" charset="0"/>
                <a:cs typeface="Calibri Light" panose="020F0302020204030204" pitchFamily="34" charset="0"/>
              </a:rPr>
              <a:t>EDPB-Leitlinien</a:t>
            </a:r>
          </a:p>
          <a:p>
            <a:pPr>
              <a:buFont typeface="Symbol" panose="05050102010706020507" pitchFamily="18" charset="2"/>
              <a:buChar char="-"/>
            </a:pPr>
            <a:r>
              <a:rPr lang="de-DE" sz="1600" dirty="0" err="1">
                <a:latin typeface="Calibri" panose="020F0502020204030204" pitchFamily="34" charset="0"/>
                <a:ea typeface="Calibri" panose="020F0502020204030204" pitchFamily="34" charset="0"/>
                <a:cs typeface="Calibri" panose="020F0502020204030204" pitchFamily="34" charset="0"/>
              </a:rPr>
              <a:t>Profiling</a:t>
            </a:r>
            <a:r>
              <a:rPr lang="de-DE" sz="1600" dirty="0">
                <a:latin typeface="Calibri" panose="020F0502020204030204" pitchFamily="34" charset="0"/>
                <a:ea typeface="Calibri" panose="020F0502020204030204" pitchFamily="34" charset="0"/>
                <a:cs typeface="Calibri" panose="020F0502020204030204" pitchFamily="34" charset="0"/>
              </a:rPr>
              <a:t> = Bewertung persönlicher Merkmale</a:t>
            </a:r>
          </a:p>
          <a:p>
            <a:pPr>
              <a:spcAft>
                <a:spcPts val="1200"/>
              </a:spcAft>
              <a:buFont typeface="Symbol" panose="05050102010706020507" pitchFamily="18" charset="2"/>
              <a:buChar char="-"/>
            </a:pPr>
            <a:r>
              <a:rPr lang="de-DE" sz="1600" dirty="0">
                <a:latin typeface="Calibri" panose="020F0502020204030204" pitchFamily="34" charset="0"/>
                <a:ea typeface="Calibri" panose="020F0502020204030204" pitchFamily="34" charset="0"/>
                <a:cs typeface="Calibri" panose="020F0502020204030204" pitchFamily="34" charset="0"/>
              </a:rPr>
              <a:t>Risiko steigt mit Detailtiefe und Individualisierung</a:t>
            </a:r>
          </a:p>
          <a:p>
            <a:pPr marL="0" indent="0">
              <a:buNone/>
            </a:pPr>
            <a:r>
              <a:rPr lang="de-DE" sz="1800" b="1" dirty="0">
                <a:latin typeface="Calibri Light" panose="020F0302020204030204" pitchFamily="34" charset="0"/>
                <a:ea typeface="Calibri Light" panose="020F0302020204030204" pitchFamily="34" charset="0"/>
                <a:cs typeface="Calibri Light" panose="020F0302020204030204" pitchFamily="34" charset="0"/>
              </a:rPr>
              <a:t>ICO </a:t>
            </a:r>
            <a:r>
              <a:rPr lang="de-DE" sz="1800" b="1" dirty="0" err="1">
                <a:latin typeface="Calibri Light" panose="020F0302020204030204" pitchFamily="34" charset="0"/>
                <a:ea typeface="Calibri Light" panose="020F0302020204030204" pitchFamily="34" charset="0"/>
                <a:cs typeface="Calibri Light" panose="020F0302020204030204" pitchFamily="34" charset="0"/>
              </a:rPr>
              <a:t>Guidance</a:t>
            </a:r>
            <a:endParaRPr lang="de-DE" sz="1800" b="1" dirty="0">
              <a:latin typeface="Calibri Light" panose="020F0302020204030204" pitchFamily="34" charset="0"/>
              <a:ea typeface="Calibri Light" panose="020F0302020204030204" pitchFamily="34" charset="0"/>
              <a:cs typeface="Calibri Light" panose="020F0302020204030204" pitchFamily="34" charset="0"/>
            </a:endParaRPr>
          </a:p>
          <a:p>
            <a:pPr>
              <a:buFont typeface="Symbol" panose="05050102010706020507" pitchFamily="18" charset="2"/>
              <a:buChar char="-"/>
            </a:pPr>
            <a:r>
              <a:rPr lang="de-DE" sz="1600" dirty="0">
                <a:latin typeface="Calibri" panose="020F0502020204030204" pitchFamily="34" charset="0"/>
                <a:ea typeface="Calibri" panose="020F0502020204030204" pitchFamily="34" charset="0"/>
                <a:cs typeface="Calibri" panose="020F0502020204030204" pitchFamily="34" charset="0"/>
              </a:rPr>
              <a:t>Transparenz gegenüber Nutzern</a:t>
            </a:r>
          </a:p>
          <a:p>
            <a:pPr>
              <a:buFont typeface="Symbol" panose="05050102010706020507" pitchFamily="18" charset="2"/>
              <a:buChar char="-"/>
            </a:pPr>
            <a:r>
              <a:rPr lang="de-DE" sz="1600" dirty="0">
                <a:latin typeface="Calibri" panose="020F0502020204030204" pitchFamily="34" charset="0"/>
                <a:ea typeface="Calibri" panose="020F0502020204030204" pitchFamily="34" charset="0"/>
                <a:cs typeface="Calibri" panose="020F0502020204030204" pitchFamily="34" charset="0"/>
              </a:rPr>
              <a:t>Fairness und Vermeidung unerwarteter Personalisierung</a:t>
            </a:r>
          </a:p>
          <a:p>
            <a:pPr>
              <a:buFont typeface="Symbol" panose="05050102010706020507" pitchFamily="18" charset="2"/>
              <a:buChar char="-"/>
            </a:pPr>
            <a:r>
              <a:rPr lang="de-DE" sz="1600" dirty="0">
                <a:latin typeface="Calibri" panose="020F0502020204030204" pitchFamily="34" charset="0"/>
                <a:ea typeface="Calibri" panose="020F0502020204030204" pitchFamily="34" charset="0"/>
                <a:cs typeface="Calibri" panose="020F0502020204030204" pitchFamily="34" charset="0"/>
              </a:rPr>
              <a:t>klare Rechenschaftspflicht für Unternehmen</a:t>
            </a:r>
          </a:p>
        </p:txBody>
      </p:sp>
      <p:sp>
        <p:nvSpPr>
          <p:cNvPr id="20" name="Textfeld 19">
            <a:extLst>
              <a:ext uri="{FF2B5EF4-FFF2-40B4-BE49-F238E27FC236}">
                <a16:creationId xmlns:a16="http://schemas.microsoft.com/office/drawing/2014/main" id="{F9C6EF3A-B640-FA5D-CCD4-5856EB1F68E9}"/>
              </a:ext>
            </a:extLst>
          </p:cNvPr>
          <p:cNvSpPr txBox="1"/>
          <p:nvPr/>
        </p:nvSpPr>
        <p:spPr>
          <a:xfrm>
            <a:off x="1" y="6040584"/>
            <a:ext cx="12192000" cy="498761"/>
          </a:xfrm>
          <a:prstGeom prst="rect">
            <a:avLst/>
          </a:prstGeom>
          <a:gradFill>
            <a:gsLst>
              <a:gs pos="0">
                <a:schemeClr val="accent1">
                  <a:lumMod val="60000"/>
                  <a:lumOff val="40000"/>
                </a:schemeClr>
              </a:gs>
              <a:gs pos="100000">
                <a:schemeClr val="tx2">
                  <a:lumMod val="75000"/>
                  <a:lumOff val="2500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de-DE"/>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de-DE" dirty="0">
                <a:latin typeface="Calibri" panose="020F0502020204030204" pitchFamily="34" charset="0"/>
                <a:ea typeface="Calibri" panose="020F0502020204030204" pitchFamily="34" charset="0"/>
                <a:cs typeface="Calibri" panose="020F0502020204030204" pitchFamily="34" charset="0"/>
              </a:rPr>
              <a:t>Datenschutzrisiko steigt mit zunehmender Individualisierung</a:t>
            </a:r>
          </a:p>
        </p:txBody>
      </p:sp>
      <p:sp>
        <p:nvSpPr>
          <p:cNvPr id="3" name="Textfeld 2">
            <a:extLst>
              <a:ext uri="{FF2B5EF4-FFF2-40B4-BE49-F238E27FC236}">
                <a16:creationId xmlns:a16="http://schemas.microsoft.com/office/drawing/2014/main" id="{9F77B76F-C264-61F4-AFFB-1C6A37585F8B}"/>
              </a:ext>
            </a:extLst>
          </p:cNvPr>
          <p:cNvSpPr txBox="1"/>
          <p:nvPr/>
        </p:nvSpPr>
        <p:spPr>
          <a:xfrm>
            <a:off x="262453" y="6492875"/>
            <a:ext cx="2062716" cy="215444"/>
          </a:xfrm>
          <a:prstGeom prst="rect">
            <a:avLst/>
          </a:prstGeom>
          <a:noFill/>
        </p:spPr>
        <p:txBody>
          <a:bodyPr wrap="square" rtlCol="0">
            <a:spAutoFit/>
          </a:bodyPr>
          <a:lstStyle/>
          <a:p>
            <a:r>
              <a:rPr lang="de-DE" sz="800" b="0" i="0" dirty="0">
                <a:solidFill>
                  <a:schemeClr val="bg2">
                    <a:lumMod val="50000"/>
                  </a:schemeClr>
                </a:solidFill>
                <a:effectLst/>
                <a:latin typeface="Calibri" panose="020F0502020204030204" pitchFamily="34" charset="0"/>
                <a:ea typeface="Calibri" panose="020F0502020204030204" pitchFamily="34" charset="0"/>
                <a:cs typeface="Calibri" panose="020F0502020204030204" pitchFamily="34" charset="0"/>
              </a:rPr>
              <a:t>Bild von </a:t>
            </a:r>
            <a:r>
              <a:rPr lang="de-DE" sz="800" b="0" i="0" dirty="0" err="1">
                <a:solidFill>
                  <a:schemeClr val="bg2">
                    <a:lumMod val="50000"/>
                  </a:schemeClr>
                </a:solidFill>
                <a:effectLst/>
                <a:latin typeface="Calibri" panose="020F0502020204030204" pitchFamily="34" charset="0"/>
                <a:ea typeface="Calibri" panose="020F0502020204030204" pitchFamily="34" charset="0"/>
                <a:cs typeface="Calibri" panose="020F0502020204030204" pitchFamily="34" charset="0"/>
              </a:rPr>
              <a:t>vectorjuice</a:t>
            </a:r>
            <a:r>
              <a:rPr lang="de-DE" sz="800" b="0" i="0" dirty="0">
                <a:solidFill>
                  <a:schemeClr val="bg2">
                    <a:lumMod val="50000"/>
                  </a:schemeClr>
                </a:solidFill>
                <a:effectLst/>
                <a:latin typeface="Calibri" panose="020F0502020204030204" pitchFamily="34" charset="0"/>
                <a:ea typeface="Calibri" panose="020F0502020204030204" pitchFamily="34" charset="0"/>
                <a:cs typeface="Calibri" panose="020F0502020204030204" pitchFamily="34" charset="0"/>
              </a:rPr>
              <a:t> auf </a:t>
            </a:r>
            <a:r>
              <a:rPr lang="de-DE" sz="800" b="0" i="0" dirty="0" err="1">
                <a:solidFill>
                  <a:schemeClr val="bg2">
                    <a:lumMod val="50000"/>
                  </a:schemeClr>
                </a:solidFill>
                <a:effectLst/>
                <a:latin typeface="Calibri" panose="020F0502020204030204" pitchFamily="34" charset="0"/>
                <a:ea typeface="Calibri" panose="020F0502020204030204" pitchFamily="34" charset="0"/>
                <a:cs typeface="Calibri" panose="020F0502020204030204" pitchFamily="34" charset="0"/>
              </a:rPr>
              <a:t>Freepik</a:t>
            </a:r>
            <a:endParaRPr lang="de-DE" sz="800" dirty="0">
              <a:solidFill>
                <a:schemeClr val="bg2">
                  <a:lumMod val="50000"/>
                </a:schemeClr>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281907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04E618F-7A75-399F-2874-F5BE3DC9BFFD}"/>
              </a:ext>
            </a:extLst>
          </p:cNvPr>
          <p:cNvSpPr>
            <a:spLocks noGrp="1"/>
          </p:cNvSpPr>
          <p:nvPr>
            <p:ph type="title"/>
          </p:nvPr>
        </p:nvSpPr>
        <p:spPr/>
        <p:txBody>
          <a:bodyPr>
            <a:normAutofit/>
          </a:bodyPr>
          <a:lstStyle/>
          <a:p>
            <a:r>
              <a:rPr lang="de-DE" sz="3600" dirty="0">
                <a:latin typeface="Calibri" panose="020F0502020204030204" pitchFamily="34" charset="0"/>
                <a:ea typeface="Calibri" panose="020F0502020204030204" pitchFamily="34" charset="0"/>
                <a:cs typeface="Calibri" panose="020F0502020204030204" pitchFamily="34" charset="0"/>
              </a:rPr>
              <a:t>STUFEN DER PERSONALLSIERUNG IM MARKETING</a:t>
            </a:r>
          </a:p>
        </p:txBody>
      </p:sp>
      <p:sp>
        <p:nvSpPr>
          <p:cNvPr id="4" name="Rechteck 3">
            <a:extLst>
              <a:ext uri="{FF2B5EF4-FFF2-40B4-BE49-F238E27FC236}">
                <a16:creationId xmlns:a16="http://schemas.microsoft.com/office/drawing/2014/main" id="{85D43620-D8A2-2B2C-94BC-EAFF3BE5DC4E}"/>
              </a:ext>
            </a:extLst>
          </p:cNvPr>
          <p:cNvSpPr/>
          <p:nvPr/>
        </p:nvSpPr>
        <p:spPr>
          <a:xfrm>
            <a:off x="1054358" y="1987421"/>
            <a:ext cx="2736000" cy="1660944"/>
          </a:xfrm>
          <a:prstGeom prst="rect">
            <a:avLst/>
          </a:prstGeom>
          <a:gradFill flip="none" rotWithShape="1">
            <a:gsLst>
              <a:gs pos="0">
                <a:schemeClr val="accent1">
                  <a:lumMod val="60000"/>
                  <a:lumOff val="40000"/>
                </a:schemeClr>
              </a:gs>
              <a:gs pos="100000">
                <a:schemeClr val="tx2">
                  <a:lumMod val="75000"/>
                  <a:lumOff val="2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400" b="1" dirty="0">
                <a:latin typeface="Calibri" panose="020F0502020204030204" pitchFamily="34" charset="0"/>
                <a:ea typeface="Calibri" panose="020F0502020204030204" pitchFamily="34" charset="0"/>
                <a:cs typeface="Calibri" panose="020F0502020204030204" pitchFamily="34" charset="0"/>
              </a:rPr>
              <a:t>Low</a:t>
            </a:r>
          </a:p>
          <a:p>
            <a:pPr algn="ctr"/>
            <a:endParaRPr lang="de-DE" dirty="0">
              <a:latin typeface="Calibri" panose="020F0502020204030204" pitchFamily="34" charset="0"/>
              <a:ea typeface="Calibri" panose="020F0502020204030204" pitchFamily="34" charset="0"/>
              <a:cs typeface="Calibri" panose="020F0502020204030204" pitchFamily="34" charset="0"/>
            </a:endParaRPr>
          </a:p>
          <a:p>
            <a:pPr algn="ctr"/>
            <a:endParaRPr lang="de-DE" dirty="0">
              <a:latin typeface="Calibri" panose="020F0502020204030204" pitchFamily="34" charset="0"/>
              <a:ea typeface="Calibri" panose="020F0502020204030204" pitchFamily="34" charset="0"/>
              <a:cs typeface="Calibri" panose="020F0502020204030204" pitchFamily="34" charset="0"/>
            </a:endParaRPr>
          </a:p>
          <a:p>
            <a:pPr algn="ctr"/>
            <a:r>
              <a:rPr lang="de-DE" dirty="0">
                <a:latin typeface="Calibri" panose="020F0502020204030204" pitchFamily="34" charset="0"/>
                <a:ea typeface="Calibri" panose="020F0502020204030204" pitchFamily="34" charset="0"/>
                <a:cs typeface="Calibri" panose="020F0502020204030204" pitchFamily="34" charset="0"/>
              </a:rPr>
              <a:t>Generische </a:t>
            </a:r>
            <a:br>
              <a:rPr lang="de-DE" dirty="0">
                <a:latin typeface="Calibri" panose="020F0502020204030204" pitchFamily="34" charset="0"/>
                <a:ea typeface="Calibri" panose="020F0502020204030204" pitchFamily="34" charset="0"/>
                <a:cs typeface="Calibri" panose="020F0502020204030204" pitchFamily="34" charset="0"/>
              </a:rPr>
            </a:br>
            <a:r>
              <a:rPr lang="de-DE" dirty="0">
                <a:latin typeface="Calibri" panose="020F0502020204030204" pitchFamily="34" charset="0"/>
                <a:ea typeface="Calibri" panose="020F0502020204030204" pitchFamily="34" charset="0"/>
                <a:cs typeface="Calibri" panose="020F0502020204030204" pitchFamily="34" charset="0"/>
              </a:rPr>
              <a:t>Ansprache</a:t>
            </a:r>
          </a:p>
        </p:txBody>
      </p:sp>
      <p:sp>
        <p:nvSpPr>
          <p:cNvPr id="5" name="Rechteck 4">
            <a:extLst>
              <a:ext uri="{FF2B5EF4-FFF2-40B4-BE49-F238E27FC236}">
                <a16:creationId xmlns:a16="http://schemas.microsoft.com/office/drawing/2014/main" id="{5A041EA1-9776-2CDA-A375-1B99C615B307}"/>
              </a:ext>
            </a:extLst>
          </p:cNvPr>
          <p:cNvSpPr/>
          <p:nvPr/>
        </p:nvSpPr>
        <p:spPr>
          <a:xfrm>
            <a:off x="4727999" y="1977835"/>
            <a:ext cx="2736000" cy="1660944"/>
          </a:xfrm>
          <a:prstGeom prst="rect">
            <a:avLst/>
          </a:prstGeom>
          <a:gradFill flip="none" rotWithShape="1">
            <a:gsLst>
              <a:gs pos="0">
                <a:schemeClr val="tx2">
                  <a:lumMod val="75000"/>
                  <a:lumOff val="25000"/>
                </a:schemeClr>
              </a:gs>
              <a:gs pos="100000">
                <a:schemeClr val="accent5">
                  <a:lumMod val="7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400" b="1" dirty="0">
                <a:latin typeface="Calibri" panose="020F0502020204030204" pitchFamily="34" charset="0"/>
                <a:ea typeface="Calibri" panose="020F0502020204030204" pitchFamily="34" charset="0"/>
                <a:cs typeface="Calibri" panose="020F0502020204030204" pitchFamily="34" charset="0"/>
              </a:rPr>
              <a:t>Medium</a:t>
            </a:r>
          </a:p>
          <a:p>
            <a:pPr algn="ctr"/>
            <a:endParaRPr lang="de-DE" dirty="0">
              <a:latin typeface="Calibri" panose="020F0502020204030204" pitchFamily="34" charset="0"/>
              <a:ea typeface="Calibri" panose="020F0502020204030204" pitchFamily="34" charset="0"/>
              <a:cs typeface="Calibri" panose="020F0502020204030204" pitchFamily="34" charset="0"/>
            </a:endParaRPr>
          </a:p>
          <a:p>
            <a:pPr algn="ctr"/>
            <a:endParaRPr lang="de-DE" dirty="0">
              <a:latin typeface="Calibri" panose="020F0502020204030204" pitchFamily="34" charset="0"/>
              <a:ea typeface="Calibri" panose="020F0502020204030204" pitchFamily="34" charset="0"/>
              <a:cs typeface="Calibri" panose="020F0502020204030204" pitchFamily="34" charset="0"/>
            </a:endParaRPr>
          </a:p>
          <a:p>
            <a:pPr algn="ctr"/>
            <a:r>
              <a:rPr lang="de-DE" dirty="0">
                <a:latin typeface="Calibri" panose="020F0502020204030204" pitchFamily="34" charset="0"/>
                <a:ea typeface="Calibri" panose="020F0502020204030204" pitchFamily="34" charset="0"/>
                <a:cs typeface="Calibri" panose="020F0502020204030204" pitchFamily="34" charset="0"/>
              </a:rPr>
              <a:t>Segmentbasierte Ansprache</a:t>
            </a:r>
          </a:p>
        </p:txBody>
      </p:sp>
      <p:sp>
        <p:nvSpPr>
          <p:cNvPr id="6" name="Rechteck 5">
            <a:extLst>
              <a:ext uri="{FF2B5EF4-FFF2-40B4-BE49-F238E27FC236}">
                <a16:creationId xmlns:a16="http://schemas.microsoft.com/office/drawing/2014/main" id="{06B42A96-65D3-305D-39A0-75ACA49C9FE6}"/>
              </a:ext>
            </a:extLst>
          </p:cNvPr>
          <p:cNvSpPr/>
          <p:nvPr/>
        </p:nvSpPr>
        <p:spPr>
          <a:xfrm>
            <a:off x="8401640" y="1988109"/>
            <a:ext cx="2736000" cy="1660944"/>
          </a:xfrm>
          <a:prstGeom prst="rect">
            <a:avLst/>
          </a:prstGeom>
          <a:gradFill flip="none" rotWithShape="1">
            <a:gsLst>
              <a:gs pos="0">
                <a:schemeClr val="accent5">
                  <a:lumMod val="75000"/>
                </a:schemeClr>
              </a:gs>
              <a:gs pos="100000">
                <a:srgbClr val="FF0000"/>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400" b="1" dirty="0">
                <a:latin typeface="Calibri" panose="020F0502020204030204" pitchFamily="34" charset="0"/>
                <a:ea typeface="Calibri" panose="020F0502020204030204" pitchFamily="34" charset="0"/>
                <a:cs typeface="Calibri" panose="020F0502020204030204" pitchFamily="34" charset="0"/>
              </a:rPr>
              <a:t>High</a:t>
            </a:r>
          </a:p>
          <a:p>
            <a:pPr algn="ctr"/>
            <a:endParaRPr lang="de-DE" dirty="0">
              <a:latin typeface="Calibri" panose="020F0502020204030204" pitchFamily="34" charset="0"/>
              <a:ea typeface="Calibri" panose="020F0502020204030204" pitchFamily="34" charset="0"/>
              <a:cs typeface="Calibri" panose="020F0502020204030204" pitchFamily="34" charset="0"/>
            </a:endParaRPr>
          </a:p>
          <a:p>
            <a:pPr algn="ctr"/>
            <a:endParaRPr lang="de-DE" dirty="0">
              <a:latin typeface="Calibri" panose="020F0502020204030204" pitchFamily="34" charset="0"/>
              <a:ea typeface="Calibri" panose="020F0502020204030204" pitchFamily="34" charset="0"/>
              <a:cs typeface="Calibri" panose="020F0502020204030204" pitchFamily="34" charset="0"/>
            </a:endParaRPr>
          </a:p>
          <a:p>
            <a:pPr algn="ctr"/>
            <a:r>
              <a:rPr lang="de-DE" dirty="0">
                <a:latin typeface="Calibri" panose="020F0502020204030204" pitchFamily="34" charset="0"/>
                <a:ea typeface="Calibri" panose="020F0502020204030204" pitchFamily="34" charset="0"/>
                <a:cs typeface="Calibri" panose="020F0502020204030204" pitchFamily="34" charset="0"/>
              </a:rPr>
              <a:t>Individuelle </a:t>
            </a:r>
            <a:br>
              <a:rPr lang="de-DE" dirty="0">
                <a:latin typeface="Calibri" panose="020F0502020204030204" pitchFamily="34" charset="0"/>
                <a:ea typeface="Calibri" panose="020F0502020204030204" pitchFamily="34" charset="0"/>
                <a:cs typeface="Calibri" panose="020F0502020204030204" pitchFamily="34" charset="0"/>
              </a:rPr>
            </a:br>
            <a:r>
              <a:rPr lang="de-DE" dirty="0">
                <a:latin typeface="Calibri" panose="020F0502020204030204" pitchFamily="34" charset="0"/>
                <a:ea typeface="Calibri" panose="020F0502020204030204" pitchFamily="34" charset="0"/>
                <a:cs typeface="Calibri" panose="020F0502020204030204" pitchFamily="34" charset="0"/>
              </a:rPr>
              <a:t>Modelle</a:t>
            </a:r>
          </a:p>
        </p:txBody>
      </p:sp>
      <p:sp>
        <p:nvSpPr>
          <p:cNvPr id="9" name="Pfeil: nach rechts 8">
            <a:extLst>
              <a:ext uri="{FF2B5EF4-FFF2-40B4-BE49-F238E27FC236}">
                <a16:creationId xmlns:a16="http://schemas.microsoft.com/office/drawing/2014/main" id="{FC390495-685E-C77A-1DEC-A873089A428B}"/>
              </a:ext>
            </a:extLst>
          </p:cNvPr>
          <p:cNvSpPr/>
          <p:nvPr/>
        </p:nvSpPr>
        <p:spPr>
          <a:xfrm>
            <a:off x="1054359" y="3967023"/>
            <a:ext cx="10083281" cy="734291"/>
          </a:xfrm>
          <a:prstGeom prst="rightArrow">
            <a:avLst/>
          </a:prstGeom>
          <a:gradFill>
            <a:gsLst>
              <a:gs pos="27000">
                <a:schemeClr val="tx2">
                  <a:lumMod val="75000"/>
                  <a:lumOff val="25000"/>
                </a:schemeClr>
              </a:gs>
              <a:gs pos="0">
                <a:schemeClr val="accent1">
                  <a:lumMod val="60000"/>
                  <a:lumOff val="40000"/>
                </a:schemeClr>
              </a:gs>
              <a:gs pos="76000">
                <a:schemeClr val="accent5">
                  <a:lumMod val="75000"/>
                </a:schemeClr>
              </a:gs>
              <a:gs pos="100000">
                <a:srgbClr val="FF0000"/>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einfach                                                                                                                                                                            komplexer</a:t>
            </a:r>
          </a:p>
        </p:txBody>
      </p:sp>
      <p:sp>
        <p:nvSpPr>
          <p:cNvPr id="10" name="Textfeld 9">
            <a:extLst>
              <a:ext uri="{FF2B5EF4-FFF2-40B4-BE49-F238E27FC236}">
                <a16:creationId xmlns:a16="http://schemas.microsoft.com/office/drawing/2014/main" id="{31336B8E-9AE4-ADD3-1071-9A249C3EB47A}"/>
              </a:ext>
            </a:extLst>
          </p:cNvPr>
          <p:cNvSpPr txBox="1"/>
          <p:nvPr/>
        </p:nvSpPr>
        <p:spPr>
          <a:xfrm>
            <a:off x="1380363" y="4858332"/>
            <a:ext cx="2174033" cy="646331"/>
          </a:xfrm>
          <a:prstGeom prst="rect">
            <a:avLst/>
          </a:prstGeom>
          <a:noFill/>
        </p:spPr>
        <p:txBody>
          <a:bodyPr wrap="square" rtlCol="0">
            <a:spAutoFit/>
          </a:bodyPr>
          <a:lstStyle/>
          <a:p>
            <a:r>
              <a:rPr lang="de-DE" dirty="0" err="1">
                <a:latin typeface="Calibri" panose="020F0502020204030204" pitchFamily="34" charset="0"/>
                <a:ea typeface="Calibri" panose="020F0502020204030204" pitchFamily="34" charset="0"/>
                <a:cs typeface="Calibri" panose="020F0502020204030204" pitchFamily="34" charset="0"/>
              </a:rPr>
              <a:t>z.Bsp</a:t>
            </a:r>
            <a:r>
              <a:rPr lang="de-DE" dirty="0">
                <a:latin typeface="Calibri" panose="020F0502020204030204" pitchFamily="34" charset="0"/>
                <a:ea typeface="Calibri" panose="020F0502020204030204" pitchFamily="34" charset="0"/>
                <a:cs typeface="Calibri" panose="020F0502020204030204" pitchFamily="34" charset="0"/>
              </a:rPr>
              <a:t>. Massenkampagnen</a:t>
            </a:r>
          </a:p>
        </p:txBody>
      </p:sp>
      <p:sp>
        <p:nvSpPr>
          <p:cNvPr id="11" name="Textfeld 10">
            <a:extLst>
              <a:ext uri="{FF2B5EF4-FFF2-40B4-BE49-F238E27FC236}">
                <a16:creationId xmlns:a16="http://schemas.microsoft.com/office/drawing/2014/main" id="{2CB4B0D0-BF11-E498-CEFE-992C3242CF14}"/>
              </a:ext>
            </a:extLst>
          </p:cNvPr>
          <p:cNvSpPr txBox="1"/>
          <p:nvPr/>
        </p:nvSpPr>
        <p:spPr>
          <a:xfrm>
            <a:off x="5250436" y="4858332"/>
            <a:ext cx="2174033" cy="646331"/>
          </a:xfrm>
          <a:prstGeom prst="rect">
            <a:avLst/>
          </a:prstGeom>
          <a:noFill/>
        </p:spPr>
        <p:txBody>
          <a:bodyPr wrap="square" rtlCol="0">
            <a:spAutoFit/>
          </a:bodyPr>
          <a:lstStyle/>
          <a:p>
            <a:r>
              <a:rPr lang="de-DE" dirty="0" err="1">
                <a:latin typeface="Calibri" panose="020F0502020204030204" pitchFamily="34" charset="0"/>
                <a:ea typeface="Calibri" panose="020F0502020204030204" pitchFamily="34" charset="0"/>
                <a:cs typeface="Calibri" panose="020F0502020204030204" pitchFamily="34" charset="0"/>
              </a:rPr>
              <a:t>z.Bsp</a:t>
            </a:r>
            <a:r>
              <a:rPr lang="de-DE" dirty="0">
                <a:latin typeface="Calibri" panose="020F0502020204030204" pitchFamily="34" charset="0"/>
                <a:ea typeface="Calibri" panose="020F0502020204030204" pitchFamily="34" charset="0"/>
                <a:cs typeface="Calibri" panose="020F0502020204030204" pitchFamily="34" charset="0"/>
              </a:rPr>
              <a:t>. </a:t>
            </a:r>
            <a:br>
              <a:rPr lang="de-DE" dirty="0">
                <a:latin typeface="Calibri" panose="020F0502020204030204" pitchFamily="34" charset="0"/>
                <a:ea typeface="Calibri" panose="020F0502020204030204" pitchFamily="34" charset="0"/>
                <a:cs typeface="Calibri" panose="020F0502020204030204" pitchFamily="34" charset="0"/>
              </a:rPr>
            </a:br>
            <a:r>
              <a:rPr lang="de-DE" dirty="0">
                <a:latin typeface="Calibri" panose="020F0502020204030204" pitchFamily="34" charset="0"/>
                <a:ea typeface="Calibri" panose="020F0502020204030204" pitchFamily="34" charset="0"/>
                <a:cs typeface="Calibri" panose="020F0502020204030204" pitchFamily="34" charset="0"/>
              </a:rPr>
              <a:t>Loyal </a:t>
            </a:r>
            <a:r>
              <a:rPr lang="de-DE" dirty="0" err="1">
                <a:latin typeface="Calibri" panose="020F0502020204030204" pitchFamily="34" charset="0"/>
                <a:ea typeface="Calibri" panose="020F0502020204030204" pitchFamily="34" charset="0"/>
                <a:cs typeface="Calibri" panose="020F0502020204030204" pitchFamily="34" charset="0"/>
              </a:rPr>
              <a:t>Buyers</a:t>
            </a:r>
            <a:endParaRPr lang="de-DE" dirty="0">
              <a:latin typeface="Calibri" panose="020F0502020204030204" pitchFamily="34" charset="0"/>
              <a:ea typeface="Calibri" panose="020F0502020204030204" pitchFamily="34" charset="0"/>
              <a:cs typeface="Calibri" panose="020F0502020204030204" pitchFamily="34" charset="0"/>
            </a:endParaRPr>
          </a:p>
        </p:txBody>
      </p:sp>
      <p:sp>
        <p:nvSpPr>
          <p:cNvPr id="12" name="Textfeld 11">
            <a:extLst>
              <a:ext uri="{FF2B5EF4-FFF2-40B4-BE49-F238E27FC236}">
                <a16:creationId xmlns:a16="http://schemas.microsoft.com/office/drawing/2014/main" id="{5ABA18C6-5071-7717-B207-469D45EAEFC3}"/>
              </a:ext>
            </a:extLst>
          </p:cNvPr>
          <p:cNvSpPr txBox="1"/>
          <p:nvPr/>
        </p:nvSpPr>
        <p:spPr>
          <a:xfrm>
            <a:off x="8764825" y="4858332"/>
            <a:ext cx="2390194" cy="646331"/>
          </a:xfrm>
          <a:prstGeom prst="rect">
            <a:avLst/>
          </a:prstGeom>
          <a:noFill/>
        </p:spPr>
        <p:txBody>
          <a:bodyPr wrap="square" rtlCol="0">
            <a:spAutoFit/>
          </a:bodyPr>
          <a:lstStyle/>
          <a:p>
            <a:r>
              <a:rPr lang="de-DE" dirty="0" err="1">
                <a:latin typeface="Calibri" panose="020F0502020204030204" pitchFamily="34" charset="0"/>
                <a:ea typeface="Calibri" panose="020F0502020204030204" pitchFamily="34" charset="0"/>
                <a:cs typeface="Calibri" panose="020F0502020204030204" pitchFamily="34" charset="0"/>
              </a:rPr>
              <a:t>z.Bsp</a:t>
            </a:r>
            <a:r>
              <a:rPr lang="de-DE" dirty="0">
                <a:latin typeface="Calibri" panose="020F0502020204030204" pitchFamily="34" charset="0"/>
                <a:ea typeface="Calibri" panose="020F0502020204030204" pitchFamily="34" charset="0"/>
                <a:cs typeface="Calibri" panose="020F0502020204030204" pitchFamily="34" charset="0"/>
              </a:rPr>
              <a:t>. </a:t>
            </a:r>
            <a:br>
              <a:rPr lang="de-DE" dirty="0">
                <a:latin typeface="Calibri" panose="020F0502020204030204" pitchFamily="34" charset="0"/>
                <a:ea typeface="Calibri" panose="020F0502020204030204" pitchFamily="34" charset="0"/>
                <a:cs typeface="Calibri" panose="020F0502020204030204" pitchFamily="34" charset="0"/>
              </a:rPr>
            </a:br>
            <a:r>
              <a:rPr lang="de-DE" dirty="0"/>
              <a:t>Vorhersage pro Nutzer</a:t>
            </a:r>
            <a:endParaRPr lang="de-DE"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5165303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96A4A54-2A41-185C-ED43-C01CB0835011}"/>
              </a:ext>
            </a:extLst>
          </p:cNvPr>
          <p:cNvSpPr>
            <a:spLocks noGrp="1"/>
          </p:cNvSpPr>
          <p:nvPr>
            <p:ph type="title"/>
          </p:nvPr>
        </p:nvSpPr>
        <p:spPr/>
        <p:txBody>
          <a:bodyPr vert="horz" lIns="91440" tIns="45720" rIns="91440" bIns="45720" rtlCol="0" anchor="ctr">
            <a:normAutofit/>
          </a:bodyPr>
          <a:lstStyle/>
          <a:p>
            <a:r>
              <a:rPr lang="de-DE" sz="3600" dirty="0">
                <a:latin typeface="Calibri" panose="020F0502020204030204" pitchFamily="34" charset="0"/>
                <a:ea typeface="Calibri" panose="020F0502020204030204" pitchFamily="34" charset="0"/>
                <a:cs typeface="Calibri" panose="020F0502020204030204" pitchFamily="34" charset="0"/>
              </a:rPr>
              <a:t>BEWERTUNG DES DATENSCHUTZRISIKOS</a:t>
            </a:r>
            <a:br>
              <a:rPr lang="de-DE" sz="4000" dirty="0">
                <a:latin typeface="Calibri" panose="020F0502020204030204" pitchFamily="34" charset="0"/>
                <a:ea typeface="Calibri" panose="020F0502020204030204" pitchFamily="34" charset="0"/>
                <a:cs typeface="Calibri" panose="020F0502020204030204" pitchFamily="34" charset="0"/>
              </a:rPr>
            </a:br>
            <a:r>
              <a:rPr lang="de-DE" sz="2800" dirty="0">
                <a:latin typeface="Calibri" panose="020F0502020204030204" pitchFamily="34" charset="0"/>
                <a:ea typeface="Calibri" panose="020F0502020204030204" pitchFamily="34" charset="0"/>
                <a:cs typeface="Calibri" panose="020F0502020204030204" pitchFamily="34" charset="0"/>
              </a:rPr>
              <a:t>WIE PERSONALISIERUNG DAS RISIKO BEEINFLUSST</a:t>
            </a:r>
            <a:endParaRPr lang="de-DE" sz="4000" dirty="0">
              <a:latin typeface="Calibri" panose="020F0502020204030204" pitchFamily="34" charset="0"/>
              <a:ea typeface="Calibri" panose="020F0502020204030204" pitchFamily="34" charset="0"/>
              <a:cs typeface="Calibri" panose="020F0502020204030204" pitchFamily="34" charset="0"/>
            </a:endParaRPr>
          </a:p>
        </p:txBody>
      </p:sp>
      <p:sp>
        <p:nvSpPr>
          <p:cNvPr id="3" name="Textfeld 2">
            <a:extLst>
              <a:ext uri="{FF2B5EF4-FFF2-40B4-BE49-F238E27FC236}">
                <a16:creationId xmlns:a16="http://schemas.microsoft.com/office/drawing/2014/main" id="{064AD3EC-7738-BCBA-FA9A-A6E85FB41A1C}"/>
              </a:ext>
            </a:extLst>
          </p:cNvPr>
          <p:cNvSpPr txBox="1"/>
          <p:nvPr/>
        </p:nvSpPr>
        <p:spPr>
          <a:xfrm>
            <a:off x="838200" y="1751478"/>
            <a:ext cx="4943764" cy="3154710"/>
          </a:xfrm>
          <a:prstGeom prst="rect">
            <a:avLst/>
          </a:prstGeom>
          <a:noFill/>
        </p:spPr>
        <p:txBody>
          <a:bodyPr wrap="square" rtlCol="0">
            <a:spAutoFit/>
          </a:bodyPr>
          <a:lstStyle/>
          <a:p>
            <a:r>
              <a:rPr lang="de-DE" b="1" dirty="0">
                <a:latin typeface="Calibri" panose="020F0502020204030204" pitchFamily="34" charset="0"/>
                <a:ea typeface="Calibri" panose="020F0502020204030204" pitchFamily="34" charset="0"/>
                <a:cs typeface="Calibri" panose="020F0502020204030204" pitchFamily="34" charset="0"/>
              </a:rPr>
              <a:t>Risk Score basiert auf 3 Dimensionen:</a:t>
            </a:r>
            <a:endParaRPr lang="de-DE"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de-DE" sz="1400" b="1" dirty="0">
                <a:latin typeface="Calibri" panose="020F0502020204030204" pitchFamily="34" charset="0"/>
                <a:ea typeface="Calibri" panose="020F0502020204030204" pitchFamily="34" charset="0"/>
                <a:cs typeface="Calibri" panose="020F0502020204030204" pitchFamily="34" charset="0"/>
              </a:rPr>
              <a:t>Data Volume: </a:t>
            </a:r>
            <a:r>
              <a:rPr lang="de-DE" sz="1400" dirty="0">
                <a:latin typeface="Calibri Light" panose="020F0302020204030204" pitchFamily="34" charset="0"/>
                <a:ea typeface="Calibri Light" panose="020F0302020204030204" pitchFamily="34" charset="0"/>
                <a:cs typeface="Calibri Light" panose="020F0302020204030204" pitchFamily="34" charset="0"/>
              </a:rPr>
              <a:t>Menge und Vielfalt der genutzten Daten</a:t>
            </a:r>
          </a:p>
          <a:p>
            <a:pPr>
              <a:lnSpc>
                <a:spcPct val="150000"/>
              </a:lnSpc>
            </a:pPr>
            <a:r>
              <a:rPr lang="de-DE" sz="1400" b="1" dirty="0" err="1">
                <a:latin typeface="Calibri" panose="020F0502020204030204" pitchFamily="34" charset="0"/>
                <a:ea typeface="Calibri" panose="020F0502020204030204" pitchFamily="34" charset="0"/>
                <a:cs typeface="Calibri" panose="020F0502020204030204" pitchFamily="34" charset="0"/>
              </a:rPr>
              <a:t>Sensitivity</a:t>
            </a:r>
            <a:r>
              <a:rPr lang="de-DE" sz="1400" b="1" dirty="0">
                <a:latin typeface="Calibri" panose="020F0502020204030204" pitchFamily="34" charset="0"/>
                <a:ea typeface="Calibri" panose="020F0502020204030204" pitchFamily="34" charset="0"/>
                <a:cs typeface="Calibri" panose="020F0502020204030204" pitchFamily="34" charset="0"/>
              </a:rPr>
              <a:t>: </a:t>
            </a:r>
            <a:r>
              <a:rPr lang="de-DE" sz="1400" dirty="0">
                <a:latin typeface="Calibri Light" panose="020F0302020204030204" pitchFamily="34" charset="0"/>
                <a:ea typeface="Calibri Light" panose="020F0302020204030204" pitchFamily="34" charset="0"/>
                <a:cs typeface="Calibri Light" panose="020F0302020204030204" pitchFamily="34" charset="0"/>
              </a:rPr>
              <a:t>Sensibilität der Daten (z. B. Einkommen, Verhalten)</a:t>
            </a:r>
          </a:p>
          <a:p>
            <a:pPr>
              <a:lnSpc>
                <a:spcPct val="150000"/>
              </a:lnSpc>
            </a:pPr>
            <a:r>
              <a:rPr lang="de-DE" sz="1400" b="1" dirty="0" err="1">
                <a:latin typeface="Calibri" panose="020F0502020204030204" pitchFamily="34" charset="0"/>
                <a:ea typeface="Calibri" panose="020F0502020204030204" pitchFamily="34" charset="0"/>
                <a:cs typeface="Calibri" panose="020F0502020204030204" pitchFamily="34" charset="0"/>
              </a:rPr>
              <a:t>Granularity</a:t>
            </a:r>
            <a:r>
              <a:rPr lang="de-DE" sz="1400" b="1" dirty="0">
                <a:latin typeface="Calibri" panose="020F0502020204030204" pitchFamily="34" charset="0"/>
                <a:ea typeface="Calibri" panose="020F0502020204030204" pitchFamily="34" charset="0"/>
                <a:cs typeface="Calibri" panose="020F0502020204030204" pitchFamily="34" charset="0"/>
              </a:rPr>
              <a:t>: </a:t>
            </a:r>
            <a:r>
              <a:rPr lang="de-DE" sz="1400" dirty="0">
                <a:latin typeface="Calibri Light" panose="020F0302020204030204" pitchFamily="34" charset="0"/>
                <a:ea typeface="Calibri Light" panose="020F0302020204030204" pitchFamily="34" charset="0"/>
                <a:cs typeface="Calibri Light" panose="020F0302020204030204" pitchFamily="34" charset="0"/>
              </a:rPr>
              <a:t>Grad der Individualisierung!</a:t>
            </a:r>
          </a:p>
          <a:p>
            <a:endParaRPr lang="de-DE" b="1" dirty="0">
              <a:latin typeface="Calibri" panose="020F0502020204030204" pitchFamily="34" charset="0"/>
              <a:ea typeface="Calibri" panose="020F0502020204030204" pitchFamily="34" charset="0"/>
              <a:cs typeface="Calibri" panose="020F0502020204030204" pitchFamily="34" charset="0"/>
            </a:endParaRPr>
          </a:p>
          <a:p>
            <a:endParaRPr lang="de-DE" b="1" dirty="0">
              <a:latin typeface="Calibri" panose="020F0502020204030204" pitchFamily="34" charset="0"/>
              <a:ea typeface="Calibri" panose="020F0502020204030204" pitchFamily="34" charset="0"/>
              <a:cs typeface="Calibri" panose="020F0502020204030204" pitchFamily="34" charset="0"/>
            </a:endParaRPr>
          </a:p>
          <a:p>
            <a:pPr>
              <a:lnSpc>
                <a:spcPct val="200000"/>
              </a:lnSpc>
            </a:pPr>
            <a:r>
              <a:rPr lang="de-DE" b="1" dirty="0">
                <a:latin typeface="Calibri" panose="020F0502020204030204" pitchFamily="34" charset="0"/>
                <a:ea typeface="Calibri" panose="020F0502020204030204" pitchFamily="34" charset="0"/>
                <a:cs typeface="Calibri" panose="020F0502020204030204" pitchFamily="34" charset="0"/>
              </a:rPr>
              <a:t>Formel:</a:t>
            </a:r>
            <a:br>
              <a:rPr lang="de-DE" dirty="0">
                <a:latin typeface="Calibri" panose="020F0502020204030204" pitchFamily="34" charset="0"/>
                <a:ea typeface="Calibri" panose="020F0502020204030204" pitchFamily="34" charset="0"/>
                <a:cs typeface="Calibri" panose="020F0502020204030204" pitchFamily="34" charset="0"/>
              </a:rPr>
            </a:br>
            <a:r>
              <a:rPr lang="de-DE" sz="1400" dirty="0">
                <a:latin typeface="Calibri Light" panose="020F0302020204030204" pitchFamily="34" charset="0"/>
                <a:ea typeface="Calibri Light" panose="020F0302020204030204" pitchFamily="34" charset="0"/>
                <a:cs typeface="Calibri Light" panose="020F0302020204030204" pitchFamily="34" charset="0"/>
              </a:rPr>
              <a:t>Risk = 0.3 × Volume + 0.3 × </a:t>
            </a:r>
            <a:r>
              <a:rPr lang="de-DE" sz="1400" dirty="0" err="1">
                <a:latin typeface="Calibri Light" panose="020F0302020204030204" pitchFamily="34" charset="0"/>
                <a:ea typeface="Calibri Light" panose="020F0302020204030204" pitchFamily="34" charset="0"/>
                <a:cs typeface="Calibri Light" panose="020F0302020204030204" pitchFamily="34" charset="0"/>
              </a:rPr>
              <a:t>Sensitivity</a:t>
            </a:r>
            <a:r>
              <a:rPr lang="de-DE" sz="1400" dirty="0">
                <a:latin typeface="Calibri Light" panose="020F0302020204030204" pitchFamily="34" charset="0"/>
                <a:ea typeface="Calibri Light" panose="020F0302020204030204" pitchFamily="34" charset="0"/>
                <a:cs typeface="Calibri Light" panose="020F0302020204030204" pitchFamily="34" charset="0"/>
              </a:rPr>
              <a:t> + 0.4 × </a:t>
            </a:r>
            <a:r>
              <a:rPr lang="de-DE" sz="1400" dirty="0" err="1">
                <a:latin typeface="Calibri Light" panose="020F0302020204030204" pitchFamily="34" charset="0"/>
                <a:ea typeface="Calibri Light" panose="020F0302020204030204" pitchFamily="34" charset="0"/>
                <a:cs typeface="Calibri Light" panose="020F0302020204030204" pitchFamily="34" charset="0"/>
              </a:rPr>
              <a:t>Granularity</a:t>
            </a:r>
            <a:endParaRPr lang="de-DE" sz="1400" dirty="0">
              <a:latin typeface="Calibri Light" panose="020F0302020204030204" pitchFamily="34" charset="0"/>
              <a:ea typeface="Calibri Light" panose="020F0302020204030204" pitchFamily="34" charset="0"/>
              <a:cs typeface="Calibri Light" panose="020F0302020204030204" pitchFamily="34" charset="0"/>
            </a:endParaRPr>
          </a:p>
          <a:p>
            <a:endParaRPr lang="de-DE" dirty="0">
              <a:latin typeface="Calibri" panose="020F0502020204030204" pitchFamily="34" charset="0"/>
              <a:ea typeface="Calibri" panose="020F0502020204030204" pitchFamily="34" charset="0"/>
              <a:cs typeface="Calibri" panose="020F0502020204030204" pitchFamily="34" charset="0"/>
            </a:endParaRPr>
          </a:p>
        </p:txBody>
      </p:sp>
      <p:graphicFrame>
        <p:nvGraphicFramePr>
          <p:cNvPr id="8" name="Diagramm 7">
            <a:extLst>
              <a:ext uri="{FF2B5EF4-FFF2-40B4-BE49-F238E27FC236}">
                <a16:creationId xmlns:a16="http://schemas.microsoft.com/office/drawing/2014/main" id="{7AE576B7-689E-A1E5-EF5B-70EADA2A7FEC}"/>
              </a:ext>
            </a:extLst>
          </p:cNvPr>
          <p:cNvGraphicFramePr/>
          <p:nvPr>
            <p:extLst>
              <p:ext uri="{D42A27DB-BD31-4B8C-83A1-F6EECF244321}">
                <p14:modId xmlns:p14="http://schemas.microsoft.com/office/powerpoint/2010/main" val="4121278701"/>
              </p:ext>
            </p:extLst>
          </p:nvPr>
        </p:nvGraphicFramePr>
        <p:xfrm>
          <a:off x="6503541" y="1690688"/>
          <a:ext cx="4943764" cy="4607370"/>
        </p:xfrm>
        <a:graphic>
          <a:graphicData uri="http://schemas.openxmlformats.org/drawingml/2006/chart">
            <c:chart xmlns:c="http://schemas.openxmlformats.org/drawingml/2006/chart" xmlns:r="http://schemas.openxmlformats.org/officeDocument/2006/relationships" r:id="rId3"/>
          </a:graphicData>
        </a:graphic>
      </p:graphicFrame>
      <p:pic>
        <p:nvPicPr>
          <p:cNvPr id="17" name="Grafik 16">
            <a:extLst>
              <a:ext uri="{FF2B5EF4-FFF2-40B4-BE49-F238E27FC236}">
                <a16:creationId xmlns:a16="http://schemas.microsoft.com/office/drawing/2014/main" id="{BDF5C7C6-000E-3A2C-D6CB-1EFDCB730E38}"/>
              </a:ext>
            </a:extLst>
          </p:cNvPr>
          <p:cNvPicPr>
            <a:picLocks noChangeAspect="1"/>
          </p:cNvPicPr>
          <p:nvPr/>
        </p:nvPicPr>
        <p:blipFill>
          <a:blip r:embed="rId4"/>
          <a:srcRect t="6786"/>
          <a:stretch/>
        </p:blipFill>
        <p:spPr>
          <a:xfrm>
            <a:off x="838200" y="4881703"/>
            <a:ext cx="4872389" cy="1492947"/>
          </a:xfrm>
          <a:prstGeom prst="rect">
            <a:avLst/>
          </a:prstGeom>
        </p:spPr>
      </p:pic>
      <p:sp>
        <p:nvSpPr>
          <p:cNvPr id="4" name="Textfeld 3">
            <a:extLst>
              <a:ext uri="{FF2B5EF4-FFF2-40B4-BE49-F238E27FC236}">
                <a16:creationId xmlns:a16="http://schemas.microsoft.com/office/drawing/2014/main" id="{E58DBEC7-DC1F-EC84-0046-7B50CC592F33}"/>
              </a:ext>
            </a:extLst>
          </p:cNvPr>
          <p:cNvSpPr txBox="1"/>
          <p:nvPr/>
        </p:nvSpPr>
        <p:spPr>
          <a:xfrm>
            <a:off x="934948" y="3230049"/>
            <a:ext cx="4775641" cy="1351054"/>
          </a:xfrm>
          <a:prstGeom prst="rect">
            <a:avLst/>
          </a:prstGeom>
          <a:solidFill>
            <a:schemeClr val="bg1"/>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lIns="1188000" tIns="0" bIns="72000" rtlCol="0" anchor="ctr"/>
          <a:lstStyle>
            <a:defPPr>
              <a:defRPr lang="de-DE"/>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lnSpc>
                <a:spcPct val="150000"/>
              </a:lnSpc>
            </a:pPr>
            <a:r>
              <a:rPr lang="de-DE" dirty="0">
                <a:solidFill>
                  <a:schemeClr val="tx1"/>
                </a:solidFill>
                <a:latin typeface="Calibri" panose="020F0502020204030204" pitchFamily="34" charset="0"/>
                <a:ea typeface="Calibri" panose="020F0502020204030204" pitchFamily="34" charset="0"/>
                <a:cs typeface="Calibri" panose="020F0502020204030204" pitchFamily="34" charset="0"/>
              </a:rPr>
              <a:t>Formel für </a:t>
            </a:r>
            <a:r>
              <a:rPr lang="de-DE" b="1" dirty="0">
                <a:solidFill>
                  <a:schemeClr val="tx1"/>
                </a:solidFill>
                <a:latin typeface="Calibri" panose="020F0502020204030204" pitchFamily="34" charset="0"/>
                <a:ea typeface="Calibri" panose="020F0502020204030204" pitchFamily="34" charset="0"/>
                <a:cs typeface="Calibri" panose="020F0502020204030204" pitchFamily="34" charset="0"/>
              </a:rPr>
              <a:t>Risk Score</a:t>
            </a:r>
            <a:r>
              <a:rPr lang="de-DE" dirty="0">
                <a:solidFill>
                  <a:schemeClr val="tx1"/>
                </a:solidFill>
                <a:latin typeface="Calibri" panose="020F0502020204030204" pitchFamily="34" charset="0"/>
                <a:ea typeface="Calibri" panose="020F0502020204030204" pitchFamily="34" charset="0"/>
                <a:cs typeface="Calibri" panose="020F0502020204030204" pitchFamily="34" charset="0"/>
              </a:rPr>
              <a:t> (0-1): </a:t>
            </a:r>
          </a:p>
          <a:p>
            <a:pPr algn="l"/>
            <a:r>
              <a:rPr lang="de-DE" dirty="0">
                <a:solidFill>
                  <a:schemeClr val="tx1"/>
                </a:solidFill>
                <a:latin typeface="Calibri" panose="020F0502020204030204" pitchFamily="34" charset="0"/>
                <a:ea typeface="Calibri" panose="020F0502020204030204" pitchFamily="34" charset="0"/>
                <a:cs typeface="Calibri" panose="020F0502020204030204" pitchFamily="34" charset="0"/>
              </a:rPr>
              <a:t>0.3 × Volume + </a:t>
            </a:r>
          </a:p>
          <a:p>
            <a:pPr algn="l"/>
            <a:r>
              <a:rPr lang="de-DE" dirty="0">
                <a:solidFill>
                  <a:schemeClr val="tx1"/>
                </a:solidFill>
                <a:latin typeface="Calibri" panose="020F0502020204030204" pitchFamily="34" charset="0"/>
                <a:ea typeface="Calibri" panose="020F0502020204030204" pitchFamily="34" charset="0"/>
                <a:cs typeface="Calibri" panose="020F0502020204030204" pitchFamily="34" charset="0"/>
              </a:rPr>
              <a:t>0.3 × </a:t>
            </a:r>
            <a:r>
              <a:rPr lang="de-DE" dirty="0" err="1">
                <a:solidFill>
                  <a:schemeClr val="tx1"/>
                </a:solidFill>
                <a:latin typeface="Calibri" panose="020F0502020204030204" pitchFamily="34" charset="0"/>
                <a:ea typeface="Calibri" panose="020F0502020204030204" pitchFamily="34" charset="0"/>
                <a:cs typeface="Calibri" panose="020F0502020204030204" pitchFamily="34" charset="0"/>
              </a:rPr>
              <a:t>Sensitivity</a:t>
            </a:r>
            <a:r>
              <a:rPr lang="de-DE" dirty="0">
                <a:solidFill>
                  <a:schemeClr val="tx1"/>
                </a:solidFill>
                <a:latin typeface="Calibri" panose="020F0502020204030204" pitchFamily="34" charset="0"/>
                <a:ea typeface="Calibri" panose="020F0502020204030204" pitchFamily="34" charset="0"/>
                <a:cs typeface="Calibri" panose="020F0502020204030204" pitchFamily="34" charset="0"/>
              </a:rPr>
              <a:t> + </a:t>
            </a:r>
          </a:p>
          <a:p>
            <a:pPr algn="l"/>
            <a:r>
              <a:rPr lang="de-DE" dirty="0">
                <a:solidFill>
                  <a:schemeClr val="tx1"/>
                </a:solidFill>
                <a:latin typeface="Calibri" panose="020F0502020204030204" pitchFamily="34" charset="0"/>
                <a:ea typeface="Calibri" panose="020F0502020204030204" pitchFamily="34" charset="0"/>
                <a:cs typeface="Calibri" panose="020F0502020204030204" pitchFamily="34" charset="0"/>
              </a:rPr>
              <a:t>0.4 × </a:t>
            </a:r>
            <a:r>
              <a:rPr lang="de-DE" dirty="0" err="1">
                <a:solidFill>
                  <a:schemeClr val="tx1"/>
                </a:solidFill>
                <a:latin typeface="Calibri" panose="020F0502020204030204" pitchFamily="34" charset="0"/>
                <a:ea typeface="Calibri" panose="020F0502020204030204" pitchFamily="34" charset="0"/>
                <a:cs typeface="Calibri" panose="020F0502020204030204" pitchFamily="34" charset="0"/>
              </a:rPr>
              <a:t>Granularity</a:t>
            </a:r>
            <a:endParaRPr lang="de-DE"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p:sp>
        <p:nvSpPr>
          <p:cNvPr id="5" name="Ellipse 4">
            <a:extLst>
              <a:ext uri="{FF2B5EF4-FFF2-40B4-BE49-F238E27FC236}">
                <a16:creationId xmlns:a16="http://schemas.microsoft.com/office/drawing/2014/main" id="{0D8BC379-3669-BBB6-BC8B-ED3CE7AA8765}"/>
              </a:ext>
            </a:extLst>
          </p:cNvPr>
          <p:cNvSpPr/>
          <p:nvPr/>
        </p:nvSpPr>
        <p:spPr>
          <a:xfrm>
            <a:off x="5520928" y="3050257"/>
            <a:ext cx="360000" cy="36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3200" dirty="0">
                <a:solidFill>
                  <a:schemeClr val="bg1"/>
                </a:solidFill>
                <a:latin typeface="Blackadder ITC" panose="020F0502020204030204" pitchFamily="82" charset="0"/>
              </a:rPr>
              <a:t>i</a:t>
            </a:r>
          </a:p>
        </p:txBody>
      </p:sp>
    </p:spTree>
    <p:extLst>
      <p:ext uri="{BB962C8B-B14F-4D97-AF65-F5344CB8AC3E}">
        <p14:creationId xmlns:p14="http://schemas.microsoft.com/office/powerpoint/2010/main" val="35893071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05C7E9FC-2DED-ACAC-2C36-697F9D24E1FA}"/>
              </a:ext>
            </a:extLst>
          </p:cNvPr>
          <p:cNvSpPr/>
          <p:nvPr/>
        </p:nvSpPr>
        <p:spPr>
          <a:xfrm>
            <a:off x="5616944" y="1839074"/>
            <a:ext cx="1728584" cy="3667874"/>
          </a:xfrm>
          <a:prstGeom prst="rect">
            <a:avLst/>
          </a:prstGeom>
          <a:solidFill>
            <a:srgbClr val="FF0000">
              <a:alpha val="28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0" name="Ellipse 19">
            <a:extLst>
              <a:ext uri="{FF2B5EF4-FFF2-40B4-BE49-F238E27FC236}">
                <a16:creationId xmlns:a16="http://schemas.microsoft.com/office/drawing/2014/main" id="{F8279B35-1C4F-6020-B692-EA49DFB6FC59}"/>
              </a:ext>
            </a:extLst>
          </p:cNvPr>
          <p:cNvSpPr/>
          <p:nvPr/>
        </p:nvSpPr>
        <p:spPr>
          <a:xfrm>
            <a:off x="4827999" y="4261615"/>
            <a:ext cx="791962" cy="689858"/>
          </a:xfrm>
          <a:prstGeom prst="ellipse">
            <a:avLst/>
          </a:prstGeom>
          <a:solidFill>
            <a:schemeClr val="accent3">
              <a:lumMod val="40000"/>
              <a:lumOff val="60000"/>
              <a:alpha val="44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aphicFrame>
        <p:nvGraphicFramePr>
          <p:cNvPr id="12" name="Inhaltsplatzhalter 11">
            <a:extLst>
              <a:ext uri="{FF2B5EF4-FFF2-40B4-BE49-F238E27FC236}">
                <a16:creationId xmlns:a16="http://schemas.microsoft.com/office/drawing/2014/main" id="{91013C89-EDBE-A5AC-3381-5CE8C721A098}"/>
              </a:ext>
            </a:extLst>
          </p:cNvPr>
          <p:cNvGraphicFramePr>
            <a:graphicFrameLocks noGrp="1"/>
          </p:cNvGraphicFramePr>
          <p:nvPr>
            <p:ph sz="half" idx="2"/>
          </p:nvPr>
        </p:nvGraphicFramePr>
        <p:xfrm>
          <a:off x="839788" y="1690688"/>
          <a:ext cx="6680895" cy="4498975"/>
        </p:xfrm>
        <a:graphic>
          <a:graphicData uri="http://schemas.openxmlformats.org/drawingml/2006/chart">
            <c:chart xmlns:c="http://schemas.openxmlformats.org/drawingml/2006/chart" xmlns:r="http://schemas.openxmlformats.org/officeDocument/2006/relationships" r:id="rId3"/>
          </a:graphicData>
        </a:graphic>
      </p:graphicFrame>
      <p:sp>
        <p:nvSpPr>
          <p:cNvPr id="3" name="Sprechblase: rechteckig 2">
            <a:extLst>
              <a:ext uri="{FF2B5EF4-FFF2-40B4-BE49-F238E27FC236}">
                <a16:creationId xmlns:a16="http://schemas.microsoft.com/office/drawing/2014/main" id="{01C76013-3470-D22D-6E92-4609917C99CA}"/>
              </a:ext>
            </a:extLst>
          </p:cNvPr>
          <p:cNvSpPr/>
          <p:nvPr/>
        </p:nvSpPr>
        <p:spPr>
          <a:xfrm>
            <a:off x="4002423" y="3500399"/>
            <a:ext cx="1160980" cy="523220"/>
          </a:xfrm>
          <a:prstGeom prst="wedgeRectCallout">
            <a:avLst>
              <a:gd name="adj1" fmla="val 52224"/>
              <a:gd name="adj2" fmla="val 109754"/>
            </a:avLst>
          </a:prstGeom>
          <a:solidFill>
            <a:schemeClr val="accent3">
              <a:lumMod val="40000"/>
              <a:lumOff val="60000"/>
              <a:alpha val="44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600" dirty="0">
                <a:solidFill>
                  <a:schemeClr val="tx1"/>
                </a:solidFill>
              </a:rPr>
              <a:t>Sweet</a:t>
            </a:r>
          </a:p>
          <a:p>
            <a:pPr algn="ctr"/>
            <a:r>
              <a:rPr lang="de-DE" sz="1600" dirty="0">
                <a:solidFill>
                  <a:schemeClr val="tx1"/>
                </a:solidFill>
              </a:rPr>
              <a:t>Spot</a:t>
            </a:r>
          </a:p>
        </p:txBody>
      </p:sp>
      <p:sp>
        <p:nvSpPr>
          <p:cNvPr id="2" name="Titel 1">
            <a:extLst>
              <a:ext uri="{FF2B5EF4-FFF2-40B4-BE49-F238E27FC236}">
                <a16:creationId xmlns:a16="http://schemas.microsoft.com/office/drawing/2014/main" id="{B5C7BD24-CEBF-C4DE-406D-1F9B4CAA3433}"/>
              </a:ext>
            </a:extLst>
          </p:cNvPr>
          <p:cNvSpPr>
            <a:spLocks noGrp="1"/>
          </p:cNvSpPr>
          <p:nvPr>
            <p:ph type="title"/>
          </p:nvPr>
        </p:nvSpPr>
        <p:spPr>
          <a:xfrm>
            <a:off x="839787" y="365125"/>
            <a:ext cx="11215851" cy="1325563"/>
          </a:xfrm>
        </p:spPr>
        <p:txBody>
          <a:bodyPr>
            <a:normAutofit/>
          </a:bodyPr>
          <a:lstStyle/>
          <a:p>
            <a:r>
              <a:rPr lang="de-DE" sz="3600" dirty="0">
                <a:latin typeface="Calibri" panose="020F0502020204030204" pitchFamily="34" charset="0"/>
                <a:ea typeface="Calibri" panose="020F0502020204030204" pitchFamily="34" charset="0"/>
                <a:cs typeface="Calibri" panose="020F0502020204030204" pitchFamily="34" charset="0"/>
              </a:rPr>
              <a:t>TRADE-OFF-ANALYSE: W</a:t>
            </a:r>
            <a:r>
              <a:rPr lang="de-DE" sz="3600" dirty="0"/>
              <a:t>O</a:t>
            </a:r>
            <a:r>
              <a:rPr lang="de-DE" sz="3600" dirty="0">
                <a:latin typeface="Calibri" panose="020F0502020204030204" pitchFamily="34" charset="0"/>
                <a:ea typeface="Calibri" panose="020F0502020204030204" pitchFamily="34" charset="0"/>
                <a:cs typeface="Calibri" panose="020F0502020204030204" pitchFamily="34" charset="0"/>
              </a:rPr>
              <a:t> LIEGT DIE OPTIMALE </a:t>
            </a:r>
            <a:br>
              <a:rPr lang="de-DE" sz="3600" dirty="0">
                <a:latin typeface="Calibri" panose="020F0502020204030204" pitchFamily="34" charset="0"/>
                <a:ea typeface="Calibri" panose="020F0502020204030204" pitchFamily="34" charset="0"/>
                <a:cs typeface="Calibri" panose="020F0502020204030204" pitchFamily="34" charset="0"/>
              </a:rPr>
            </a:br>
            <a:r>
              <a:rPr lang="de-DE" sz="3600" dirty="0">
                <a:latin typeface="Calibri" panose="020F0502020204030204" pitchFamily="34" charset="0"/>
                <a:ea typeface="Calibri" panose="020F0502020204030204" pitchFamily="34" charset="0"/>
                <a:cs typeface="Calibri" panose="020F0502020204030204" pitchFamily="34" charset="0"/>
              </a:rPr>
              <a:t>GRENZE DER PERSONALISIERUNG?</a:t>
            </a:r>
          </a:p>
        </p:txBody>
      </p:sp>
      <p:sp>
        <p:nvSpPr>
          <p:cNvPr id="8" name="Textplatzhalter 7">
            <a:extLst>
              <a:ext uri="{FF2B5EF4-FFF2-40B4-BE49-F238E27FC236}">
                <a16:creationId xmlns:a16="http://schemas.microsoft.com/office/drawing/2014/main" id="{C0F2E8E6-4FA3-8540-D6FD-113061E3DA4A}"/>
              </a:ext>
            </a:extLst>
          </p:cNvPr>
          <p:cNvSpPr>
            <a:spLocks noGrp="1"/>
          </p:cNvSpPr>
          <p:nvPr>
            <p:ph type="body" sz="quarter" idx="3"/>
          </p:nvPr>
        </p:nvSpPr>
        <p:spPr>
          <a:xfrm>
            <a:off x="7672218" y="1681163"/>
            <a:ext cx="4318454" cy="4508500"/>
          </a:xfrm>
        </p:spPr>
        <p:txBody>
          <a:bodyPr anchor="t" anchorCtr="0"/>
          <a:lstStyle/>
          <a:p>
            <a:pPr>
              <a:spcBef>
                <a:spcPts val="0"/>
              </a:spcBef>
              <a:spcAft>
                <a:spcPts val="1200"/>
              </a:spcAft>
            </a:pPr>
            <a:r>
              <a:rPr lang="de-DE" dirty="0">
                <a:latin typeface="Calibri" panose="020F0502020204030204" pitchFamily="34" charset="0"/>
                <a:ea typeface="Calibri" panose="020F0502020204030204" pitchFamily="34" charset="0"/>
                <a:cs typeface="Calibri" panose="020F0502020204030204" pitchFamily="34" charset="0"/>
              </a:rPr>
              <a:t>Ergebnis:</a:t>
            </a:r>
            <a:endParaRPr lang="de-DE" sz="800" dirty="0">
              <a:latin typeface="Calibri" panose="020F0502020204030204" pitchFamily="34" charset="0"/>
              <a:ea typeface="Calibri" panose="020F0502020204030204" pitchFamily="34" charset="0"/>
              <a:cs typeface="Calibri" panose="020F0502020204030204" pitchFamily="34" charset="0"/>
            </a:endParaRPr>
          </a:p>
          <a:p>
            <a:pPr marL="342900" indent="-342900">
              <a:buFont typeface="Wingdings" panose="05000000000000000000" pitchFamily="2" charset="2"/>
              <a:buChar char="Ø"/>
            </a:pPr>
            <a:r>
              <a:rPr lang="de-DE" sz="2000" b="0" dirty="0">
                <a:latin typeface="Calibri" panose="020F0502020204030204" pitchFamily="34" charset="0"/>
                <a:ea typeface="Calibri" panose="020F0502020204030204" pitchFamily="34" charset="0"/>
                <a:cs typeface="Calibri" panose="020F0502020204030204" pitchFamily="34" charset="0"/>
              </a:rPr>
              <a:t>Performance steigt mit Personalisierung</a:t>
            </a:r>
          </a:p>
          <a:p>
            <a:pPr marL="342900" indent="-342900">
              <a:buFont typeface="Wingdings" panose="05000000000000000000" pitchFamily="2" charset="2"/>
              <a:buChar char="Ø"/>
            </a:pPr>
            <a:r>
              <a:rPr lang="de-DE" sz="2000" b="0" dirty="0">
                <a:latin typeface="Calibri" panose="020F0502020204030204" pitchFamily="34" charset="0"/>
                <a:ea typeface="Calibri" panose="020F0502020204030204" pitchFamily="34" charset="0"/>
                <a:cs typeface="Calibri" panose="020F0502020204030204" pitchFamily="34" charset="0"/>
              </a:rPr>
              <a:t>Datenschutzrisiko steigt überproportional</a:t>
            </a:r>
          </a:p>
          <a:p>
            <a:pPr marL="342900" indent="-342900">
              <a:buFont typeface="Wingdings" panose="05000000000000000000" pitchFamily="2" charset="2"/>
              <a:buChar char="Ø"/>
            </a:pPr>
            <a:r>
              <a:rPr lang="de-DE" sz="2000" b="0" dirty="0">
                <a:latin typeface="Calibri" panose="020F0502020204030204" pitchFamily="34" charset="0"/>
                <a:ea typeface="Calibri" panose="020F0502020204030204" pitchFamily="34" charset="0"/>
                <a:cs typeface="Calibri" panose="020F0502020204030204" pitchFamily="34" charset="0"/>
              </a:rPr>
              <a:t>Individuelle Modelle → </a:t>
            </a:r>
            <a:br>
              <a:rPr lang="de-DE" sz="2000" b="0" dirty="0">
                <a:latin typeface="Calibri" panose="020F0502020204030204" pitchFamily="34" charset="0"/>
                <a:ea typeface="Calibri" panose="020F0502020204030204" pitchFamily="34" charset="0"/>
                <a:cs typeface="Calibri" panose="020F0502020204030204" pitchFamily="34" charset="0"/>
              </a:rPr>
            </a:br>
            <a:r>
              <a:rPr lang="de-DE" sz="2000" b="0" dirty="0">
                <a:latin typeface="Calibri" panose="020F0502020204030204" pitchFamily="34" charset="0"/>
                <a:ea typeface="Calibri" panose="020F0502020204030204" pitchFamily="34" charset="0"/>
                <a:cs typeface="Calibri" panose="020F0502020204030204" pitchFamily="34" charset="0"/>
              </a:rPr>
              <a:t>kritischer Bereich (DSGVO Art. 22)</a:t>
            </a:r>
          </a:p>
          <a:p>
            <a:r>
              <a:rPr lang="de-DE" sz="2000" dirty="0">
                <a:latin typeface="Calibri" panose="020F0502020204030204" pitchFamily="34" charset="0"/>
                <a:ea typeface="Calibri" panose="020F0502020204030204" pitchFamily="34" charset="0"/>
                <a:cs typeface="Calibri" panose="020F0502020204030204" pitchFamily="34" charset="0"/>
              </a:rPr>
              <a:t>Optimale Balance: </a:t>
            </a:r>
            <a:br>
              <a:rPr lang="de-DE" sz="2000" dirty="0">
                <a:latin typeface="Calibri" panose="020F0502020204030204" pitchFamily="34" charset="0"/>
                <a:ea typeface="Calibri" panose="020F0502020204030204" pitchFamily="34" charset="0"/>
                <a:cs typeface="Calibri" panose="020F0502020204030204" pitchFamily="34" charset="0"/>
              </a:rPr>
            </a:br>
            <a:r>
              <a:rPr lang="de-DE" sz="2000" dirty="0">
                <a:latin typeface="Calibri" panose="020F0502020204030204" pitchFamily="34" charset="0"/>
                <a:ea typeface="Calibri" panose="020F0502020204030204" pitchFamily="34" charset="0"/>
                <a:cs typeface="Calibri" panose="020F0502020204030204" pitchFamily="34" charset="0"/>
              </a:rPr>
              <a:t>Segmentbasierte Personalisierung</a:t>
            </a:r>
          </a:p>
        </p:txBody>
      </p:sp>
      <p:sp>
        <p:nvSpPr>
          <p:cNvPr id="13" name="Textfeld 12">
            <a:extLst>
              <a:ext uri="{FF2B5EF4-FFF2-40B4-BE49-F238E27FC236}">
                <a16:creationId xmlns:a16="http://schemas.microsoft.com/office/drawing/2014/main" id="{078291A0-B732-D16B-3B9A-00736737C0EE}"/>
              </a:ext>
            </a:extLst>
          </p:cNvPr>
          <p:cNvSpPr txBox="1"/>
          <p:nvPr/>
        </p:nvSpPr>
        <p:spPr>
          <a:xfrm>
            <a:off x="1880170" y="4797584"/>
            <a:ext cx="1160980" cy="307777"/>
          </a:xfrm>
          <a:prstGeom prst="rect">
            <a:avLst/>
          </a:prstGeom>
          <a:noFill/>
        </p:spPr>
        <p:txBody>
          <a:bodyPr wrap="square" rtlCol="0">
            <a:spAutoFit/>
          </a:bodyPr>
          <a:lstStyle/>
          <a:p>
            <a:r>
              <a:rPr lang="de-DE" sz="1400" b="1" dirty="0">
                <a:latin typeface="Calibri Light" panose="020F0302020204030204" pitchFamily="34" charset="0"/>
                <a:ea typeface="Calibri Light" panose="020F0302020204030204" pitchFamily="34" charset="0"/>
                <a:cs typeface="Calibri Light" panose="020F0302020204030204" pitchFamily="34" charset="0"/>
              </a:rPr>
              <a:t>Generisch</a:t>
            </a:r>
          </a:p>
        </p:txBody>
      </p:sp>
      <p:sp>
        <p:nvSpPr>
          <p:cNvPr id="14" name="Textfeld 13">
            <a:extLst>
              <a:ext uri="{FF2B5EF4-FFF2-40B4-BE49-F238E27FC236}">
                <a16:creationId xmlns:a16="http://schemas.microsoft.com/office/drawing/2014/main" id="{B212B3EF-CC25-C983-1995-33D4A2D8AC9A}"/>
              </a:ext>
            </a:extLst>
          </p:cNvPr>
          <p:cNvSpPr txBox="1"/>
          <p:nvPr/>
        </p:nvSpPr>
        <p:spPr>
          <a:xfrm>
            <a:off x="4231238" y="4261615"/>
            <a:ext cx="1160980" cy="307777"/>
          </a:xfrm>
          <a:prstGeom prst="rect">
            <a:avLst/>
          </a:prstGeom>
          <a:noFill/>
        </p:spPr>
        <p:txBody>
          <a:bodyPr wrap="square" rtlCol="0">
            <a:spAutoFit/>
          </a:bodyPr>
          <a:lstStyle/>
          <a:p>
            <a:r>
              <a:rPr lang="de-DE" sz="1400" b="1" dirty="0">
                <a:latin typeface="Calibri Light" panose="020F0302020204030204" pitchFamily="34" charset="0"/>
                <a:ea typeface="Calibri Light" panose="020F0302020204030204" pitchFamily="34" charset="0"/>
                <a:cs typeface="Calibri Light" panose="020F0302020204030204" pitchFamily="34" charset="0"/>
              </a:rPr>
              <a:t>Segment</a:t>
            </a:r>
          </a:p>
        </p:txBody>
      </p:sp>
      <p:sp>
        <p:nvSpPr>
          <p:cNvPr id="15" name="Textfeld 14">
            <a:extLst>
              <a:ext uri="{FF2B5EF4-FFF2-40B4-BE49-F238E27FC236}">
                <a16:creationId xmlns:a16="http://schemas.microsoft.com/office/drawing/2014/main" id="{9E4B04E5-5A25-8E63-C6B4-FB08B4461BA4}"/>
              </a:ext>
            </a:extLst>
          </p:cNvPr>
          <p:cNvSpPr txBox="1"/>
          <p:nvPr/>
        </p:nvSpPr>
        <p:spPr>
          <a:xfrm>
            <a:off x="5463282" y="4643695"/>
            <a:ext cx="1265436" cy="307777"/>
          </a:xfrm>
          <a:prstGeom prst="rect">
            <a:avLst/>
          </a:prstGeom>
          <a:noFill/>
        </p:spPr>
        <p:txBody>
          <a:bodyPr wrap="square" rtlCol="0">
            <a:spAutoFit/>
          </a:bodyPr>
          <a:lstStyle/>
          <a:p>
            <a:r>
              <a:rPr lang="de-DE" sz="1400" b="1" dirty="0" err="1">
                <a:latin typeface="Calibri Light" panose="020F0302020204030204" pitchFamily="34" charset="0"/>
                <a:ea typeface="Calibri Light" panose="020F0302020204030204" pitchFamily="34" charset="0"/>
                <a:cs typeface="Calibri Light" panose="020F0302020204030204" pitchFamily="34" charset="0"/>
              </a:rPr>
              <a:t>Recommender</a:t>
            </a:r>
            <a:endParaRPr lang="de-DE" sz="1400" b="1" dirty="0">
              <a:latin typeface="Calibri Light" panose="020F0302020204030204" pitchFamily="34" charset="0"/>
              <a:ea typeface="Calibri Light" panose="020F0302020204030204" pitchFamily="34" charset="0"/>
              <a:cs typeface="Calibri Light" panose="020F0302020204030204" pitchFamily="34" charset="0"/>
            </a:endParaRPr>
          </a:p>
        </p:txBody>
      </p:sp>
      <p:sp>
        <p:nvSpPr>
          <p:cNvPr id="16" name="Textfeld 15">
            <a:extLst>
              <a:ext uri="{FF2B5EF4-FFF2-40B4-BE49-F238E27FC236}">
                <a16:creationId xmlns:a16="http://schemas.microsoft.com/office/drawing/2014/main" id="{AAA7D4CA-979B-2AAE-935C-BC05AA8DBD5D}"/>
              </a:ext>
            </a:extLst>
          </p:cNvPr>
          <p:cNvSpPr txBox="1"/>
          <p:nvPr/>
        </p:nvSpPr>
        <p:spPr>
          <a:xfrm>
            <a:off x="6065601" y="2060416"/>
            <a:ext cx="1160980" cy="307777"/>
          </a:xfrm>
          <a:prstGeom prst="rect">
            <a:avLst/>
          </a:prstGeom>
          <a:noFill/>
        </p:spPr>
        <p:txBody>
          <a:bodyPr wrap="square" rtlCol="0">
            <a:spAutoFit/>
          </a:bodyPr>
          <a:lstStyle/>
          <a:p>
            <a:r>
              <a:rPr lang="de-DE" sz="1400" b="1" dirty="0">
                <a:latin typeface="Calibri Light" panose="020F0302020204030204" pitchFamily="34" charset="0"/>
                <a:ea typeface="Calibri Light" panose="020F0302020204030204" pitchFamily="34" charset="0"/>
                <a:cs typeface="Calibri Light" panose="020F0302020204030204" pitchFamily="34" charset="0"/>
              </a:rPr>
              <a:t>Modell</a:t>
            </a:r>
          </a:p>
        </p:txBody>
      </p:sp>
      <p:cxnSp>
        <p:nvCxnSpPr>
          <p:cNvPr id="18" name="Gerader Verbinder 17">
            <a:extLst>
              <a:ext uri="{FF2B5EF4-FFF2-40B4-BE49-F238E27FC236}">
                <a16:creationId xmlns:a16="http://schemas.microsoft.com/office/drawing/2014/main" id="{D1D82F94-6397-3BBE-03D1-1F9211F6161C}"/>
              </a:ext>
            </a:extLst>
          </p:cNvPr>
          <p:cNvCxnSpPr/>
          <p:nvPr/>
        </p:nvCxnSpPr>
        <p:spPr>
          <a:xfrm>
            <a:off x="5629200" y="1839074"/>
            <a:ext cx="0" cy="3667874"/>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sp>
        <p:nvSpPr>
          <p:cNvPr id="19" name="Textfeld 18">
            <a:extLst>
              <a:ext uri="{FF2B5EF4-FFF2-40B4-BE49-F238E27FC236}">
                <a16:creationId xmlns:a16="http://schemas.microsoft.com/office/drawing/2014/main" id="{B88BAAF9-2CDF-CDBF-2826-DB38623D664F}"/>
              </a:ext>
            </a:extLst>
          </p:cNvPr>
          <p:cNvSpPr txBox="1"/>
          <p:nvPr/>
        </p:nvSpPr>
        <p:spPr>
          <a:xfrm>
            <a:off x="4842550" y="2551527"/>
            <a:ext cx="1160980" cy="523220"/>
          </a:xfrm>
          <a:prstGeom prst="rect">
            <a:avLst/>
          </a:prstGeom>
          <a:noFill/>
        </p:spPr>
        <p:txBody>
          <a:bodyPr wrap="square" rtlCol="0">
            <a:spAutoFit/>
          </a:bodyPr>
          <a:lstStyle/>
          <a:p>
            <a:r>
              <a:rPr lang="de-DE" sz="1400" dirty="0">
                <a:latin typeface="Calibri Light" panose="020F0302020204030204" pitchFamily="34" charset="0"/>
                <a:ea typeface="Calibri Light" panose="020F0302020204030204" pitchFamily="34" charset="0"/>
                <a:cs typeface="Calibri Light" panose="020F0302020204030204" pitchFamily="34" charset="0"/>
              </a:rPr>
              <a:t>Kritische Schwelle</a:t>
            </a:r>
          </a:p>
        </p:txBody>
      </p:sp>
      <p:sp>
        <p:nvSpPr>
          <p:cNvPr id="6" name="Textfeld 5">
            <a:extLst>
              <a:ext uri="{FF2B5EF4-FFF2-40B4-BE49-F238E27FC236}">
                <a16:creationId xmlns:a16="http://schemas.microsoft.com/office/drawing/2014/main" id="{FA59A196-EB40-2B6A-918F-DA2132838B7A}"/>
              </a:ext>
            </a:extLst>
          </p:cNvPr>
          <p:cNvSpPr txBox="1"/>
          <p:nvPr/>
        </p:nvSpPr>
        <p:spPr>
          <a:xfrm>
            <a:off x="7799069" y="5253331"/>
            <a:ext cx="3853955" cy="695405"/>
          </a:xfrm>
          <a:prstGeom prst="rect">
            <a:avLst/>
          </a:prstGeom>
          <a:solidFill>
            <a:schemeClr val="bg1"/>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lIns="144000" rtlCol="0" anchor="ctr"/>
          <a:lstStyle>
            <a:defPPr>
              <a:defRPr lang="de-DE"/>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de-DE" dirty="0">
                <a:solidFill>
                  <a:schemeClr val="tx1"/>
                </a:solidFill>
                <a:latin typeface="Calibri" panose="020F0502020204030204" pitchFamily="34" charset="0"/>
                <a:ea typeface="Calibri" panose="020F0502020204030204" pitchFamily="34" charset="0"/>
                <a:cs typeface="Calibri" panose="020F0502020204030204" pitchFamily="34" charset="0"/>
              </a:rPr>
              <a:t>Mehr Personalisierung </a:t>
            </a:r>
            <a:br>
              <a:rPr lang="de-DE" dirty="0">
                <a:solidFill>
                  <a:schemeClr val="tx1"/>
                </a:solidFill>
                <a:latin typeface="Calibri" panose="020F0502020204030204" pitchFamily="34" charset="0"/>
                <a:ea typeface="Calibri" panose="020F0502020204030204" pitchFamily="34" charset="0"/>
                <a:cs typeface="Calibri" panose="020F0502020204030204" pitchFamily="34" charset="0"/>
              </a:rPr>
            </a:br>
            <a:r>
              <a:rPr lang="de-DE" dirty="0">
                <a:solidFill>
                  <a:schemeClr val="tx1"/>
                </a:solidFill>
                <a:latin typeface="Calibri" panose="020F0502020204030204" pitchFamily="34" charset="0"/>
                <a:ea typeface="Calibri" panose="020F0502020204030204" pitchFamily="34" charset="0"/>
                <a:cs typeface="Calibri" panose="020F0502020204030204" pitchFamily="34" charset="0"/>
              </a:rPr>
              <a:t>ist nicht immer besser</a:t>
            </a:r>
          </a:p>
        </p:txBody>
      </p:sp>
      <p:sp>
        <p:nvSpPr>
          <p:cNvPr id="9" name="Ellipse 8">
            <a:extLst>
              <a:ext uri="{FF2B5EF4-FFF2-40B4-BE49-F238E27FC236}">
                <a16:creationId xmlns:a16="http://schemas.microsoft.com/office/drawing/2014/main" id="{B207BF2B-570A-C351-52FA-55279B662A2D}"/>
              </a:ext>
            </a:extLst>
          </p:cNvPr>
          <p:cNvSpPr/>
          <p:nvPr/>
        </p:nvSpPr>
        <p:spPr>
          <a:xfrm>
            <a:off x="11482198" y="5073331"/>
            <a:ext cx="324110" cy="36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3200" dirty="0">
                <a:solidFill>
                  <a:schemeClr val="bg1"/>
                </a:solidFill>
                <a:latin typeface="Blackadder ITC" panose="020F0502020204030204" pitchFamily="82" charset="0"/>
              </a:rPr>
              <a:t>i</a:t>
            </a:r>
          </a:p>
        </p:txBody>
      </p:sp>
    </p:spTree>
    <p:extLst>
      <p:ext uri="{BB962C8B-B14F-4D97-AF65-F5344CB8AC3E}">
        <p14:creationId xmlns:p14="http://schemas.microsoft.com/office/powerpoint/2010/main" val="31418715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C8A33D1-5019-5489-E66A-8C40862047B1}"/>
              </a:ext>
            </a:extLst>
          </p:cNvPr>
          <p:cNvSpPr>
            <a:spLocks noGrp="1"/>
          </p:cNvSpPr>
          <p:nvPr>
            <p:ph type="title"/>
          </p:nvPr>
        </p:nvSpPr>
        <p:spPr/>
        <p:txBody>
          <a:bodyPr>
            <a:normAutofit/>
          </a:bodyPr>
          <a:lstStyle/>
          <a:p>
            <a:r>
              <a:rPr lang="de-DE" sz="3600" dirty="0"/>
              <a:t>EMPFEHLUNGEN FÜR UNTERNEHMEN</a:t>
            </a:r>
          </a:p>
        </p:txBody>
      </p:sp>
      <p:sp>
        <p:nvSpPr>
          <p:cNvPr id="3" name="Inhaltsplatzhalter 2">
            <a:extLst>
              <a:ext uri="{FF2B5EF4-FFF2-40B4-BE49-F238E27FC236}">
                <a16:creationId xmlns:a16="http://schemas.microsoft.com/office/drawing/2014/main" id="{6FF47196-42C7-7017-135B-A8835683F804}"/>
              </a:ext>
            </a:extLst>
          </p:cNvPr>
          <p:cNvSpPr>
            <a:spLocks noGrp="1"/>
          </p:cNvSpPr>
          <p:nvPr>
            <p:ph idx="1"/>
          </p:nvPr>
        </p:nvSpPr>
        <p:spPr/>
        <p:txBody>
          <a:bodyPr>
            <a:normAutofit/>
          </a:bodyPr>
          <a:lstStyle/>
          <a:p>
            <a:pPr marL="514350" indent="-514350">
              <a:lnSpc>
                <a:spcPct val="150000"/>
              </a:lnSpc>
              <a:buFont typeface="+mj-lt"/>
              <a:buAutoNum type="arabicPeriod"/>
            </a:pPr>
            <a:r>
              <a:rPr lang="de-DE" sz="2400" dirty="0"/>
              <a:t>Segmentbasierte Personalisierung als optimaler Einstieg</a:t>
            </a:r>
          </a:p>
          <a:p>
            <a:pPr marL="514350" indent="-514350">
              <a:lnSpc>
                <a:spcPct val="150000"/>
              </a:lnSpc>
              <a:buFont typeface="+mj-lt"/>
              <a:buAutoNum type="arabicPeriod"/>
            </a:pPr>
            <a:r>
              <a:rPr lang="de-DE" sz="2400" dirty="0"/>
              <a:t>Individuelle Modelle nur unter klaren Rahmenbedingungen einsetzen</a:t>
            </a:r>
          </a:p>
          <a:p>
            <a:pPr marL="514350" indent="-514350">
              <a:lnSpc>
                <a:spcPct val="150000"/>
              </a:lnSpc>
              <a:buFont typeface="+mj-lt"/>
              <a:buAutoNum type="arabicPeriod"/>
            </a:pPr>
            <a:r>
              <a:rPr lang="de-DE" sz="2400" dirty="0"/>
              <a:t>Datenschutz früh integrieren (Privacy </a:t>
            </a:r>
            <a:r>
              <a:rPr lang="de-DE" sz="2400" dirty="0" err="1"/>
              <a:t>by</a:t>
            </a:r>
            <a:r>
              <a:rPr lang="de-DE" sz="2400" dirty="0"/>
              <a:t> Design)</a:t>
            </a:r>
          </a:p>
          <a:p>
            <a:pPr marL="514350" indent="-514350">
              <a:lnSpc>
                <a:spcPct val="150000"/>
              </a:lnSpc>
              <a:buFont typeface="+mj-lt"/>
              <a:buAutoNum type="arabicPeriod"/>
            </a:pPr>
            <a:r>
              <a:rPr lang="de-DE" sz="2400" dirty="0"/>
              <a:t>Transparenz gegenüber Nutzern erhöhen</a:t>
            </a:r>
          </a:p>
          <a:p>
            <a:pPr marL="514350" indent="-514350">
              <a:lnSpc>
                <a:spcPct val="150000"/>
              </a:lnSpc>
              <a:buFont typeface="+mj-lt"/>
              <a:buAutoNum type="arabicPeriod"/>
            </a:pPr>
            <a:r>
              <a:rPr lang="de-DE" sz="2400" dirty="0"/>
              <a:t>Datensparsamkeit beachten</a:t>
            </a:r>
          </a:p>
        </p:txBody>
      </p:sp>
      <p:sp>
        <p:nvSpPr>
          <p:cNvPr id="4" name="Textfeld 3">
            <a:extLst>
              <a:ext uri="{FF2B5EF4-FFF2-40B4-BE49-F238E27FC236}">
                <a16:creationId xmlns:a16="http://schemas.microsoft.com/office/drawing/2014/main" id="{D23EDD74-DFBE-E1B3-A423-66C9272DE77D}"/>
              </a:ext>
            </a:extLst>
          </p:cNvPr>
          <p:cNvSpPr txBox="1"/>
          <p:nvPr/>
        </p:nvSpPr>
        <p:spPr>
          <a:xfrm>
            <a:off x="0" y="5598695"/>
            <a:ext cx="12192000" cy="713206"/>
          </a:xfrm>
          <a:prstGeom prst="rect">
            <a:avLst/>
          </a:prstGeom>
          <a:gradFill>
            <a:gsLst>
              <a:gs pos="0">
                <a:schemeClr val="accent1">
                  <a:lumMod val="60000"/>
                  <a:lumOff val="40000"/>
                </a:schemeClr>
              </a:gs>
              <a:gs pos="100000">
                <a:schemeClr val="tx2">
                  <a:lumMod val="75000"/>
                  <a:lumOff val="2500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de-DE"/>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de-DE" sz="2400" b="1" dirty="0">
                <a:latin typeface="Calibri" panose="020F0502020204030204" pitchFamily="34" charset="0"/>
                <a:ea typeface="Calibri" panose="020F0502020204030204" pitchFamily="34" charset="0"/>
                <a:cs typeface="Calibri" panose="020F0502020204030204" pitchFamily="34" charset="0"/>
              </a:rPr>
              <a:t>Personalisierung nicht maximieren, sondern optimieren!!!</a:t>
            </a:r>
          </a:p>
        </p:txBody>
      </p:sp>
    </p:spTree>
    <p:extLst>
      <p:ext uri="{BB962C8B-B14F-4D97-AF65-F5344CB8AC3E}">
        <p14:creationId xmlns:p14="http://schemas.microsoft.com/office/powerpoint/2010/main" val="12506448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4FDD8F27-ACD5-5627-2735-A18AD1ADFD50}"/>
              </a:ext>
            </a:extLst>
          </p:cNvPr>
          <p:cNvSpPr txBox="1"/>
          <p:nvPr/>
        </p:nvSpPr>
        <p:spPr>
          <a:xfrm>
            <a:off x="0" y="1878929"/>
            <a:ext cx="12191999" cy="2871537"/>
          </a:xfrm>
          <a:prstGeom prst="rect">
            <a:avLst/>
          </a:prstGeom>
          <a:gradFill>
            <a:gsLst>
              <a:gs pos="27000">
                <a:schemeClr val="tx2">
                  <a:lumMod val="75000"/>
                  <a:lumOff val="25000"/>
                </a:schemeClr>
              </a:gs>
              <a:gs pos="0">
                <a:schemeClr val="accent1">
                  <a:lumMod val="60000"/>
                  <a:lumOff val="40000"/>
                </a:schemeClr>
              </a:gs>
              <a:gs pos="76000">
                <a:schemeClr val="accent5">
                  <a:lumMod val="75000"/>
                </a:schemeClr>
              </a:gs>
              <a:gs pos="100000">
                <a:srgbClr val="FF0000"/>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tIns="0" bIns="180000" rtlCol="0" anchor="ctr"/>
          <a:lstStyle>
            <a:defPPr>
              <a:defRPr lang="de-DE"/>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nSpc>
                <a:spcPct val="150000"/>
              </a:lnSpc>
            </a:pPr>
            <a:endParaRPr lang="de-DE" sz="2000" dirty="0">
              <a:latin typeface="Calibri" panose="020F0502020204030204" pitchFamily="34" charset="0"/>
              <a:ea typeface="Calibri" panose="020F0502020204030204" pitchFamily="34" charset="0"/>
              <a:cs typeface="Calibri" panose="020F0502020204030204" pitchFamily="34" charset="0"/>
            </a:endParaRPr>
          </a:p>
        </p:txBody>
      </p:sp>
      <p:sp>
        <p:nvSpPr>
          <p:cNvPr id="4" name="Titel 3">
            <a:extLst>
              <a:ext uri="{FF2B5EF4-FFF2-40B4-BE49-F238E27FC236}">
                <a16:creationId xmlns:a16="http://schemas.microsoft.com/office/drawing/2014/main" id="{CCDAB2C9-7B47-A1C3-F308-C8ADCA514B79}"/>
              </a:ext>
            </a:extLst>
          </p:cNvPr>
          <p:cNvSpPr>
            <a:spLocks noGrp="1"/>
          </p:cNvSpPr>
          <p:nvPr>
            <p:ph type="ctrTitle"/>
          </p:nvPr>
        </p:nvSpPr>
        <p:spPr>
          <a:xfrm>
            <a:off x="1524000" y="648835"/>
            <a:ext cx="9144000" cy="1547358"/>
          </a:xfrm>
        </p:spPr>
        <p:txBody>
          <a:bodyPr anchor="ctr" anchorCtr="0">
            <a:normAutofit/>
          </a:bodyPr>
          <a:lstStyle/>
          <a:p>
            <a:r>
              <a:rPr lang="de-DE" sz="3600" dirty="0"/>
              <a:t>Mehr Personalisierung ist nicht immer besser.</a:t>
            </a:r>
          </a:p>
        </p:txBody>
      </p:sp>
      <p:sp>
        <p:nvSpPr>
          <p:cNvPr id="5" name="Untertitel 4">
            <a:extLst>
              <a:ext uri="{FF2B5EF4-FFF2-40B4-BE49-F238E27FC236}">
                <a16:creationId xmlns:a16="http://schemas.microsoft.com/office/drawing/2014/main" id="{BB642BC6-8DFE-558F-2913-1954F57026AF}"/>
              </a:ext>
            </a:extLst>
          </p:cNvPr>
          <p:cNvSpPr>
            <a:spLocks noGrp="1"/>
          </p:cNvSpPr>
          <p:nvPr>
            <p:ph type="subTitle" idx="1"/>
          </p:nvPr>
        </p:nvSpPr>
        <p:spPr>
          <a:xfrm>
            <a:off x="1524000" y="2793775"/>
            <a:ext cx="9144000" cy="1655762"/>
          </a:xfrm>
        </p:spPr>
        <p:txBody>
          <a:bodyPr>
            <a:normAutofit/>
          </a:bodyPr>
          <a:lstStyle/>
          <a:p>
            <a:r>
              <a:rPr lang="de-DE" sz="6600" dirty="0">
                <a:solidFill>
                  <a:schemeClr val="bg1"/>
                </a:solidFill>
              </a:rPr>
              <a:t>Vielen Dank!</a:t>
            </a:r>
          </a:p>
        </p:txBody>
      </p:sp>
    </p:spTree>
    <p:extLst>
      <p:ext uri="{BB962C8B-B14F-4D97-AF65-F5344CB8AC3E}">
        <p14:creationId xmlns:p14="http://schemas.microsoft.com/office/powerpoint/2010/main" val="3376821524"/>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1637</Words>
  <Application>Microsoft Office PowerPoint</Application>
  <PresentationFormat>Breitbild</PresentationFormat>
  <Paragraphs>227</Paragraphs>
  <Slides>16</Slides>
  <Notes>10</Notes>
  <HiddenSlides>0</HiddenSlides>
  <MMClips>0</MMClips>
  <ScaleCrop>false</ScaleCrop>
  <HeadingPairs>
    <vt:vector size="6" baseType="variant">
      <vt:variant>
        <vt:lpstr>Verwendete Schriftarten</vt:lpstr>
      </vt:variant>
      <vt:variant>
        <vt:i4>8</vt:i4>
      </vt:variant>
      <vt:variant>
        <vt:lpstr>Design</vt:lpstr>
      </vt:variant>
      <vt:variant>
        <vt:i4>1</vt:i4>
      </vt:variant>
      <vt:variant>
        <vt:lpstr>Folientitel</vt:lpstr>
      </vt:variant>
      <vt:variant>
        <vt:i4>16</vt:i4>
      </vt:variant>
    </vt:vector>
  </HeadingPairs>
  <TitlesOfParts>
    <vt:vector size="25" baseType="lpstr">
      <vt:lpstr>Aptos</vt:lpstr>
      <vt:lpstr>Arial</vt:lpstr>
      <vt:lpstr>Blackadder ITC</vt:lpstr>
      <vt:lpstr>Calibri</vt:lpstr>
      <vt:lpstr>Calibri Light</vt:lpstr>
      <vt:lpstr>Symbol</vt:lpstr>
      <vt:lpstr>system-ui</vt:lpstr>
      <vt:lpstr>Wingdings</vt:lpstr>
      <vt:lpstr>Office</vt:lpstr>
      <vt:lpstr>KI-gestützte Personalisierung im Marketing</vt:lpstr>
      <vt:lpstr>PROJEKTDESIGN &amp; SETUP</vt:lpstr>
      <vt:lpstr>AUS ROHDATEN WERDEN KUNDENPROFILE</vt:lpstr>
      <vt:lpstr>DIE RICHTIGEN KUNDEN ERKENNEN</vt:lpstr>
      <vt:lpstr>DIE RICHTIGE ZIELGRUPPE ANSPRECHEN 2,4-MAL EFFEKTIVER MIT DEMSELBEN AUFWAND</vt:lpstr>
      <vt:lpstr>VON SEGMENTEN ZUR ENTSCHEIDUNG</vt:lpstr>
      <vt:lpstr>VOM PROFILING ZUR VORHERSAGE WER REAGIERT AUF DIE KAMPAGNE?</vt:lpstr>
      <vt:lpstr>DAS MODELL TRIFFT SEHR ZUVERLÄSSIG… ABER NICHT PERFEKT</vt:lpstr>
      <vt:lpstr>WELCHE FAKTOREN BEEINFLUSSEN DIE  REAKTION AM STÄRKSTEN?</vt:lpstr>
      <vt:lpstr>AUCH EMPFEHLUNGEN WERDEN RELEVANTER </vt:lpstr>
      <vt:lpstr>MEHR PERSONALISIERUNG = MEHR PERFORMANCE… ABER WAS KOSTET DAS?</vt:lpstr>
      <vt:lpstr>STUFEN DER PERSONALLSIERUNG IM MARKETING</vt:lpstr>
      <vt:lpstr>BEWERTUNG DES DATENSCHUTZRISIKOS WIE PERSONALISIERUNG DAS RISIKO BEEINFLUSST</vt:lpstr>
      <vt:lpstr>TRADE-OFF-ANALYSE: WO LIEGT DIE OPTIMALE  GRENZE DER PERSONALISIERUNG?</vt:lpstr>
      <vt:lpstr>EMPFEHLUNGEN FÜR UNTERNEHMEN</vt:lpstr>
      <vt:lpstr>Mehr Personalisierung ist nicht immer besser.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Maximilian Gräubig</dc:creator>
  <cp:lastModifiedBy>Maximilian Gräubig</cp:lastModifiedBy>
  <cp:revision>94</cp:revision>
  <dcterms:created xsi:type="dcterms:W3CDTF">2026-04-10T09:41:46Z</dcterms:created>
  <dcterms:modified xsi:type="dcterms:W3CDTF">2026-04-21T07:46:42Z</dcterms:modified>
</cp:coreProperties>
</file>